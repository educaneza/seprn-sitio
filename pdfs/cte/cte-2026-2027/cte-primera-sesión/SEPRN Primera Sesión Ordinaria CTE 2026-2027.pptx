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67" r:id="rId3"/>
  </p:sldMasterIdLst>
  <p:notesMasterIdLst>
    <p:notesMasterId r:id="rId54"/>
  </p:notesMasterIdLst>
  <p:sldIdLst>
    <p:sldId id="294" r:id="rId4"/>
    <p:sldId id="257" r:id="rId5"/>
    <p:sldId id="1112" r:id="rId6"/>
    <p:sldId id="466" r:id="rId7"/>
    <p:sldId id="464" r:id="rId8"/>
    <p:sldId id="468" r:id="rId9"/>
    <p:sldId id="467" r:id="rId10"/>
    <p:sldId id="1228" r:id="rId11"/>
    <p:sldId id="469" r:id="rId12"/>
    <p:sldId id="470" r:id="rId13"/>
    <p:sldId id="471" r:id="rId14"/>
    <p:sldId id="1229" r:id="rId15"/>
    <p:sldId id="262" r:id="rId16"/>
    <p:sldId id="581" r:id="rId17"/>
    <p:sldId id="582" r:id="rId18"/>
    <p:sldId id="583" r:id="rId19"/>
    <p:sldId id="259" r:id="rId20"/>
    <p:sldId id="1214" r:id="rId21"/>
    <p:sldId id="1172" r:id="rId22"/>
    <p:sldId id="1174" r:id="rId23"/>
    <p:sldId id="1235" r:id="rId24"/>
    <p:sldId id="1237" r:id="rId25"/>
    <p:sldId id="1222" r:id="rId26"/>
    <p:sldId id="1238" r:id="rId27"/>
    <p:sldId id="1239" r:id="rId28"/>
    <p:sldId id="1240" r:id="rId29"/>
    <p:sldId id="1241" r:id="rId30"/>
    <p:sldId id="1242" r:id="rId31"/>
    <p:sldId id="1243" r:id="rId32"/>
    <p:sldId id="1244" r:id="rId33"/>
    <p:sldId id="1245" r:id="rId34"/>
    <p:sldId id="1246" r:id="rId35"/>
    <p:sldId id="1247" r:id="rId36"/>
    <p:sldId id="1248" r:id="rId37"/>
    <p:sldId id="1249" r:id="rId38"/>
    <p:sldId id="1250" r:id="rId39"/>
    <p:sldId id="1251" r:id="rId40"/>
    <p:sldId id="1252" r:id="rId41"/>
    <p:sldId id="1253" r:id="rId42"/>
    <p:sldId id="1254" r:id="rId43"/>
    <p:sldId id="1255" r:id="rId44"/>
    <p:sldId id="1256" r:id="rId45"/>
    <p:sldId id="1257" r:id="rId46"/>
    <p:sldId id="1258" r:id="rId47"/>
    <p:sldId id="1259" r:id="rId48"/>
    <p:sldId id="256" r:id="rId49"/>
    <p:sldId id="1264" r:id="rId50"/>
    <p:sldId id="1260" r:id="rId51"/>
    <p:sldId id="1261" r:id="rId52"/>
    <p:sldId id="1265" r:id="rId5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8A39E3-EB44-4CB3-A801-C922C5D0972D}" type="datetimeFigureOut">
              <a:rPr lang="es-MX" smtClean="0"/>
              <a:t>20/09/2026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047DE-7CE0-4E62-A53B-9952E3BBA988}" type="slidenum">
              <a:rPr lang="es-MX" smtClean="0"/>
              <a:t>‹Nº›</a:t>
            </a:fld>
            <a:endParaRPr lang="es-MX"/>
          </a:p>
        </p:txBody>
      </p:sp>
    </p:spTree>
    <p:extLst>
      <p:ext uri="{BB962C8B-B14F-4D97-AF65-F5344CB8AC3E}">
        <p14:creationId xmlns:p14="http://schemas.microsoft.com/office/powerpoint/2010/main" val="2655329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F74B28-BAAE-9732-14B1-4542EF19B7F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92195233-8C2C-BEBD-B38C-B84FDEF8A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BB8F79B5-378F-FCDD-3BB6-DF9548DFB419}"/>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AA1E598E-421D-5CDC-B1C0-8CB23F26F00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FC86164-34AA-F6E6-464F-7DC5D1696BB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615657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C43955-FFB2-AB51-DF6A-D5331FD83B0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C63CE97-EE20-4757-AB7B-D39D57A28EF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921CC81-2DDA-BB6A-FFDB-303AE099CD89}"/>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A1E6BD26-1465-B371-E18E-D5CF40B2A2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108A460-2F7D-05AA-22E2-C736305CD571}"/>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1690090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8FCEF1-5883-E4B8-2D3F-034FF2F0469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F9C5DD2-E7F2-EA46-0940-51144FFEF6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350620F-E5B2-2737-6D41-CDDA992160B9}"/>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04A9FBE4-864C-A90D-DD4E-F737A9AD00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27E2FA-4183-B0C9-45BC-B30FB4A687E3}"/>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978224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88F0E9-6A52-AD27-BE0F-DCA1AB625C3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D8E5F03-E2D9-0510-6BCC-3E0F4302ED5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17C7C9B9-B108-12F0-CCCD-C9C406F0BB2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98AF050-523E-E017-C6FB-B2BA5B0C17D3}"/>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6" name="Marcador de pie de página 5">
            <a:extLst>
              <a:ext uri="{FF2B5EF4-FFF2-40B4-BE49-F238E27FC236}">
                <a16:creationId xmlns:a16="http://schemas.microsoft.com/office/drawing/2014/main" id="{88ADFC3D-2CE3-D30E-EA2E-76E4ABD7298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49F5381-C2EF-DDBC-B667-E230A2D9BC05}"/>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720659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FDDC83-F5FC-6E89-A037-64CB4F07178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5A374EA-38D7-B8BE-B4A8-13CDB7F2DD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FDC9EE0-19A9-BE6B-42E7-0E630315A48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292446F-220B-5960-A038-1B48687C53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459A9B4-BAEB-9424-B656-A148E5BFE0D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5FB84DA-E130-10C0-2548-8CADFCDC84CC}"/>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8" name="Marcador de pie de página 7">
            <a:extLst>
              <a:ext uri="{FF2B5EF4-FFF2-40B4-BE49-F238E27FC236}">
                <a16:creationId xmlns:a16="http://schemas.microsoft.com/office/drawing/2014/main" id="{C79757E2-230A-4CC1-A5A1-4B6B12B1620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76DE826-7A74-A6E0-CD5F-892F34A21862}"/>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114934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D35F13-BA8A-B740-54EF-C07958E6D51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37ADEA4-E061-E2D4-3653-3D977FEFEA36}"/>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4" name="Marcador de pie de página 3">
            <a:extLst>
              <a:ext uri="{FF2B5EF4-FFF2-40B4-BE49-F238E27FC236}">
                <a16:creationId xmlns:a16="http://schemas.microsoft.com/office/drawing/2014/main" id="{11A6734E-F2C2-8704-A6FD-C59E60F61E2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495F6C8-3E58-B942-2BFF-BFA38D88D60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911253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3809C71-4816-9EC3-688A-12CD9794135C}"/>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3" name="Marcador de pie de página 2">
            <a:extLst>
              <a:ext uri="{FF2B5EF4-FFF2-40B4-BE49-F238E27FC236}">
                <a16:creationId xmlns:a16="http://schemas.microsoft.com/office/drawing/2014/main" id="{63A7C84F-C8E1-0B02-6DF7-5E0053F64DB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A1F13B2-9411-4445-3F8E-FDF02C665157}"/>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449823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1ED73-9BA2-931F-6396-DE5A336416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CCCA67F-0DD9-2898-6190-B9214A0AA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2706349-BA06-BD00-3D31-21D474C5F0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B4107E4-C51E-8DC2-0B7F-4D67A1B79AF4}"/>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6" name="Marcador de pie de página 5">
            <a:extLst>
              <a:ext uri="{FF2B5EF4-FFF2-40B4-BE49-F238E27FC236}">
                <a16:creationId xmlns:a16="http://schemas.microsoft.com/office/drawing/2014/main" id="{83432CBF-80F6-9C7A-0E77-B66765B36DE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A5C8BE1-848E-FEEA-B498-03642B6E2D73}"/>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940083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EFC47-8F17-1A0A-8D6F-4C1DB4D7A0E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0E748E2-7CDC-EB34-F826-07392C1E51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03BA24E-323F-1CBE-775C-30B013278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9BA486C-0FA5-0870-6450-AE40D8B53946}"/>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6" name="Marcador de pie de página 5">
            <a:extLst>
              <a:ext uri="{FF2B5EF4-FFF2-40B4-BE49-F238E27FC236}">
                <a16:creationId xmlns:a16="http://schemas.microsoft.com/office/drawing/2014/main" id="{64E66E90-5AAC-E019-AB71-26837DBFEFF3}"/>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1892420-8E27-0CF4-805D-3420B9C42924}"/>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2714427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93A7B1-B340-34F9-7318-5758204B815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A5247B5-8121-9C89-CE91-B01E719F2D9B}"/>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440B344-A2B4-64F0-503D-09F46BB8C9AA}"/>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29186E50-06C6-7FA4-C6D4-5683ABEC87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1823C44-81F0-DA2C-CF23-F219975D9242}"/>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666374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328946F-372D-3D61-E91C-10EBD6CA1E0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3F27598-7AD7-5C1F-07EA-1FA4F6A868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0409DFE-26B1-976B-0488-2A2A4E32D297}"/>
              </a:ext>
            </a:extLst>
          </p:cNvPr>
          <p:cNvSpPr>
            <a:spLocks noGrp="1"/>
          </p:cNvSpPr>
          <p:nvPr>
            <p:ph type="dt" sz="half" idx="10"/>
          </p:nvPr>
        </p:nvSpPr>
        <p:spPr/>
        <p:txBody>
          <a:body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BFFECBDA-1C65-F23D-C9CE-C008106BBD3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E9438C6-1A0B-15CF-ABEE-16361BE1D1FA}"/>
              </a:ext>
            </a:extLst>
          </p:cNvPr>
          <p:cNvSpPr>
            <a:spLocks noGrp="1"/>
          </p:cNvSpPr>
          <p:nvPr>
            <p:ph type="sldNum" sz="quarter" idx="12"/>
          </p:nvPr>
        </p:nvSpPr>
        <p:spPr/>
        <p:txBody>
          <a:bodyPr/>
          <a:lstStyle/>
          <a:p>
            <a:fld id="{2C594759-038D-4E57-8848-7B069E09A11D}" type="slidenum">
              <a:rPr lang="es-MX" smtClean="0"/>
              <a:t>‹Nº›</a:t>
            </a:fld>
            <a:endParaRPr lang="es-MX"/>
          </a:p>
        </p:txBody>
      </p:sp>
    </p:spTree>
    <p:extLst>
      <p:ext uri="{BB962C8B-B14F-4D97-AF65-F5344CB8AC3E}">
        <p14:creationId xmlns:p14="http://schemas.microsoft.com/office/powerpoint/2010/main" val="33030031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0" i="0">
                <a:solidFill>
                  <a:srgbClr val="0070C0"/>
                </a:solidFill>
                <a:latin typeface="Arial"/>
                <a:cs typeface="Arial"/>
              </a:defRPr>
            </a:lvl1pPr>
          </a:lstStyle>
          <a:p>
            <a:pPr marL="3025140" marR="3810" indent="-3016091">
              <a:lnSpc>
                <a:spcPct val="101400"/>
              </a:lnSpc>
              <a:spcBef>
                <a:spcPts val="8"/>
              </a:spcBef>
            </a:pPr>
            <a:r>
              <a:rPr lang="es-MX" spc="-56" dirty="0"/>
              <a:t>"Este </a:t>
            </a:r>
            <a:r>
              <a:rPr lang="es-MX" spc="-49" dirty="0"/>
              <a:t>programa </a:t>
            </a:r>
            <a:r>
              <a:rPr lang="es-MX" spc="-90" dirty="0"/>
              <a:t>es </a:t>
            </a:r>
            <a:r>
              <a:rPr lang="es-MX" spc="-30" dirty="0"/>
              <a:t>público </a:t>
            </a:r>
            <a:r>
              <a:rPr lang="es-MX" spc="-38" dirty="0"/>
              <a:t>ajeno </a:t>
            </a:r>
            <a:r>
              <a:rPr lang="es-MX" spc="-83" dirty="0"/>
              <a:t>a </a:t>
            </a:r>
            <a:r>
              <a:rPr lang="es-MX" spc="-34" dirty="0"/>
              <a:t>cualquier </a:t>
            </a:r>
            <a:r>
              <a:rPr lang="es-MX" spc="-15" dirty="0"/>
              <a:t>partido </a:t>
            </a:r>
            <a:r>
              <a:rPr lang="es-MX" spc="-23" dirty="0"/>
              <a:t>político. </a:t>
            </a:r>
            <a:r>
              <a:rPr lang="es-MX" spc="-68" dirty="0"/>
              <a:t>Queda </a:t>
            </a:r>
            <a:r>
              <a:rPr lang="es-MX" spc="-23" dirty="0"/>
              <a:t>prohibido </a:t>
            </a:r>
            <a:r>
              <a:rPr lang="es-MX" spc="-30" dirty="0"/>
              <a:t>el </a:t>
            </a:r>
            <a:r>
              <a:rPr lang="es-MX" spc="-60" dirty="0"/>
              <a:t>uso </a:t>
            </a:r>
            <a:r>
              <a:rPr lang="es-MX" spc="-53" dirty="0"/>
              <a:t>para </a:t>
            </a:r>
            <a:r>
              <a:rPr lang="es-MX" spc="-38" dirty="0"/>
              <a:t>fines </a:t>
            </a:r>
            <a:r>
              <a:rPr lang="es-MX" spc="-26" dirty="0"/>
              <a:t>distintos </a:t>
            </a:r>
            <a:r>
              <a:rPr lang="es-MX" spc="-83" dirty="0"/>
              <a:t>a </a:t>
            </a:r>
            <a:r>
              <a:rPr lang="es-MX" spc="-49" dirty="0"/>
              <a:t>los establecidos en </a:t>
            </a:r>
            <a:r>
              <a:rPr lang="es-MX" spc="-281" dirty="0"/>
              <a:t> </a:t>
            </a:r>
            <a:r>
              <a:rPr lang="es-MX" spc="-30" dirty="0"/>
              <a:t>el</a:t>
            </a:r>
            <a:r>
              <a:rPr lang="es-MX" spc="-60" dirty="0"/>
              <a:t> </a:t>
            </a:r>
            <a:r>
              <a:rPr lang="es-MX" spc="-38" dirty="0"/>
              <a:t>programa".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dirty="0"/>
          </a:p>
        </p:txBody>
      </p:sp>
    </p:spTree>
    <p:extLst>
      <p:ext uri="{BB962C8B-B14F-4D97-AF65-F5344CB8AC3E}">
        <p14:creationId xmlns:p14="http://schemas.microsoft.com/office/powerpoint/2010/main" val="2039672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325881"/>
          </a:xfrm>
          <a:prstGeom prst="rect">
            <a:avLst/>
          </a:prstGeom>
        </p:spPr>
        <p:txBody>
          <a:bodyPr wrap="square" lIns="0" tIns="0" rIns="0" bIns="0">
            <a:spAutoFit/>
          </a:bodyPr>
          <a:lstStyle>
            <a:lvl1pPr>
              <a:defRPr sz="2118" b="1" i="0">
                <a:solidFill>
                  <a:srgbClr val="BE9844"/>
                </a:solidFill>
                <a:latin typeface="Verdana"/>
                <a:cs typeface="Verdana"/>
              </a:defRPr>
            </a:lvl1pPr>
          </a:lstStyle>
          <a:p>
            <a:endParaRPr/>
          </a:p>
        </p:txBody>
      </p:sp>
      <p:sp>
        <p:nvSpPr>
          <p:cNvPr id="3" name="Holder 3"/>
          <p:cNvSpPr>
            <a:spLocks noGrp="1"/>
          </p:cNvSpPr>
          <p:nvPr>
            <p:ph type="subTitle" idx="4"/>
          </p:nvPr>
        </p:nvSpPr>
        <p:spPr>
          <a:xfrm>
            <a:off x="1828800" y="3840481"/>
            <a:ext cx="8534400" cy="407351"/>
          </a:xfrm>
          <a:prstGeom prst="rect">
            <a:avLst/>
          </a:prstGeom>
        </p:spPr>
        <p:txBody>
          <a:bodyPr wrap="square" lIns="0" tIns="0" rIns="0" bIns="0">
            <a:spAutoFit/>
          </a:bodyPr>
          <a:lstStyle>
            <a:lvl1pPr>
              <a:defRPr sz="2647" b="1" i="0">
                <a:solidFill>
                  <a:srgbClr val="62123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158967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type="body" idx="1"/>
          </p:nvPr>
        </p:nvSpPr>
        <p:spPr>
          <a:xfrm>
            <a:off x="5260909" y="1403603"/>
            <a:ext cx="5345546" cy="407356"/>
          </a:xfrm>
        </p:spPr>
        <p:txBody>
          <a:bodyPr lIns="0" tIns="0" rIns="0" bIns="0"/>
          <a:lstStyle>
            <a:lvl1pPr>
              <a:defRPr sz="2647" b="1" i="0">
                <a:solidFill>
                  <a:srgbClr val="621233"/>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306096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sz="half" idx="2"/>
          </p:nvPr>
        </p:nvSpPr>
        <p:spPr>
          <a:xfrm>
            <a:off x="609600" y="1577341"/>
            <a:ext cx="5303520" cy="4616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1"/>
            <a:ext cx="5303520" cy="46166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426182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25923"/>
          </a:xfrm>
        </p:spPr>
        <p:txBody>
          <a:bodyPr lIns="0" tIns="0" rIns="0" bIns="0"/>
          <a:lstStyle>
            <a:lvl1pPr>
              <a:defRPr sz="2118" b="1" i="0">
                <a:solidFill>
                  <a:srgbClr val="BE9844"/>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41416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3440224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91515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5280851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46132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6873449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966330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27875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47642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310444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935212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4225986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94626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C75319-024F-F409-6693-236420C187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96409DF-A009-8674-36F0-7C01CE8AD4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6F8DD63-34CF-15E0-7F2C-8830F73041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120201-D102-4882-A247-002CD02F9FC5}" type="datetimeFigureOut">
              <a:rPr lang="es-MX" smtClean="0"/>
              <a:t>20/09/2026</a:t>
            </a:fld>
            <a:endParaRPr lang="es-MX"/>
          </a:p>
        </p:txBody>
      </p:sp>
      <p:sp>
        <p:nvSpPr>
          <p:cNvPr id="5" name="Marcador de pie de página 4">
            <a:extLst>
              <a:ext uri="{FF2B5EF4-FFF2-40B4-BE49-F238E27FC236}">
                <a16:creationId xmlns:a16="http://schemas.microsoft.com/office/drawing/2014/main" id="{8EF1EB0A-2A23-D405-0296-8F68FB9C7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F53B4B45-00C2-8B4E-FDB8-615FA9187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594759-038D-4E57-8848-7B069E09A11D}" type="slidenum">
              <a:rPr lang="es-MX" smtClean="0"/>
              <a:t>‹Nº›</a:t>
            </a:fld>
            <a:endParaRPr lang="es-MX"/>
          </a:p>
        </p:txBody>
      </p:sp>
    </p:spTree>
    <p:extLst>
      <p:ext uri="{BB962C8B-B14F-4D97-AF65-F5344CB8AC3E}">
        <p14:creationId xmlns:p14="http://schemas.microsoft.com/office/powerpoint/2010/main" val="332703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65333" y="734771"/>
            <a:ext cx="3481338" cy="369332"/>
          </a:xfrm>
          <a:prstGeom prst="rect">
            <a:avLst/>
          </a:prstGeom>
        </p:spPr>
        <p:txBody>
          <a:bodyPr wrap="square" lIns="0" tIns="0" rIns="0" bIns="0">
            <a:spAutoFit/>
          </a:bodyPr>
          <a:lstStyle>
            <a:lvl1pPr>
              <a:defRPr sz="2400" b="1" i="0">
                <a:solidFill>
                  <a:srgbClr val="BE9844"/>
                </a:solidFill>
                <a:latin typeface="Verdana"/>
                <a:cs typeface="Verdana"/>
              </a:defRPr>
            </a:lvl1pPr>
          </a:lstStyle>
          <a:p>
            <a:endParaRPr/>
          </a:p>
        </p:txBody>
      </p:sp>
      <p:sp>
        <p:nvSpPr>
          <p:cNvPr id="3" name="Holder 3"/>
          <p:cNvSpPr>
            <a:spLocks noGrp="1"/>
          </p:cNvSpPr>
          <p:nvPr>
            <p:ph type="body" idx="1"/>
          </p:nvPr>
        </p:nvSpPr>
        <p:spPr>
          <a:xfrm>
            <a:off x="5260909" y="1403603"/>
            <a:ext cx="5345546" cy="461665"/>
          </a:xfrm>
          <a:prstGeom prst="rect">
            <a:avLst/>
          </a:prstGeom>
        </p:spPr>
        <p:txBody>
          <a:bodyPr wrap="square" lIns="0" tIns="0" rIns="0" bIns="0">
            <a:spAutoFit/>
          </a:bodyPr>
          <a:lstStyle>
            <a:lvl1pPr>
              <a:defRPr sz="3000" b="1" i="0">
                <a:solidFill>
                  <a:srgbClr val="621233"/>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9/20/2026</a:t>
            </a:fld>
            <a:endParaRPr lang="en-US"/>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5044307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127023809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6.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6.pn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5.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7.png"/><Relationship Id="rId1" Type="http://schemas.openxmlformats.org/officeDocument/2006/relationships/slideLayout" Target="../slideLayouts/slideLayout12.xml"/><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4.jpe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0.png"/><Relationship Id="rId1" Type="http://schemas.openxmlformats.org/officeDocument/2006/relationships/slideLayout" Target="../slideLayouts/slideLayout12.xml"/><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0.png"/><Relationship Id="rId1" Type="http://schemas.openxmlformats.org/officeDocument/2006/relationships/slideLayout" Target="../slideLayouts/slideLayout12.xml"/><Relationship Id="rId5" Type="http://schemas.openxmlformats.org/officeDocument/2006/relationships/image" Target="../media/image6.pn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6.png"/><Relationship Id="rId3" Type="http://schemas.openxmlformats.org/officeDocument/2006/relationships/image" Target="../media/image42.png"/><Relationship Id="rId7" Type="http://schemas.openxmlformats.org/officeDocument/2006/relationships/image" Target="../media/image46.png"/><Relationship Id="rId12"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11" Type="http://schemas.openxmlformats.org/officeDocument/2006/relationships/image" Target="../media/image7.png"/><Relationship Id="rId5" Type="http://schemas.openxmlformats.org/officeDocument/2006/relationships/image" Target="../media/image44.png"/><Relationship Id="rId10" Type="http://schemas.microsoft.com/office/2007/relationships/hdphoto" Target="../media/hdphoto2.wdp"/><Relationship Id="rId4" Type="http://schemas.openxmlformats.org/officeDocument/2006/relationships/image" Target="../media/image43.png"/><Relationship Id="rId9" Type="http://schemas.openxmlformats.org/officeDocument/2006/relationships/image" Target="../media/image48.png"/></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0.png"/><Relationship Id="rId1" Type="http://schemas.openxmlformats.org/officeDocument/2006/relationships/slideLayout" Target="../slideLayouts/slideLayout12.xml"/><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1.png"/><Relationship Id="rId1" Type="http://schemas.openxmlformats.org/officeDocument/2006/relationships/slideLayout" Target="../slideLayouts/slideLayout12.xml"/><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2.jpeg"/><Relationship Id="rId1" Type="http://schemas.openxmlformats.org/officeDocument/2006/relationships/slideLayout" Target="../slideLayouts/slideLayout12.xml"/><Relationship Id="rId5" Type="http://schemas.microsoft.com/office/2007/relationships/hdphoto" Target="../media/hdphoto1.wdp"/><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2400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4270772" y="4530548"/>
            <a:ext cx="3679031" cy="664369"/>
          </a:xfrm>
          <a:prstGeom prst="rect">
            <a:avLst/>
          </a:prstGeom>
        </p:spPr>
      </p:pic>
      <p:pic>
        <p:nvPicPr>
          <p:cNvPr id="5" name="Picture 4" descr="image.png"/>
          <p:cNvPicPr>
            <a:picLocks noChangeAspect="1"/>
          </p:cNvPicPr>
          <p:nvPr/>
        </p:nvPicPr>
        <p:blipFill>
          <a:blip r:embed="rId4"/>
          <a:stretch>
            <a:fillRect/>
          </a:stretch>
        </p:blipFill>
        <p:spPr>
          <a:xfrm>
            <a:off x="5117180" y="2989484"/>
            <a:ext cx="2251551" cy="292043"/>
          </a:xfrm>
          <a:prstGeom prst="rect">
            <a:avLst/>
          </a:prstGeom>
        </p:spPr>
      </p:pic>
      <p:sp>
        <p:nvSpPr>
          <p:cNvPr id="6" name="TextBox 5"/>
          <p:cNvSpPr txBox="1"/>
          <p:nvPr/>
        </p:nvSpPr>
        <p:spPr>
          <a:xfrm>
            <a:off x="2269582" y="1381621"/>
            <a:ext cx="7946748" cy="1477328"/>
          </a:xfrm>
          <a:prstGeom prst="rect">
            <a:avLst/>
          </a:prstGeom>
          <a:noFill/>
        </p:spPr>
        <p:txBody>
          <a:bodyPr wrap="square" lIns="0" tIns="0" rIns="0" bIns="0" anchor="t">
            <a:spAutoFit/>
          </a:bodyPr>
          <a:lstStyle/>
          <a:p>
            <a:pPr algn="ctr" defTabSz="806867"/>
            <a:r>
              <a:rPr lang="es-MX" sz="2100" b="1" kern="0" dirty="0">
                <a:solidFill>
                  <a:srgbClr val="691C32"/>
                </a:solidFill>
                <a:latin typeface="Montserrat"/>
              </a:rPr>
              <a:t>Comunidad de Aprendizaje </a:t>
            </a:r>
          </a:p>
          <a:p>
            <a:pPr algn="ctr" defTabSz="806867"/>
            <a:r>
              <a:rPr lang="es-MX" sz="2100" b="1" kern="0" dirty="0">
                <a:solidFill>
                  <a:srgbClr val="691C32"/>
                </a:solidFill>
                <a:latin typeface="Montserrat"/>
              </a:rPr>
              <a:t>de la</a:t>
            </a:r>
          </a:p>
          <a:p>
            <a:pPr algn="ctr" defTabSz="806867"/>
            <a:r>
              <a:rPr lang="es-MX" sz="2700" b="1" kern="0" dirty="0">
                <a:solidFill>
                  <a:srgbClr val="691C32"/>
                </a:solidFill>
                <a:effectLst>
                  <a:outerShdw blurRad="38100" dist="38100" dir="2700000" algn="tl">
                    <a:srgbClr val="000000">
                      <a:alpha val="43137"/>
                    </a:srgbClr>
                  </a:outerShdw>
                </a:effectLst>
                <a:latin typeface="Montserrat"/>
              </a:rPr>
              <a:t>Subdirección de Educación Primaria en la Región Nezahualcóyotl </a:t>
            </a:r>
          </a:p>
        </p:txBody>
      </p:sp>
      <p:sp>
        <p:nvSpPr>
          <p:cNvPr id="7" name="TextBox 6"/>
          <p:cNvSpPr txBox="1"/>
          <p:nvPr/>
        </p:nvSpPr>
        <p:spPr>
          <a:xfrm>
            <a:off x="3227439" y="3506872"/>
            <a:ext cx="5840361" cy="757259"/>
          </a:xfrm>
          <a:prstGeom prst="rect">
            <a:avLst/>
          </a:prstGeom>
          <a:noFill/>
        </p:spPr>
        <p:txBody>
          <a:bodyPr wrap="square" lIns="0" tIns="0" rIns="0" bIns="0" anchor="t">
            <a:spAutoFit/>
          </a:bodyPr>
          <a:lstStyle/>
          <a:p>
            <a:pPr algn="ctr">
              <a:buNone/>
            </a:pPr>
            <a:r>
              <a:rPr lang="es-MX" sz="1200" b="1" dirty="0">
                <a:solidFill>
                  <a:srgbClr val="691C32"/>
                </a:solidFill>
                <a:effectLst/>
                <a:latin typeface="Times New Roman" panose="02020603050405020304" pitchFamily="18" charset="0"/>
                <a:ea typeface="Times New Roman" panose="02020603050405020304" pitchFamily="18" charset="0"/>
              </a:rPr>
              <a:t> </a:t>
            </a:r>
            <a:r>
              <a:rPr lang="es-MX" b="1" dirty="0">
                <a:solidFill>
                  <a:srgbClr val="691C32"/>
                </a:solidFill>
                <a:effectLst/>
                <a:latin typeface="Times New Roman" panose="02020603050405020304" pitchFamily="18" charset="0"/>
                <a:ea typeface="Times New Roman" panose="02020603050405020304" pitchFamily="18" charset="0"/>
              </a:rPr>
              <a:t>Reunión de Preparación de la Primera Sesión Ordinaria (CTE).</a:t>
            </a:r>
            <a:endParaRPr lang="es-MX" sz="1400" dirty="0">
              <a:effectLst/>
              <a:latin typeface="Times New Roman" panose="02020603050405020304" pitchFamily="18" charset="0"/>
              <a:ea typeface="Times New Roman" panose="02020603050405020304" pitchFamily="18" charset="0"/>
            </a:endParaRPr>
          </a:p>
          <a:p>
            <a:pPr algn="ctr" defTabSz="806867">
              <a:lnSpc>
                <a:spcPts val="1688"/>
              </a:lnSpc>
            </a:pPr>
            <a:endParaRPr lang="es-MX" sz="1200" b="1" kern="0" dirty="0">
              <a:solidFill>
                <a:srgbClr val="475569"/>
              </a:solidFill>
              <a:latin typeface="Open Sans"/>
            </a:endParaRPr>
          </a:p>
        </p:txBody>
      </p:sp>
      <p:sp>
        <p:nvSpPr>
          <p:cNvPr id="8" name="TextBox 7"/>
          <p:cNvSpPr txBox="1"/>
          <p:nvPr/>
        </p:nvSpPr>
        <p:spPr>
          <a:xfrm>
            <a:off x="4387375" y="4578827"/>
            <a:ext cx="3397315" cy="163635"/>
          </a:xfrm>
          <a:prstGeom prst="rect">
            <a:avLst/>
          </a:prstGeom>
          <a:noFill/>
        </p:spPr>
        <p:txBody>
          <a:bodyPr wrap="square" lIns="157163" tIns="0" rIns="0" bIns="0" anchor="t">
            <a:spAutoFit/>
          </a:bodyPr>
          <a:lstStyle/>
          <a:p>
            <a:pPr defTabSz="806867">
              <a:lnSpc>
                <a:spcPts val="1350"/>
              </a:lnSpc>
            </a:pPr>
            <a:r>
              <a:rPr lang="es-MX" sz="900" kern="0" dirty="0">
                <a:solidFill>
                  <a:srgbClr val="0F2C59"/>
                </a:solidFill>
                <a:latin typeface="Open Sans Black"/>
              </a:rPr>
              <a:t>21 de septiembre de 2026 | 08:30 a 10:30 horas </a:t>
            </a:r>
            <a:endParaRPr lang="es-MX" sz="900" kern="0" dirty="0">
              <a:solidFill>
                <a:srgbClr val="0F2C59"/>
              </a:solidFill>
              <a:latin typeface="Open Sans SemiBold"/>
            </a:endParaRPr>
          </a:p>
        </p:txBody>
      </p:sp>
      <p:sp>
        <p:nvSpPr>
          <p:cNvPr id="9" name="TextBox 8"/>
          <p:cNvSpPr txBox="1"/>
          <p:nvPr/>
        </p:nvSpPr>
        <p:spPr>
          <a:xfrm>
            <a:off x="4393598" y="4898411"/>
            <a:ext cx="4203406" cy="163635"/>
          </a:xfrm>
          <a:prstGeom prst="rect">
            <a:avLst/>
          </a:prstGeom>
          <a:noFill/>
        </p:spPr>
        <p:txBody>
          <a:bodyPr wrap="square" lIns="142875" tIns="0" rIns="0" bIns="0" anchor="t">
            <a:spAutoFit/>
          </a:bodyPr>
          <a:lstStyle/>
          <a:p>
            <a:pPr defTabSz="806867">
              <a:lnSpc>
                <a:spcPts val="1350"/>
              </a:lnSpc>
            </a:pPr>
            <a:r>
              <a:rPr lang="es-MX" sz="900" kern="0" dirty="0">
                <a:solidFill>
                  <a:srgbClr val="0F2C59"/>
                </a:solidFill>
                <a:latin typeface="Open Sans SemiBold"/>
              </a:rPr>
              <a:t>| </a:t>
            </a:r>
            <a:r>
              <a:rPr lang="es-MX" sz="900" kern="0" dirty="0">
                <a:solidFill>
                  <a:srgbClr val="0F2C59"/>
                </a:solidFill>
                <a:latin typeface="Open Sans Black"/>
              </a:rPr>
              <a:t>Modalidad:</a:t>
            </a:r>
            <a:r>
              <a:rPr lang="es-MX" sz="900" kern="0" dirty="0">
                <a:solidFill>
                  <a:srgbClr val="0F2C59"/>
                </a:solidFill>
                <a:latin typeface="Open Sans SemiBold"/>
              </a:rPr>
              <a:t> Virtual</a:t>
            </a:r>
          </a:p>
        </p:txBody>
      </p:sp>
      <p:pic>
        <p:nvPicPr>
          <p:cNvPr id="10" name="Picture 9" descr="image.png"/>
          <p:cNvPicPr>
            <a:picLocks noChangeAspect="1"/>
          </p:cNvPicPr>
          <p:nvPr/>
        </p:nvPicPr>
        <p:blipFill>
          <a:blip r:embed="rId5"/>
          <a:stretch>
            <a:fillRect/>
          </a:stretch>
        </p:blipFill>
        <p:spPr>
          <a:xfrm>
            <a:off x="4407539" y="4606388"/>
            <a:ext cx="100013" cy="114300"/>
          </a:xfrm>
          <a:prstGeom prst="rect">
            <a:avLst/>
          </a:prstGeom>
        </p:spPr>
      </p:pic>
      <p:pic>
        <p:nvPicPr>
          <p:cNvPr id="11" name="Picture 10" descr="image.png"/>
          <p:cNvPicPr>
            <a:picLocks noChangeAspect="1"/>
          </p:cNvPicPr>
          <p:nvPr/>
        </p:nvPicPr>
        <p:blipFill>
          <a:blip r:embed="rId6"/>
          <a:stretch>
            <a:fillRect/>
          </a:stretch>
        </p:blipFill>
        <p:spPr>
          <a:xfrm>
            <a:off x="4413647" y="4933864"/>
            <a:ext cx="85725" cy="114300"/>
          </a:xfrm>
          <a:prstGeom prst="rect">
            <a:avLst/>
          </a:prstGeom>
        </p:spPr>
      </p:pic>
      <p:pic>
        <p:nvPicPr>
          <p:cNvPr id="15" name="Imagen 14" descr="Imagen que contiene Texto&#10;&#10;El contenido generado por IA puede ser incorrecto.">
            <a:extLst>
              <a:ext uri="{FF2B5EF4-FFF2-40B4-BE49-F238E27FC236}">
                <a16:creationId xmlns:a16="http://schemas.microsoft.com/office/drawing/2014/main" id="{18A1FAE8-53EF-1F3F-246C-C048DF1B114B}"/>
              </a:ext>
            </a:extLst>
          </p:cNvPr>
          <p:cNvPicPr>
            <a:picLocks noChangeAspect="1"/>
          </p:cNvPicPr>
          <p:nvPr/>
        </p:nvPicPr>
        <p:blipFill>
          <a:blip r:embed="rId7">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12" name="Imagen 11">
            <a:extLst>
              <a:ext uri="{FF2B5EF4-FFF2-40B4-BE49-F238E27FC236}">
                <a16:creationId xmlns:a16="http://schemas.microsoft.com/office/drawing/2014/main" id="{000657A9-0D2E-160B-FBAE-1E5B1C6237AC}"/>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E07002D-4991-66B9-7ECD-7937A412CD6A}"/>
              </a:ext>
            </a:extLst>
          </p:cNvPr>
          <p:cNvSpPr txBox="1"/>
          <p:nvPr/>
        </p:nvSpPr>
        <p:spPr>
          <a:xfrm>
            <a:off x="752168" y="1254478"/>
            <a:ext cx="10382863" cy="954107"/>
          </a:xfrm>
          <a:prstGeom prst="rect">
            <a:avLst/>
          </a:prstGeom>
          <a:noFill/>
        </p:spPr>
        <p:txBody>
          <a:bodyPr wrap="square">
            <a:spAutoFit/>
          </a:bodyPr>
          <a:lstStyle/>
          <a:p>
            <a:pPr algn="ctr"/>
            <a:r>
              <a:rPr lang="es-MX" sz="2800" b="1" dirty="0">
                <a:solidFill>
                  <a:srgbClr val="C00000"/>
                </a:solidFill>
                <a:latin typeface="Arial" panose="020B0604020202020204" pitchFamily="34" charset="0"/>
                <a:cs typeface="Arial" panose="020B0604020202020204" pitchFamily="34" charset="0"/>
              </a:rPr>
              <a:t>Orientaciones para la Preparación de la Primera Sesión Ordinaria del Consejo Técnico Escolar</a:t>
            </a:r>
          </a:p>
        </p:txBody>
      </p:sp>
      <p:sp>
        <p:nvSpPr>
          <p:cNvPr id="2" name="CuadroTexto 1">
            <a:extLst>
              <a:ext uri="{FF2B5EF4-FFF2-40B4-BE49-F238E27FC236}">
                <a16:creationId xmlns:a16="http://schemas.microsoft.com/office/drawing/2014/main" id="{B3D88131-86E2-7B8E-FC8C-70DF6F5332BE}"/>
              </a:ext>
            </a:extLst>
          </p:cNvPr>
          <p:cNvSpPr txBox="1"/>
          <p:nvPr/>
        </p:nvSpPr>
        <p:spPr>
          <a:xfrm>
            <a:off x="795866" y="3667323"/>
            <a:ext cx="2102284" cy="830997"/>
          </a:xfrm>
          <a:prstGeom prst="rect">
            <a:avLst/>
          </a:prstGeom>
          <a:noFill/>
        </p:spPr>
        <p:txBody>
          <a:bodyPr wrap="square" rtlCol="0">
            <a:spAutoFit/>
          </a:bodyPr>
          <a:lstStyle/>
          <a:p>
            <a:pPr algn="ctr"/>
            <a:r>
              <a:rPr lang="es-MX" sz="2400" b="1" dirty="0">
                <a:solidFill>
                  <a:srgbClr val="C00000"/>
                </a:solidFill>
              </a:rPr>
              <a:t>Septiembre </a:t>
            </a:r>
          </a:p>
          <a:p>
            <a:pPr algn="ctr"/>
            <a:r>
              <a:rPr lang="es-MX" sz="2400" b="1" dirty="0">
                <a:solidFill>
                  <a:srgbClr val="C00000"/>
                </a:solidFill>
              </a:rPr>
              <a:t>de 2026 </a:t>
            </a:r>
          </a:p>
        </p:txBody>
      </p:sp>
      <p:sp>
        <p:nvSpPr>
          <p:cNvPr id="5" name="CuadroTexto 4">
            <a:extLst>
              <a:ext uri="{FF2B5EF4-FFF2-40B4-BE49-F238E27FC236}">
                <a16:creationId xmlns:a16="http://schemas.microsoft.com/office/drawing/2014/main" id="{73D81ABF-7F94-2661-0640-D3774A46E3E9}"/>
              </a:ext>
            </a:extLst>
          </p:cNvPr>
          <p:cNvSpPr txBox="1"/>
          <p:nvPr/>
        </p:nvSpPr>
        <p:spPr>
          <a:xfrm>
            <a:off x="8818046" y="3429000"/>
            <a:ext cx="2316985" cy="830997"/>
          </a:xfrm>
          <a:prstGeom prst="rect">
            <a:avLst/>
          </a:prstGeom>
          <a:noFill/>
        </p:spPr>
        <p:txBody>
          <a:bodyPr wrap="square" rtlCol="0">
            <a:spAutoFit/>
          </a:bodyPr>
          <a:lstStyle/>
          <a:p>
            <a:pPr algn="ctr"/>
            <a:r>
              <a:rPr lang="es-MX" sz="2400" b="1" dirty="0">
                <a:solidFill>
                  <a:srgbClr val="C00000"/>
                </a:solidFill>
              </a:rPr>
              <a:t>Ciclo Escolar </a:t>
            </a:r>
          </a:p>
          <a:p>
            <a:pPr algn="ctr"/>
            <a:r>
              <a:rPr lang="es-MX" sz="2400" b="1" dirty="0">
                <a:solidFill>
                  <a:srgbClr val="C00000"/>
                </a:solidFill>
              </a:rPr>
              <a:t>2026-2027</a:t>
            </a:r>
            <a:endParaRPr lang="es-MX" sz="2800" b="1" dirty="0">
              <a:solidFill>
                <a:srgbClr val="C00000"/>
              </a:solidFill>
            </a:endParaRPr>
          </a:p>
        </p:txBody>
      </p:sp>
      <p:pic>
        <p:nvPicPr>
          <p:cNvPr id="6" name="Imagen 5">
            <a:extLst>
              <a:ext uri="{FF2B5EF4-FFF2-40B4-BE49-F238E27FC236}">
                <a16:creationId xmlns:a16="http://schemas.microsoft.com/office/drawing/2014/main" id="{F929811C-7C5D-444B-B338-A2FD8ADC776C}"/>
              </a:ext>
            </a:extLst>
          </p:cNvPr>
          <p:cNvPicPr>
            <a:picLocks noChangeAspect="1"/>
          </p:cNvPicPr>
          <p:nvPr/>
        </p:nvPicPr>
        <p:blipFill rotWithShape="1">
          <a:blip r:embed="rId2"/>
          <a:srcRect l="25429" t="24571" r="29922" b="13316"/>
          <a:stretch/>
        </p:blipFill>
        <p:spPr>
          <a:xfrm>
            <a:off x="3896537" y="2362507"/>
            <a:ext cx="4398926" cy="3440630"/>
          </a:xfrm>
          <a:prstGeom prst="rect">
            <a:avLst/>
          </a:prstGeom>
        </p:spPr>
      </p:pic>
      <p:pic>
        <p:nvPicPr>
          <p:cNvPr id="7" name="Imagen 6">
            <a:extLst>
              <a:ext uri="{FF2B5EF4-FFF2-40B4-BE49-F238E27FC236}">
                <a16:creationId xmlns:a16="http://schemas.microsoft.com/office/drawing/2014/main" id="{A0D26598-202A-8279-EE93-FD2080782CC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9" name="Imagen 8" descr="Imagen que contiene Texto&#10;&#10;El contenido generado por IA puede ser incorrecto.">
            <a:extLst>
              <a:ext uri="{FF2B5EF4-FFF2-40B4-BE49-F238E27FC236}">
                <a16:creationId xmlns:a16="http://schemas.microsoft.com/office/drawing/2014/main" id="{A5A7A3CC-5BB5-3A2D-4478-AE096977A3FD}"/>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185606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4A011C3-C7F3-4D93-80B2-76CC156EEF80}"/>
              </a:ext>
            </a:extLst>
          </p:cNvPr>
          <p:cNvPicPr>
            <a:picLocks noChangeAspect="1"/>
          </p:cNvPicPr>
          <p:nvPr/>
        </p:nvPicPr>
        <p:blipFill rotWithShape="1">
          <a:blip r:embed="rId2"/>
          <a:srcRect l="8438" t="28114" r="62266" b="61464"/>
          <a:stretch/>
        </p:blipFill>
        <p:spPr>
          <a:xfrm>
            <a:off x="460244" y="1130234"/>
            <a:ext cx="3347257" cy="669451"/>
          </a:xfrm>
          <a:prstGeom prst="rect">
            <a:avLst/>
          </a:prstGeom>
        </p:spPr>
      </p:pic>
      <p:sp>
        <p:nvSpPr>
          <p:cNvPr id="8" name="CuadroTexto 7">
            <a:extLst>
              <a:ext uri="{FF2B5EF4-FFF2-40B4-BE49-F238E27FC236}">
                <a16:creationId xmlns:a16="http://schemas.microsoft.com/office/drawing/2014/main" id="{35009349-0FEE-4873-82DC-AA9776789748}"/>
              </a:ext>
            </a:extLst>
          </p:cNvPr>
          <p:cNvSpPr txBox="1"/>
          <p:nvPr/>
        </p:nvSpPr>
        <p:spPr>
          <a:xfrm>
            <a:off x="700736" y="1629756"/>
            <a:ext cx="10272063" cy="430887"/>
          </a:xfrm>
          <a:prstGeom prst="rect">
            <a:avLst/>
          </a:prstGeom>
          <a:noFill/>
        </p:spPr>
        <p:txBody>
          <a:bodyPr wrap="square">
            <a:spAutoFit/>
          </a:bodyPr>
          <a:lstStyle/>
          <a:p>
            <a:pPr algn="l"/>
            <a:r>
              <a:rPr lang="es-MX" sz="2200" b="1" i="0" u="none" strike="noStrike" baseline="0" dirty="0">
                <a:solidFill>
                  <a:srgbClr val="AE8219"/>
                </a:solidFill>
                <a:latin typeface="Arial" panose="020B0604020202020204" pitchFamily="34" charset="0"/>
                <a:cs typeface="Arial" panose="020B0604020202020204" pitchFamily="34" charset="0"/>
              </a:rPr>
              <a:t>Estimadas directoras y supervisoras, estimados directores y supervisores:</a:t>
            </a:r>
            <a:endParaRPr lang="es-MX" sz="22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E24E6345-E9F2-48A9-8990-5D770C281041}"/>
              </a:ext>
            </a:extLst>
          </p:cNvPr>
          <p:cNvSpPr/>
          <p:nvPr/>
        </p:nvSpPr>
        <p:spPr>
          <a:xfrm>
            <a:off x="700087" y="2390237"/>
            <a:ext cx="10632282" cy="3816429"/>
          </a:xfrm>
          <a:prstGeom prst="rect">
            <a:avLst/>
          </a:prstGeom>
        </p:spPr>
        <p:txBody>
          <a:bodyPr wrap="square">
            <a:spAutoFit/>
          </a:bodyPr>
          <a:lstStyle/>
          <a:p>
            <a:pPr algn="just"/>
            <a:r>
              <a:rPr lang="es-MX" sz="2200" dirty="0">
                <a:latin typeface="Arial" panose="020B0604020202020204" pitchFamily="34" charset="0"/>
                <a:cs typeface="Arial" panose="020B0604020202020204" pitchFamily="34" charset="0"/>
              </a:rPr>
              <a:t>La Primera Sesión Ordinaria del Consejo Técnico Escolar (CTE) constituye una oportunidad para que los colectivos docentes </a:t>
            </a:r>
            <a:r>
              <a:rPr lang="es-MX" sz="2200" b="1" dirty="0">
                <a:solidFill>
                  <a:srgbClr val="C00000"/>
                </a:solidFill>
                <a:latin typeface="Arial" panose="020B0604020202020204" pitchFamily="34" charset="0"/>
                <a:cs typeface="Arial" panose="020B0604020202020204" pitchFamily="34" charset="0"/>
              </a:rPr>
              <a:t>den continuidad al trabajo iniciado durante la Fase Intensiva y avancen en la concreción de acuerdos y decisiones que orientarán su labor a lo largo del ciclo escolar</a:t>
            </a:r>
            <a:r>
              <a:rPr lang="es-MX" sz="22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s-MX" sz="2200" b="1" dirty="0">
                <a:latin typeface="Arial" panose="020B0604020202020204" pitchFamily="34" charset="0"/>
                <a:cs typeface="Arial" panose="020B0604020202020204" pitchFamily="34" charset="0"/>
              </a:rPr>
              <a:t>Favorecer el diálogo entre los equipos directivos y el personal con funciones de supervisión. </a:t>
            </a:r>
          </a:p>
          <a:p>
            <a:pPr marL="342900" indent="-342900" algn="just">
              <a:buFont typeface="Arial" panose="020B0604020202020204" pitchFamily="34" charset="0"/>
              <a:buChar char="•"/>
            </a:pPr>
            <a:r>
              <a:rPr lang="es-MX" sz="2200" b="1" dirty="0">
                <a:latin typeface="Arial" panose="020B0604020202020204" pitchFamily="34" charset="0"/>
                <a:cs typeface="Arial" panose="020B0604020202020204" pitchFamily="34" charset="0"/>
              </a:rPr>
              <a:t>Reflexionar sobre las formas de acompañar a los </a:t>
            </a:r>
            <a:r>
              <a:rPr lang="es-MX" sz="2200" b="1">
                <a:latin typeface="Arial" panose="020B0604020202020204" pitchFamily="34" charset="0"/>
                <a:cs typeface="Arial" panose="020B0604020202020204" pitchFamily="34" charset="0"/>
              </a:rPr>
              <a:t>colectivos docentes. </a:t>
            </a:r>
            <a:endParaRPr lang="es-MX" sz="2200" b="1"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MX" sz="2200" b="1" dirty="0">
                <a:latin typeface="Arial" panose="020B0604020202020204" pitchFamily="34" charset="0"/>
                <a:cs typeface="Arial" panose="020B0604020202020204" pitchFamily="34" charset="0"/>
              </a:rPr>
              <a:t>Continuar los 3</a:t>
            </a:r>
            <a:r>
              <a:rPr lang="es-MX" sz="2200" dirty="0">
                <a:latin typeface="Arial" panose="020B0604020202020204" pitchFamily="34" charset="0"/>
                <a:cs typeface="Arial" panose="020B0604020202020204" pitchFamily="34" charset="0"/>
              </a:rPr>
              <a:t> </a:t>
            </a:r>
            <a:r>
              <a:rPr lang="es-MX" sz="2200" b="1" dirty="0">
                <a:latin typeface="Arial" panose="020B0604020202020204" pitchFamily="34" charset="0"/>
                <a:cs typeface="Arial" panose="020B0604020202020204" pitchFamily="34" charset="0"/>
              </a:rPr>
              <a:t>procesos fundamentales: avance en el codiseño del Programa Analítico, la concreción de la fase de planeación del Proceso de Mejora Continua y la construcción de su Itinerario para las sesiones del CTE</a:t>
            </a:r>
            <a:r>
              <a:rPr lang="es-MX" sz="2200" dirty="0">
                <a:latin typeface="Arial" panose="020B0604020202020204" pitchFamily="34" charset="0"/>
                <a:cs typeface="Arial" panose="020B0604020202020204" pitchFamily="34" charset="0"/>
              </a:rPr>
              <a:t>.</a:t>
            </a:r>
          </a:p>
        </p:txBody>
      </p:sp>
      <p:pic>
        <p:nvPicPr>
          <p:cNvPr id="5" name="Imagen 4">
            <a:extLst>
              <a:ext uri="{FF2B5EF4-FFF2-40B4-BE49-F238E27FC236}">
                <a16:creationId xmlns:a16="http://schemas.microsoft.com/office/drawing/2014/main" id="{19CD0342-571B-FD16-57FE-A0E1DD26CAD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F0C9A2BD-4089-1158-B1A8-4463DF5D9654}"/>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289458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F4EC9-9C98-79CC-B292-7E5BA77AE9DD}"/>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8F33CE8-5534-48E2-9A40-BB7BB9639035}"/>
              </a:ext>
            </a:extLst>
          </p:cNvPr>
          <p:cNvSpPr/>
          <p:nvPr/>
        </p:nvSpPr>
        <p:spPr>
          <a:xfrm>
            <a:off x="769143" y="1226432"/>
            <a:ext cx="10972800" cy="2462213"/>
          </a:xfrm>
          <a:prstGeom prst="rect">
            <a:avLst/>
          </a:prstGeom>
        </p:spPr>
        <p:txBody>
          <a:bodyPr wrap="square">
            <a:spAutoFit/>
          </a:bodyPr>
          <a:lstStyle/>
          <a:p>
            <a:pPr marL="342900" indent="-342900" algn="just">
              <a:buFont typeface="Wingdings" panose="05000000000000000000" pitchFamily="2" charset="2"/>
              <a:buChar char="§"/>
            </a:pPr>
            <a:r>
              <a:rPr lang="es-MX" sz="2200" b="1" dirty="0">
                <a:solidFill>
                  <a:srgbClr val="C00000"/>
                </a:solidFill>
                <a:latin typeface="Arial" panose="020B0604020202020204" pitchFamily="34" charset="0"/>
                <a:cs typeface="Arial" panose="020B0604020202020204" pitchFamily="34" charset="0"/>
              </a:rPr>
              <a:t>Analizar las necesidades y desafíos que enfrentan las escuelas y construir, de manera colaborativa, estrategias de acompañamiento </a:t>
            </a:r>
            <a:r>
              <a:rPr lang="es-MX" sz="2200" dirty="0">
                <a:latin typeface="Arial" panose="020B0604020202020204" pitchFamily="34" charset="0"/>
                <a:cs typeface="Arial" panose="020B0604020202020204" pitchFamily="34" charset="0"/>
              </a:rPr>
              <a:t>acordes con las características y los contextos de cada colectivo docente, reflexionar sobre las propias prácticas de acompañamiento e identificar alternativas para fortalecerlas.</a:t>
            </a:r>
          </a:p>
          <a:p>
            <a:pPr algn="just"/>
            <a:endParaRPr lang="es-MX" sz="22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s-MX" sz="2200" dirty="0">
                <a:latin typeface="Arial" panose="020B0604020202020204" pitchFamily="34" charset="0"/>
                <a:cs typeface="Arial" panose="020B0604020202020204" pitchFamily="34" charset="0"/>
              </a:rPr>
              <a:t>Generar condiciones que </a:t>
            </a:r>
            <a:r>
              <a:rPr lang="es-MX" sz="2200" b="1" dirty="0">
                <a:latin typeface="Arial" panose="020B0604020202020204" pitchFamily="34" charset="0"/>
                <a:cs typeface="Arial" panose="020B0604020202020204" pitchFamily="34" charset="0"/>
              </a:rPr>
              <a:t>favorezcan el diálogo pedagógico, la reflexión colectiva y la toma de decisiones fundamentadas</a:t>
            </a:r>
            <a:r>
              <a:rPr lang="es-MX" sz="2200" dirty="0">
                <a:latin typeface="Arial" panose="020B0604020202020204" pitchFamily="34" charset="0"/>
                <a:cs typeface="Arial" panose="020B0604020202020204" pitchFamily="34" charset="0"/>
              </a:rPr>
              <a:t>.</a:t>
            </a:r>
          </a:p>
        </p:txBody>
      </p:sp>
      <p:sp>
        <p:nvSpPr>
          <p:cNvPr id="3" name="Rectángulo 2">
            <a:extLst>
              <a:ext uri="{FF2B5EF4-FFF2-40B4-BE49-F238E27FC236}">
                <a16:creationId xmlns:a16="http://schemas.microsoft.com/office/drawing/2014/main" id="{518A9C94-D6F8-48C6-BE04-A7C50293094D}"/>
              </a:ext>
            </a:extLst>
          </p:cNvPr>
          <p:cNvSpPr/>
          <p:nvPr/>
        </p:nvSpPr>
        <p:spPr>
          <a:xfrm>
            <a:off x="1426369" y="3846464"/>
            <a:ext cx="9658349" cy="1785104"/>
          </a:xfrm>
          <a:prstGeom prst="rect">
            <a:avLst/>
          </a:prstGeom>
          <a:ln w="38100">
            <a:solidFill>
              <a:schemeClr val="tx2">
                <a:lumMod val="75000"/>
                <a:lumOff val="25000"/>
              </a:schemeClr>
            </a:solidFill>
          </a:ln>
        </p:spPr>
        <p:txBody>
          <a:bodyPr wrap="square">
            <a:spAutoFit/>
          </a:bodyPr>
          <a:lstStyle/>
          <a:p>
            <a:pPr algn="just"/>
            <a:r>
              <a:rPr lang="es-MX" sz="2200" b="1" dirty="0">
                <a:solidFill>
                  <a:srgbClr val="C00000"/>
                </a:solidFill>
                <a:latin typeface="Arial" panose="020B0604020202020204" pitchFamily="34" charset="0"/>
                <a:cs typeface="Arial" panose="020B0604020202020204" pitchFamily="34" charset="0"/>
              </a:rPr>
              <a:t>El acompañamiento de la supervisión tiene como propósito contribuir a la creación de condiciones que fortalezcan el trabajo pedagógico de los colectivos docentes, </a:t>
            </a:r>
            <a:r>
              <a:rPr lang="es-MX" sz="2200" b="1" dirty="0">
                <a:latin typeface="Arial" panose="020B0604020202020204" pitchFamily="34" charset="0"/>
                <a:cs typeface="Arial" panose="020B0604020202020204" pitchFamily="34" charset="0"/>
              </a:rPr>
              <a:t>evitando la incorporación de requerimientos, formatos o actividades administrativas </a:t>
            </a:r>
            <a:r>
              <a:rPr lang="es-MX" sz="2200" b="1" dirty="0">
                <a:solidFill>
                  <a:srgbClr val="C00000"/>
                </a:solidFill>
                <a:latin typeface="Arial" panose="020B0604020202020204" pitchFamily="34" charset="0"/>
                <a:cs typeface="Arial" panose="020B0604020202020204" pitchFamily="34" charset="0"/>
              </a:rPr>
              <a:t>que desvíen la atención de los asuntos educativos que han identificado como prioritarios.</a:t>
            </a:r>
          </a:p>
        </p:txBody>
      </p:sp>
      <p:pic>
        <p:nvPicPr>
          <p:cNvPr id="5" name="Imagen 4">
            <a:extLst>
              <a:ext uri="{FF2B5EF4-FFF2-40B4-BE49-F238E27FC236}">
                <a16:creationId xmlns:a16="http://schemas.microsoft.com/office/drawing/2014/main" id="{05FA7D97-5B0C-42E3-FA51-AD17A709E821}"/>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30F2B18F-D72B-E6F9-4611-A1970FF44B82}"/>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874074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E8D06-031D-A8D2-AF73-D5B1A2E6C7D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28AAD0D-9315-4B7C-AA4A-77D3A06D5494}"/>
              </a:ext>
            </a:extLst>
          </p:cNvPr>
          <p:cNvSpPr/>
          <p:nvPr/>
        </p:nvSpPr>
        <p:spPr>
          <a:xfrm>
            <a:off x="764380" y="2933997"/>
            <a:ext cx="10931089" cy="2616101"/>
          </a:xfrm>
          <a:prstGeom prst="rect">
            <a:avLst/>
          </a:prstGeom>
        </p:spPr>
        <p:txBody>
          <a:bodyPr wrap="square">
            <a:spAutoFit/>
          </a:bodyPr>
          <a:lstStyle/>
          <a:p>
            <a:pPr algn="just"/>
            <a:r>
              <a:rPr lang="es-MX" sz="2000" dirty="0">
                <a:solidFill>
                  <a:srgbClr val="000000"/>
                </a:solidFill>
                <a:latin typeface="Arial" panose="020B0604020202020204" pitchFamily="34" charset="0"/>
                <a:cs typeface="Arial" panose="020B0604020202020204" pitchFamily="34" charset="0"/>
              </a:rPr>
              <a:t>La Secretaría de Educación Pública (SEP) confía en que los planteamientos y propuestas contenidos en este documento contribuirán a </a:t>
            </a:r>
            <a:r>
              <a:rPr lang="es-MX" sz="2000" b="1" dirty="0">
                <a:solidFill>
                  <a:srgbClr val="C00000"/>
                </a:solidFill>
                <a:latin typeface="Arial" panose="020B0604020202020204" pitchFamily="34" charset="0"/>
                <a:cs typeface="Arial" panose="020B0604020202020204" pitchFamily="34" charset="0"/>
              </a:rPr>
              <a:t>enriquecer el diálogo entre las autoridades escolares y, sobre todo, a consolidar formas de acompañamiento que respondan a las necesidades de los colectivos docentes, fortalezcan su autonomía profesional y favorezcan la consolidación de los Consejos Técnicos Escolares como auténticas Comunidades de Aprendizaje</a:t>
            </a:r>
            <a:r>
              <a:rPr lang="es-MX" sz="2000" dirty="0">
                <a:solidFill>
                  <a:srgbClr val="000000"/>
                </a:solidFill>
                <a:latin typeface="Arial" panose="020B0604020202020204" pitchFamily="34" charset="0"/>
                <a:cs typeface="Arial" panose="020B0604020202020204" pitchFamily="34" charset="0"/>
              </a:rPr>
              <a:t>.</a:t>
            </a:r>
          </a:p>
          <a:p>
            <a:pPr algn="just"/>
            <a:endParaRPr lang="es-MX" sz="2200" b="1" dirty="0">
              <a:solidFill>
                <a:srgbClr val="AE8219"/>
              </a:solidFill>
              <a:latin typeface="Arial" panose="020B0604020202020204" pitchFamily="34" charset="0"/>
              <a:cs typeface="Arial" panose="020B0604020202020204" pitchFamily="34" charset="0"/>
            </a:endParaRPr>
          </a:p>
          <a:p>
            <a:pPr algn="ctr"/>
            <a:r>
              <a:rPr lang="es-MX" sz="2200" b="1" dirty="0">
                <a:solidFill>
                  <a:srgbClr val="AE8219"/>
                </a:solidFill>
                <a:latin typeface="Arial" panose="020B0604020202020204" pitchFamily="34" charset="0"/>
                <a:cs typeface="Arial" panose="020B0604020202020204" pitchFamily="34" charset="0"/>
              </a:rPr>
              <a:t>¡Educación para la transformación!</a:t>
            </a:r>
            <a:endParaRPr lang="es-MX" sz="22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C5CC6405-C2EA-4B4A-A443-2D7707E74015}"/>
              </a:ext>
            </a:extLst>
          </p:cNvPr>
          <p:cNvSpPr/>
          <p:nvPr/>
        </p:nvSpPr>
        <p:spPr>
          <a:xfrm>
            <a:off x="764379" y="1355557"/>
            <a:ext cx="10931090" cy="1323439"/>
          </a:xfrm>
          <a:prstGeom prst="rect">
            <a:avLst/>
          </a:prstGeom>
          <a:ln w="38100">
            <a:solidFill>
              <a:schemeClr val="accent1">
                <a:lumMod val="75000"/>
              </a:schemeClr>
            </a:solidFill>
          </a:ln>
        </p:spPr>
        <p:txBody>
          <a:bodyPr wrap="square">
            <a:spAutoFit/>
          </a:bodyPr>
          <a:lstStyle/>
          <a:p>
            <a:pPr algn="just"/>
            <a:r>
              <a:rPr lang="es-MX" sz="2000" b="1" dirty="0">
                <a:solidFill>
                  <a:srgbClr val="C00000"/>
                </a:solidFill>
                <a:latin typeface="Arial" panose="020B0604020202020204" pitchFamily="34" charset="0"/>
                <a:cs typeface="Arial" panose="020B0604020202020204" pitchFamily="34" charset="0"/>
              </a:rPr>
              <a:t>Acompañar implica reconocer y fortalecer la autonomía profesional de maestras y maestros</a:t>
            </a:r>
            <a:r>
              <a:rPr lang="es-MX" sz="2000" b="1" dirty="0">
                <a:solidFill>
                  <a:srgbClr val="000000"/>
                </a:solidFill>
                <a:latin typeface="Arial" panose="020B0604020202020204" pitchFamily="34" charset="0"/>
                <a:cs typeface="Arial" panose="020B0604020202020204" pitchFamily="34" charset="0"/>
              </a:rPr>
              <a:t>, ya que </a:t>
            </a:r>
            <a:r>
              <a:rPr lang="es-MX" sz="2000" b="1" dirty="0">
                <a:latin typeface="Arial" panose="020B0604020202020204" pitchFamily="34" charset="0"/>
                <a:cs typeface="Arial" panose="020B0604020202020204" pitchFamily="34" charset="0"/>
              </a:rPr>
              <a:t>el acompañamiento pedagógico se concibe como un proceso permanente de diálogo, reflexión y aprendizaje compartido, orientado al fortalecimiento de las prácticas educativas y a la mejora continua de las escuelas</a:t>
            </a:r>
            <a:r>
              <a:rPr lang="es-MX" sz="2000" dirty="0">
                <a:solidFill>
                  <a:srgbClr val="000000"/>
                </a:solidFill>
                <a:latin typeface="Arial" panose="020B0604020202020204" pitchFamily="34" charset="0"/>
                <a:cs typeface="Arial" panose="020B0604020202020204" pitchFamily="34" charset="0"/>
              </a:rPr>
              <a:t>.</a:t>
            </a:r>
          </a:p>
        </p:txBody>
      </p:sp>
      <p:pic>
        <p:nvPicPr>
          <p:cNvPr id="5" name="Imagen 4">
            <a:extLst>
              <a:ext uri="{FF2B5EF4-FFF2-40B4-BE49-F238E27FC236}">
                <a16:creationId xmlns:a16="http://schemas.microsoft.com/office/drawing/2014/main" id="{AFC9F205-87B8-5F02-F1A8-E6DDD255774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D670392D-7602-A647-B15D-83823067C100}"/>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4209522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2BC0F-0C53-B631-4A90-3B0CFC598FDE}"/>
            </a:ext>
          </a:extLst>
        </p:cNvPr>
        <p:cNvGrpSpPr/>
        <p:nvPr/>
      </p:nvGrpSpPr>
      <p:grpSpPr>
        <a:xfrm>
          <a:off x="0" y="0"/>
          <a:ext cx="0" cy="0"/>
          <a:chOff x="0" y="0"/>
          <a:chExt cx="0" cy="0"/>
        </a:xfrm>
      </p:grpSpPr>
      <p:pic>
        <p:nvPicPr>
          <p:cNvPr id="8" name="Imagen 7" descr="Imagen que contiene Texto&#10;&#10;El contenido generado por IA puede ser incorrecto.">
            <a:extLst>
              <a:ext uri="{FF2B5EF4-FFF2-40B4-BE49-F238E27FC236}">
                <a16:creationId xmlns:a16="http://schemas.microsoft.com/office/drawing/2014/main" id="{E5E6D399-E027-131B-D2A2-93724474B552}"/>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2" name="Imagen 1">
            <a:extLst>
              <a:ext uri="{FF2B5EF4-FFF2-40B4-BE49-F238E27FC236}">
                <a16:creationId xmlns:a16="http://schemas.microsoft.com/office/drawing/2014/main" id="{1AA7D575-3283-4145-8B1B-81486A07CCF5}"/>
              </a:ext>
            </a:extLst>
          </p:cNvPr>
          <p:cNvPicPr>
            <a:picLocks noChangeAspect="1"/>
          </p:cNvPicPr>
          <p:nvPr/>
        </p:nvPicPr>
        <p:blipFill rotWithShape="1">
          <a:blip r:embed="rId3"/>
          <a:srcRect l="22266" t="24571" r="27930" b="12899"/>
          <a:stretch/>
        </p:blipFill>
        <p:spPr>
          <a:xfrm>
            <a:off x="2251433" y="1246401"/>
            <a:ext cx="7290774" cy="5146427"/>
          </a:xfrm>
          <a:prstGeom prst="rect">
            <a:avLst/>
          </a:prstGeom>
        </p:spPr>
      </p:pic>
      <p:pic>
        <p:nvPicPr>
          <p:cNvPr id="4" name="Imagen 3">
            <a:extLst>
              <a:ext uri="{FF2B5EF4-FFF2-40B4-BE49-F238E27FC236}">
                <a16:creationId xmlns:a16="http://schemas.microsoft.com/office/drawing/2014/main" id="{152854DD-1F07-B343-A3CA-5963460D891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876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A12DA-C445-55C3-EA07-C7F831541460}"/>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8CAFAEEE-0F89-4553-8C38-3F0D6C7492A4}"/>
              </a:ext>
            </a:extLst>
          </p:cNvPr>
          <p:cNvSpPr/>
          <p:nvPr/>
        </p:nvSpPr>
        <p:spPr>
          <a:xfrm>
            <a:off x="653039" y="1508895"/>
            <a:ext cx="11090293" cy="4154984"/>
          </a:xfrm>
          <a:prstGeom prst="rect">
            <a:avLst/>
          </a:prstGeom>
        </p:spPr>
        <p:txBody>
          <a:bodyPr wrap="square">
            <a:spAutoFit/>
          </a:bodyPr>
          <a:lstStyle/>
          <a:p>
            <a:pPr algn="ctr"/>
            <a:r>
              <a:rPr lang="es-MX" sz="2400" b="1" dirty="0">
                <a:solidFill>
                  <a:srgbClr val="1C5C4F"/>
                </a:solidFill>
                <a:latin typeface="Arial" panose="020B0604020202020204" pitchFamily="34" charset="0"/>
                <a:cs typeface="Arial" panose="020B0604020202020204" pitchFamily="34" charset="0"/>
              </a:rPr>
              <a:t>Acompañamiento a los colectivos docentes en el codiseño del Programa Analítico y el Proceso de Mejora Continua</a:t>
            </a:r>
          </a:p>
          <a:p>
            <a:endParaRPr lang="es-MX" sz="1600" dirty="0">
              <a:solidFill>
                <a:srgbClr val="000000"/>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s-MX" sz="2000" b="1" dirty="0">
                <a:solidFill>
                  <a:srgbClr val="C00000"/>
                </a:solidFill>
                <a:latin typeface="Arial" panose="020B0604020202020204" pitchFamily="34" charset="0"/>
                <a:cs typeface="Arial" panose="020B0604020202020204" pitchFamily="34" charset="0"/>
              </a:rPr>
              <a:t>Compartir información, analizar las necesidades de las escuelas, intercambiar experiencias y construir de manera colaborativa estrategias de acompañamiento pedagógico acordes con las características y los contextos de los colectivos docentes</a:t>
            </a:r>
            <a:r>
              <a:rPr lang="es-MX" sz="2000" dirty="0">
                <a:solidFill>
                  <a:srgbClr val="000000"/>
                </a:solidFill>
                <a:latin typeface="Arial" panose="020B0604020202020204" pitchFamily="34" charset="0"/>
                <a:cs typeface="Arial" panose="020B0604020202020204" pitchFamily="34" charset="0"/>
              </a:rPr>
              <a:t>. </a:t>
            </a:r>
          </a:p>
          <a:p>
            <a:pPr algn="just"/>
            <a:endParaRPr lang="es-MX" sz="2000" dirty="0">
              <a:solidFill>
                <a:srgbClr val="000000"/>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s-MX" sz="2000" b="1" dirty="0">
                <a:solidFill>
                  <a:srgbClr val="000000"/>
                </a:solidFill>
                <a:latin typeface="Arial" panose="020B0604020202020204" pitchFamily="34" charset="0"/>
                <a:cs typeface="Arial" panose="020B0604020202020204" pitchFamily="34" charset="0"/>
              </a:rPr>
              <a:t>Reflexionar sobre las propias prácticas de acompañamiento</a:t>
            </a:r>
            <a:r>
              <a:rPr lang="es-MX" sz="2000" dirty="0">
                <a:solidFill>
                  <a:srgbClr val="000000"/>
                </a:solidFill>
                <a:latin typeface="Arial" panose="020B0604020202020204" pitchFamily="34" charset="0"/>
                <a:cs typeface="Arial" panose="020B0604020202020204" pitchFamily="34" charset="0"/>
              </a:rPr>
              <a:t> e identificar alternativas que contribuyan al fortalecimiento del trabajo colegiado y al desarrollo de los colectivos docentes.</a:t>
            </a:r>
          </a:p>
          <a:p>
            <a:endParaRPr lang="es-MX" sz="2000" dirty="0">
              <a:solidFill>
                <a:srgbClr val="000000"/>
              </a:solidFill>
              <a:latin typeface="Arial" panose="020B0604020202020204" pitchFamily="34" charset="0"/>
              <a:cs typeface="Arial" panose="020B0604020202020204" pitchFamily="34" charset="0"/>
            </a:endParaRPr>
          </a:p>
          <a:p>
            <a:pPr marL="342900" indent="-342900" algn="just">
              <a:buFont typeface="Wingdings" panose="05000000000000000000" pitchFamily="2" charset="2"/>
              <a:buChar char="v"/>
            </a:pPr>
            <a:r>
              <a:rPr lang="es-MX" sz="2000" dirty="0">
                <a:solidFill>
                  <a:srgbClr val="000000"/>
                </a:solidFill>
                <a:latin typeface="Arial" panose="020B0604020202020204" pitchFamily="34" charset="0"/>
                <a:cs typeface="Arial" panose="020B0604020202020204" pitchFamily="34" charset="0"/>
              </a:rPr>
              <a:t>En esta Primera Sesión del CTE, se espera </a:t>
            </a:r>
            <a:r>
              <a:rPr lang="es-MX" sz="2000" b="1" dirty="0">
                <a:solidFill>
                  <a:srgbClr val="000000"/>
                </a:solidFill>
                <a:latin typeface="Arial" panose="020B0604020202020204" pitchFamily="34" charset="0"/>
                <a:cs typeface="Arial" panose="020B0604020202020204" pitchFamily="34" charset="0"/>
              </a:rPr>
              <a:t>que los colectivos docentes avancen en el codiseño del Programa Analítico (PA) para el ciclo escolar 2026-2027 y concreten la planeación del Proceso de Mejora Continua</a:t>
            </a:r>
            <a:r>
              <a:rPr lang="es-MX" sz="2000" dirty="0">
                <a:solidFill>
                  <a:srgbClr val="000000"/>
                </a:solidFill>
                <a:latin typeface="Arial" panose="020B0604020202020204" pitchFamily="34" charset="0"/>
                <a:cs typeface="Arial" panose="020B0604020202020204" pitchFamily="34" charset="0"/>
              </a:rPr>
              <a:t>.</a:t>
            </a:r>
          </a:p>
        </p:txBody>
      </p:sp>
      <p:pic>
        <p:nvPicPr>
          <p:cNvPr id="4" name="Imagen 3">
            <a:extLst>
              <a:ext uri="{FF2B5EF4-FFF2-40B4-BE49-F238E27FC236}">
                <a16:creationId xmlns:a16="http://schemas.microsoft.com/office/drawing/2014/main" id="{10DFA9BA-3FF6-30A5-A531-C551DE481F1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1DA44B66-8411-6DFA-9681-0E5C58EA8BB5}"/>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33126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89160-6C51-CA5F-CE62-B6E4448CDF2A}"/>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203FEBB4-0A23-4E71-938A-FFFE77573E72}"/>
              </a:ext>
            </a:extLst>
          </p:cNvPr>
          <p:cNvSpPr/>
          <p:nvPr/>
        </p:nvSpPr>
        <p:spPr>
          <a:xfrm>
            <a:off x="417871" y="1264585"/>
            <a:ext cx="10596563" cy="707886"/>
          </a:xfrm>
          <a:prstGeom prst="rect">
            <a:avLst/>
          </a:prstGeom>
        </p:spPr>
        <p:txBody>
          <a:bodyPr wrap="square">
            <a:spAutoFit/>
          </a:bodyPr>
          <a:lstStyle/>
          <a:p>
            <a:pPr algn="just"/>
            <a:r>
              <a:rPr lang="es-MX" sz="2000" dirty="0">
                <a:solidFill>
                  <a:srgbClr val="000000"/>
                </a:solidFill>
                <a:latin typeface="Arial" panose="020B0604020202020204" pitchFamily="34" charset="0"/>
                <a:cs typeface="Arial" panose="020B0604020202020204" pitchFamily="34" charset="0"/>
              </a:rPr>
              <a:t>A continuación, se presentan algunas orientaciones para acompañar a los colectivos docentes en el desarrollo de estos procesos.</a:t>
            </a:r>
            <a:endParaRPr lang="es-MX" sz="2000" dirty="0">
              <a:latin typeface="Arial" panose="020B0604020202020204" pitchFamily="34" charset="0"/>
              <a:cs typeface="Arial" panose="020B0604020202020204" pitchFamily="34" charset="0"/>
            </a:endParaRPr>
          </a:p>
        </p:txBody>
      </p:sp>
      <p:sp>
        <p:nvSpPr>
          <p:cNvPr id="3" name="Rectángulo 2">
            <a:extLst>
              <a:ext uri="{FF2B5EF4-FFF2-40B4-BE49-F238E27FC236}">
                <a16:creationId xmlns:a16="http://schemas.microsoft.com/office/drawing/2014/main" id="{6137FDDD-41B0-4843-A9A5-6A3B1D1F8838}"/>
              </a:ext>
            </a:extLst>
          </p:cNvPr>
          <p:cNvSpPr/>
          <p:nvPr/>
        </p:nvSpPr>
        <p:spPr>
          <a:xfrm>
            <a:off x="417871" y="2072279"/>
            <a:ext cx="11356258" cy="3877985"/>
          </a:xfrm>
          <a:prstGeom prst="rect">
            <a:avLst/>
          </a:prstGeom>
        </p:spPr>
        <p:txBody>
          <a:bodyPr wrap="square">
            <a:spAutoFit/>
          </a:bodyPr>
          <a:lstStyle/>
          <a:p>
            <a:pPr marL="457200" indent="-457200" algn="just">
              <a:buAutoNum type="alphaUcPeriod"/>
            </a:pPr>
            <a:r>
              <a:rPr lang="es-MX" sz="2400" b="1" dirty="0">
                <a:solidFill>
                  <a:srgbClr val="681B32"/>
                </a:solidFill>
                <a:latin typeface="Arial" panose="020B0604020202020204" pitchFamily="34" charset="0"/>
                <a:cs typeface="Arial" panose="020B0604020202020204" pitchFamily="34" charset="0"/>
              </a:rPr>
              <a:t>Acompañar la formulación del Programa Analítico</a:t>
            </a:r>
          </a:p>
          <a:p>
            <a:pPr algn="just"/>
            <a:endParaRPr lang="es-MX" sz="2400" b="1" dirty="0">
              <a:solidFill>
                <a:srgbClr val="681B32"/>
              </a:solidFill>
              <a:latin typeface="Arial" panose="020B0604020202020204" pitchFamily="34" charset="0"/>
              <a:cs typeface="Arial" panose="020B0604020202020204" pitchFamily="34" charset="0"/>
            </a:endParaRPr>
          </a:p>
          <a:p>
            <a:pPr algn="just"/>
            <a:r>
              <a:rPr lang="es-MX" b="1" dirty="0">
                <a:solidFill>
                  <a:srgbClr val="000000"/>
                </a:solidFill>
                <a:latin typeface="Arial" panose="020B0604020202020204" pitchFamily="34" charset="0"/>
                <a:cs typeface="Arial" panose="020B0604020202020204" pitchFamily="34" charset="0"/>
              </a:rPr>
              <a:t>Dialoguen sobre los avances logrados por sus colectivos docentes en la formulación del PA</a:t>
            </a:r>
            <a:r>
              <a:rPr lang="es-MX" dirty="0">
                <a:solidFill>
                  <a:srgbClr val="000000"/>
                </a:solidFill>
                <a:latin typeface="Arial" panose="020B0604020202020204" pitchFamily="34" charset="0"/>
                <a:cs typeface="Arial" panose="020B0604020202020204" pitchFamily="34" charset="0"/>
              </a:rPr>
              <a:t>. Cada directora o director puede </a:t>
            </a:r>
            <a:r>
              <a:rPr lang="es-MX" b="1" dirty="0">
                <a:solidFill>
                  <a:srgbClr val="C00000"/>
                </a:solidFill>
                <a:latin typeface="Arial" panose="020B0604020202020204" pitchFamily="34" charset="0"/>
                <a:cs typeface="Arial" panose="020B0604020202020204" pitchFamily="34" charset="0"/>
              </a:rPr>
              <a:t>compartir los progresos alcanzados y los desafíos enfrentados durante el proceso</a:t>
            </a:r>
            <a:r>
              <a:rPr lang="es-MX" dirty="0">
                <a:solidFill>
                  <a:srgbClr val="000000"/>
                </a:solidFill>
                <a:latin typeface="Arial" panose="020B0604020202020204" pitchFamily="34" charset="0"/>
                <a:cs typeface="Arial" panose="020B0604020202020204" pitchFamily="34" charset="0"/>
              </a:rPr>
              <a:t>, particularmente en la lectura de la realidad, la contextualización de los Contenidos, la incorporación de los Ejes Articuladores, la Integración Curricular, el diseño de proyectos u otras alternativas didácticas, y la definición de estrategias de evaluación formativa congruentes con las propuestas de enseñanza.</a:t>
            </a:r>
          </a:p>
          <a:p>
            <a:pPr algn="just"/>
            <a:endParaRPr lang="es-MX" dirty="0">
              <a:solidFill>
                <a:srgbClr val="000000"/>
              </a:solidFill>
              <a:latin typeface="Arial" panose="020B0604020202020204" pitchFamily="34" charset="0"/>
              <a:cs typeface="Arial" panose="020B0604020202020204" pitchFamily="34" charset="0"/>
            </a:endParaRPr>
          </a:p>
          <a:p>
            <a:pPr algn="just"/>
            <a:r>
              <a:rPr lang="es-MX" dirty="0">
                <a:solidFill>
                  <a:srgbClr val="000000"/>
                </a:solidFill>
                <a:latin typeface="Arial" panose="020B0604020202020204" pitchFamily="34" charset="0"/>
                <a:cs typeface="Arial" panose="020B0604020202020204" pitchFamily="34" charset="0"/>
              </a:rPr>
              <a:t>A partir de este intercambio, </a:t>
            </a:r>
            <a:r>
              <a:rPr lang="es-MX" b="1" dirty="0">
                <a:solidFill>
                  <a:srgbClr val="C00000"/>
                </a:solidFill>
                <a:latin typeface="Arial" panose="020B0604020202020204" pitchFamily="34" charset="0"/>
                <a:cs typeface="Arial" panose="020B0604020202020204" pitchFamily="34" charset="0"/>
              </a:rPr>
              <a:t>identifiquen las situaciones o retos que sean comunes a varias escuelas y tomen decisiones sobre las acciones de acompañamiento que pueden implementar para apoyar a los colectivos docentes en su atención</a:t>
            </a:r>
            <a:r>
              <a:rPr lang="es-MX" dirty="0">
                <a:solidFill>
                  <a:srgbClr val="000000"/>
                </a:solidFill>
                <a:latin typeface="Arial" panose="020B0604020202020204" pitchFamily="34" charset="0"/>
                <a:cs typeface="Arial" panose="020B0604020202020204" pitchFamily="34" charset="0"/>
              </a:rPr>
              <a:t>. Por ejemplo, </a:t>
            </a:r>
            <a:r>
              <a:rPr lang="es-MX" b="1" dirty="0">
                <a:solidFill>
                  <a:srgbClr val="000000"/>
                </a:solidFill>
                <a:latin typeface="Arial" panose="020B0604020202020204" pitchFamily="34" charset="0"/>
                <a:cs typeface="Arial" panose="020B0604020202020204" pitchFamily="34" charset="0"/>
              </a:rPr>
              <a:t>uno de los aspectos que puede representar un mayor desafío para maestras y maestros es la identificación de posibilidades para la Integración Curricular</a:t>
            </a:r>
            <a:r>
              <a:rPr lang="es-MX" dirty="0">
                <a:solidFill>
                  <a:srgbClr val="000000"/>
                </a:solidFill>
                <a:latin typeface="Arial" panose="020B0604020202020204" pitchFamily="34" charset="0"/>
                <a:cs typeface="Arial" panose="020B0604020202020204" pitchFamily="34" charset="0"/>
              </a:rPr>
              <a:t>, por lo que será importante analizar estrategias que contribuyan a fortalecer este proceso.</a:t>
            </a:r>
            <a:endParaRPr lang="es-MX"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61E02212-9E01-C10F-98C1-096F3E92274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3BC07D44-66A8-A42C-3400-B7AD7DCBFABE}"/>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568108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FC814-D0B4-12F3-1089-6C6A295E3DBE}"/>
            </a:ext>
          </a:extLst>
        </p:cNvPr>
        <p:cNvGrpSpPr/>
        <p:nvPr/>
      </p:nvGrpSpPr>
      <p:grpSpPr>
        <a:xfrm>
          <a:off x="0" y="0"/>
          <a:ext cx="0" cy="0"/>
          <a:chOff x="0" y="0"/>
          <a:chExt cx="0" cy="0"/>
        </a:xfrm>
      </p:grpSpPr>
      <p:pic>
        <p:nvPicPr>
          <p:cNvPr id="6" name="Imagen 5" descr="Imagen que contiene Texto&#10;&#10;El contenido generado por IA puede ser incorrecto.">
            <a:extLst>
              <a:ext uri="{FF2B5EF4-FFF2-40B4-BE49-F238E27FC236}">
                <a16:creationId xmlns:a16="http://schemas.microsoft.com/office/drawing/2014/main" id="{8C8D5A56-440B-2AFF-43E8-199D6F31AC30}"/>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Rectángulo 1">
            <a:extLst>
              <a:ext uri="{FF2B5EF4-FFF2-40B4-BE49-F238E27FC236}">
                <a16:creationId xmlns:a16="http://schemas.microsoft.com/office/drawing/2014/main" id="{D6797F63-1D55-40D3-9364-95658F4A02EE}"/>
              </a:ext>
            </a:extLst>
          </p:cNvPr>
          <p:cNvSpPr/>
          <p:nvPr/>
        </p:nvSpPr>
        <p:spPr>
          <a:xfrm>
            <a:off x="462115" y="1182231"/>
            <a:ext cx="11267768" cy="2246769"/>
          </a:xfrm>
          <a:prstGeom prst="rect">
            <a:avLst/>
          </a:prstGeom>
        </p:spPr>
        <p:txBody>
          <a:bodyPr wrap="square">
            <a:spAutoFit/>
          </a:bodyPr>
          <a:lstStyle/>
          <a:p>
            <a:pPr algn="just"/>
            <a:r>
              <a:rPr lang="es-MX" sz="2000" b="1" dirty="0">
                <a:latin typeface="Arial" panose="020B0604020202020204" pitchFamily="34" charset="0"/>
                <a:cs typeface="Arial" panose="020B0604020202020204" pitchFamily="34" charset="0"/>
              </a:rPr>
              <a:t>¿Qué es la Integración Curricular?</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En el marco del Plan de Estudio 2022, la Integración Curricular consiste en establecer relaciones entre los distintos elementos del currículo para abordar de manera articulada situaciones, problemáticas o asuntos relevantes para las y los estudiantes y sus comunidades. Esto permite generar experiencias de aprendizaje más significativas, superando el tratamiento aislado de los Contenidos.</a:t>
            </a:r>
          </a:p>
        </p:txBody>
      </p:sp>
      <p:pic>
        <p:nvPicPr>
          <p:cNvPr id="2050" name="Picture 2" descr="https://imgv2-1-f.scribdassets.com/img/document/975089841/original/89d3d22127/1?v=1">
            <a:extLst>
              <a:ext uri="{FF2B5EF4-FFF2-40B4-BE49-F238E27FC236}">
                <a16:creationId xmlns:a16="http://schemas.microsoft.com/office/drawing/2014/main" id="{02846702-A082-41AE-A9AD-BA4752CAAF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537" t="20833" r="25462" b="47083"/>
          <a:stretch/>
        </p:blipFill>
        <p:spPr bwMode="auto">
          <a:xfrm>
            <a:off x="4351541" y="3212869"/>
            <a:ext cx="3488915" cy="298495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390FB2F5-E423-5846-C2BF-C8BD98D392A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43791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5589A-3F10-C3F0-0B5B-E133A8166299}"/>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D196B23-7619-498E-9214-A0EA6C3926DA}"/>
              </a:ext>
            </a:extLst>
          </p:cNvPr>
          <p:cNvSpPr/>
          <p:nvPr/>
        </p:nvSpPr>
        <p:spPr>
          <a:xfrm>
            <a:off x="702468" y="1382286"/>
            <a:ext cx="10787063" cy="4093428"/>
          </a:xfrm>
          <a:prstGeom prst="rect">
            <a:avLst/>
          </a:prstGeom>
        </p:spPr>
        <p:txBody>
          <a:bodyPr wrap="square">
            <a:spAutoFit/>
          </a:bodyPr>
          <a:lstStyle/>
          <a:p>
            <a:pPr algn="just"/>
            <a:r>
              <a:rPr lang="es-MX" sz="2000" b="1" dirty="0">
                <a:latin typeface="Arial" panose="020B0604020202020204" pitchFamily="34" charset="0"/>
                <a:cs typeface="Arial" panose="020B0604020202020204" pitchFamily="34" charset="0"/>
              </a:rPr>
              <a:t>¿Qué se requiere para lograrla?</a:t>
            </a:r>
          </a:p>
          <a:p>
            <a:pPr algn="just"/>
            <a:r>
              <a:rPr lang="es-MX" sz="2000" dirty="0">
                <a:latin typeface="Arial" panose="020B0604020202020204" pitchFamily="34" charset="0"/>
                <a:cs typeface="Arial" panose="020B0604020202020204" pitchFamily="34" charset="0"/>
              </a:rPr>
              <a:t>Para favorecer la Integración Curricular es fundamental conocer y analizar los Contenidos y los Procesos de Desarrollo de Aprendizaje (PDA) de los distintos Campos Formativos, con el fin de identificar vínculos entre ellos y reconocer cuáles pueden relacionarse con los Ejes Articuladores más pertinentes, de acuerdo con las características y necesidades del contexto.</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La Integración Curricular no consiste únicamente en “agrupar disciplinas” o relacionar Contenidos de manera superficial. Implica reflexionar sobre las oportunidades que ofrece el currículo para comprender y atender de mejor manera situaciones, problemáticas o asuntos relevantes que surgen en el aula, la escuela o la comunidad. En este sentido, resulta pertinente preguntarse: ¿qué Contenidos y PDA pueden articularse para favorecer una comprensión más amplia y una intervención más significativa en la realidad que viven las y los estudiantes?</a:t>
            </a:r>
          </a:p>
        </p:txBody>
      </p:sp>
      <p:pic>
        <p:nvPicPr>
          <p:cNvPr id="4" name="Imagen 3">
            <a:extLst>
              <a:ext uri="{FF2B5EF4-FFF2-40B4-BE49-F238E27FC236}">
                <a16:creationId xmlns:a16="http://schemas.microsoft.com/office/drawing/2014/main" id="{D19253D3-3715-1FE6-98A6-F3669FEA78C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FB80DAAE-3416-F5D6-4AC7-98AAD8DE79A7}"/>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293544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CA107E9-192D-420E-A537-2E19BCFD4F8A}"/>
              </a:ext>
            </a:extLst>
          </p:cNvPr>
          <p:cNvSpPr/>
          <p:nvPr/>
        </p:nvSpPr>
        <p:spPr>
          <a:xfrm>
            <a:off x="530943" y="1279671"/>
            <a:ext cx="11341509" cy="1938992"/>
          </a:xfrm>
          <a:prstGeom prst="rect">
            <a:avLst/>
          </a:prstGeom>
        </p:spPr>
        <p:txBody>
          <a:bodyPr wrap="square">
            <a:spAutoFit/>
          </a:bodyPr>
          <a:lstStyle/>
          <a:p>
            <a:pPr algn="just"/>
            <a:r>
              <a:rPr lang="es-MX" sz="2000" b="1" dirty="0">
                <a:latin typeface="Arial" panose="020B0604020202020204" pitchFamily="34" charset="0"/>
                <a:cs typeface="Arial" panose="020B0604020202020204" pitchFamily="34" charset="0"/>
              </a:rPr>
              <a:t>Para el acompañamiento a los colectivos </a:t>
            </a:r>
            <a:r>
              <a:rPr lang="es-MX" sz="2000" dirty="0">
                <a:latin typeface="Arial" panose="020B0604020202020204" pitchFamily="34" charset="0"/>
                <a:cs typeface="Arial" panose="020B0604020202020204" pitchFamily="34" charset="0"/>
              </a:rPr>
              <a:t>dialoguen sobre algunas acciones que pueden llevar a cabo para conocer a profundidad el Programa Sintético del grado o la asignatura que atiende cada docente. Si consideran que ya tienen un buen conocimiento de su Programa, entonces pueden proponer estrategias que permitan a las y los maestros encontrar relaciones entre Contenidos a partir de una situación o problemática que sea relevante para su contexto. Realicen ustedes un ejercicio, para posteriormente proponerlo a sus colectivos docentes.</a:t>
            </a:r>
          </a:p>
        </p:txBody>
      </p:sp>
      <p:pic>
        <p:nvPicPr>
          <p:cNvPr id="3074" name="Picture 2" descr="https://blogger.googleusercontent.com/img/b/R29vZ2xl/AVvXsEhkkWP1nCv75uXzeY_RIfPwNYuCepG2JvIdAGlNkxfNBwPLMh3onyInHvJFzTwSLc02XKIJqFBtUMA1hVmeNfnkwErl0DkSZgG8XBOFlk6RE0qNSQaTGYk6Zh7SJBoRTIQIjLe_qptS3s4TLGTpRE9KO5Ll1y2GHHpHT-aIbdc9BAhI90dfmWeu6RuOaHI/s16000/condiciones-cte-comunidad-aprendizaje-acompanamiento-directivo.jpg">
            <a:extLst>
              <a:ext uri="{FF2B5EF4-FFF2-40B4-BE49-F238E27FC236}">
                <a16:creationId xmlns:a16="http://schemas.microsoft.com/office/drawing/2014/main" id="{F6EF1A47-E2E1-4145-B152-5BFC6BCFE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0233" y="3397778"/>
            <a:ext cx="3894456" cy="259630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94852148-E330-C70F-3343-D11855D18A3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5F381C2A-43CC-2B6B-ED15-DE3389B3E687}"/>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617757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0FD3394-AA60-4D7F-AABC-58B31B1C9685}"/>
              </a:ext>
            </a:extLst>
          </p:cNvPr>
          <p:cNvPicPr>
            <a:picLocks noChangeAspect="1"/>
          </p:cNvPicPr>
          <p:nvPr/>
        </p:nvPicPr>
        <p:blipFill rotWithShape="1">
          <a:blip r:embed="rId2"/>
          <a:srcRect l="15117" t="46665" r="14921" b="12482"/>
          <a:stretch/>
        </p:blipFill>
        <p:spPr>
          <a:xfrm>
            <a:off x="592768" y="1276938"/>
            <a:ext cx="10479785" cy="4596753"/>
          </a:xfrm>
          <a:prstGeom prst="rect">
            <a:avLst/>
          </a:prstGeom>
        </p:spPr>
      </p:pic>
      <p:pic>
        <p:nvPicPr>
          <p:cNvPr id="4" name="Imagen 3">
            <a:extLst>
              <a:ext uri="{FF2B5EF4-FFF2-40B4-BE49-F238E27FC236}">
                <a16:creationId xmlns:a16="http://schemas.microsoft.com/office/drawing/2014/main" id="{1E6AD4B3-F971-E010-034B-AA36EFB6293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20074060-2411-50A6-8209-0A1F9E065419}"/>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306354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EAA1B47-EC9E-4E80-A777-ED907DCF983E}"/>
              </a:ext>
            </a:extLst>
          </p:cNvPr>
          <p:cNvSpPr/>
          <p:nvPr/>
        </p:nvSpPr>
        <p:spPr>
          <a:xfrm>
            <a:off x="522647" y="1540192"/>
            <a:ext cx="10858500" cy="4339650"/>
          </a:xfrm>
          <a:prstGeom prst="rect">
            <a:avLst/>
          </a:prstGeom>
        </p:spPr>
        <p:txBody>
          <a:bodyPr wrap="square">
            <a:spAutoFit/>
          </a:bodyPr>
          <a:lstStyle/>
          <a:p>
            <a:pPr algn="just"/>
            <a:r>
              <a:rPr lang="es-MX" sz="2400" b="1" dirty="0">
                <a:solidFill>
                  <a:srgbClr val="681B32"/>
                </a:solidFill>
                <a:latin typeface="Arial" panose="020B0604020202020204" pitchFamily="34" charset="0"/>
                <a:cs typeface="Arial" panose="020B0604020202020204" pitchFamily="34" charset="0"/>
              </a:rPr>
              <a:t>B. Acompañar la fase de planeación del Proceso de Mejora Continua</a:t>
            </a:r>
          </a:p>
          <a:p>
            <a:pPr algn="just"/>
            <a:r>
              <a:rPr lang="es-MX" dirty="0">
                <a:solidFill>
                  <a:srgbClr val="000000"/>
                </a:solidFill>
                <a:latin typeface="Arial" panose="020B0604020202020204" pitchFamily="34" charset="0"/>
                <a:cs typeface="Arial" panose="020B0604020202020204" pitchFamily="34" charset="0"/>
              </a:rPr>
              <a:t>El Programa de mejora continua, como concreción de la fase de planeación del Proceso de Mejora Continua, constituye una herramienta fundamental para orientar la acción educativa, por lo que su construcción debe ser resultado de un trabajo colectivo.</a:t>
            </a:r>
          </a:p>
          <a:p>
            <a:pPr algn="just"/>
            <a:endParaRPr lang="es-MX" dirty="0">
              <a:solidFill>
                <a:srgbClr val="000000"/>
              </a:solidFill>
              <a:latin typeface="Arial" panose="020B0604020202020204" pitchFamily="34" charset="0"/>
              <a:cs typeface="Arial" panose="020B0604020202020204" pitchFamily="34" charset="0"/>
            </a:endParaRPr>
          </a:p>
          <a:p>
            <a:pPr algn="just"/>
            <a:r>
              <a:rPr lang="es-MX" b="1" dirty="0">
                <a:solidFill>
                  <a:srgbClr val="C00000"/>
                </a:solidFill>
                <a:latin typeface="Arial" panose="020B0604020202020204" pitchFamily="34" charset="0"/>
                <a:cs typeface="Arial" panose="020B0604020202020204" pitchFamily="34" charset="0"/>
              </a:rPr>
              <a:t>El acompañamiento de la supervisión ha de centrarse en apoyar a los equipos directivos y a los colectivos docentes para que la planeación se convierta en un instrumento útil y pertinente que oriente la atención de las problemáticas que han decidido priorizar</a:t>
            </a:r>
            <a:r>
              <a:rPr lang="es-MX" dirty="0">
                <a:solidFill>
                  <a:srgbClr val="000000"/>
                </a:solidFill>
                <a:latin typeface="Arial" panose="020B0604020202020204" pitchFamily="34" charset="0"/>
                <a:cs typeface="Arial" panose="020B0604020202020204" pitchFamily="34" charset="0"/>
              </a:rPr>
              <a:t>. En este sentido, resulta conveniente que, en este momento, se compartan los avances en la elaboración de sus programas de mejora continua.</a:t>
            </a:r>
          </a:p>
          <a:p>
            <a:pPr algn="just"/>
            <a:endParaRPr lang="es-MX" dirty="0">
              <a:solidFill>
                <a:srgbClr val="000000"/>
              </a:solidFill>
              <a:latin typeface="Arial" panose="020B0604020202020204" pitchFamily="34" charset="0"/>
              <a:cs typeface="Arial" panose="020B0604020202020204" pitchFamily="34" charset="0"/>
            </a:endParaRPr>
          </a:p>
          <a:p>
            <a:pPr algn="just"/>
            <a:r>
              <a:rPr lang="es-MX" dirty="0">
                <a:solidFill>
                  <a:srgbClr val="000000"/>
                </a:solidFill>
                <a:latin typeface="Arial" panose="020B0604020202020204" pitchFamily="34" charset="0"/>
                <a:cs typeface="Arial" panose="020B0604020202020204" pitchFamily="34" charset="0"/>
              </a:rPr>
              <a:t>Por ejemplo, alguna directora o director puede presentar los avances de su Programa, exponer una de las problemáticas que el colectivo ha decidido atender, explicar por qué es relevante para la escuela y requiere intervención, señalar el objetivo que se busca alcanzar, las metas planteadas y las acciones previstas para lograrlo.</a:t>
            </a:r>
            <a:endParaRPr lang="es-MX"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8AA7FDF8-9706-5E26-D711-23C3B21867A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83877F3C-1D8B-0A2A-3456-CBE5607008CA}"/>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018439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D4B92-D6C7-A2A2-6BF6-83824F30FC2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2010A02-B3BB-4CC7-A3C0-8B898E172961}"/>
              </a:ext>
            </a:extLst>
          </p:cNvPr>
          <p:cNvSpPr/>
          <p:nvPr/>
        </p:nvSpPr>
        <p:spPr>
          <a:xfrm>
            <a:off x="661555" y="1119211"/>
            <a:ext cx="11341509" cy="2708434"/>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Este ejercicio puede propiciar el diálogo y la reflexión entre el personal directivo y de supervisión, no solo para socializar el trabajo realizado, sino también para analizar las decisiones tomadas y recibir aportaciones que contribuyan a fortalecer la coherencia entre las problemáticas identificadas, los objetivos, las metas y las acciones propuestas.</a:t>
            </a:r>
          </a:p>
          <a:p>
            <a:pPr algn="just"/>
            <a:endParaRPr lang="es-MX" dirty="0">
              <a:latin typeface="Arial" panose="020B0604020202020204" pitchFamily="34" charset="0"/>
              <a:cs typeface="Arial" panose="020B0604020202020204" pitchFamily="34" charset="0"/>
            </a:endParaRPr>
          </a:p>
          <a:p>
            <a:pPr algn="just"/>
            <a:r>
              <a:rPr lang="es-MX" sz="2000" dirty="0">
                <a:solidFill>
                  <a:schemeClr val="accent5">
                    <a:lumMod val="75000"/>
                  </a:schemeClr>
                </a:solidFill>
                <a:latin typeface="Arial" panose="020B0604020202020204" pitchFamily="34" charset="0"/>
                <a:cs typeface="Arial" panose="020B0604020202020204" pitchFamily="34" charset="0"/>
              </a:rPr>
              <a:t>La intención no es determinar si el Programa está bien o mal elaborado, sino promover una reflexión que permita valorar la pertinencia y congruencia de sus distintos componentes. En este sentido, al analizar algún Programa de mejora de las escuelas de la zona, se pueden plantear preguntas como las siguientes:</a:t>
            </a:r>
          </a:p>
        </p:txBody>
      </p:sp>
      <p:pic>
        <p:nvPicPr>
          <p:cNvPr id="1026" name="Picture 2" descr="https://static.vecteezy.com/system/resources/previews/047/492/162/non_2x/a-man-thinking-about-a-question-3d-photo-free-png.png">
            <a:extLst>
              <a:ext uri="{FF2B5EF4-FFF2-40B4-BE49-F238E27FC236}">
                <a16:creationId xmlns:a16="http://schemas.microsoft.com/office/drawing/2014/main" id="{A68FA3E2-E613-419F-B511-56ECA55892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6338" y="3585342"/>
            <a:ext cx="2900362" cy="2900362"/>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FD52419-65E1-41F4-9313-EECF02E741BC}"/>
              </a:ext>
            </a:extLst>
          </p:cNvPr>
          <p:cNvSpPr/>
          <p:nvPr/>
        </p:nvSpPr>
        <p:spPr>
          <a:xfrm>
            <a:off x="1062036" y="4011126"/>
            <a:ext cx="7734302" cy="2308324"/>
          </a:xfrm>
          <a:prstGeom prst="rect">
            <a:avLst/>
          </a:prstGeom>
          <a:ln w="57150">
            <a:solidFill>
              <a:srgbClr val="7030A0"/>
            </a:solidFill>
          </a:ln>
        </p:spPr>
        <p:txBody>
          <a:bodyPr wrap="square">
            <a:spAutoFit/>
          </a:bodyPr>
          <a:lstStyle/>
          <a:p>
            <a:pPr marL="342900" indent="-342900" algn="just">
              <a:buFont typeface="Arial" panose="020B0604020202020204" pitchFamily="34" charset="0"/>
              <a:buChar char="•"/>
            </a:pPr>
            <a:r>
              <a:rPr lang="es-MX" b="1" dirty="0">
                <a:latin typeface="Arial" panose="020B0604020202020204" pitchFamily="34" charset="0"/>
                <a:cs typeface="Arial" panose="020B0604020202020204" pitchFamily="34" charset="0"/>
              </a:rPr>
              <a:t>¿La problemática seleccionada es realmente relevante y prioritaria para la escuela?</a:t>
            </a:r>
          </a:p>
          <a:p>
            <a:pPr marL="342900" indent="-342900" algn="just">
              <a:buFont typeface="Arial" panose="020B0604020202020204" pitchFamily="34" charset="0"/>
              <a:buChar char="•"/>
            </a:pPr>
            <a:r>
              <a:rPr lang="es-MX" b="1" dirty="0">
                <a:latin typeface="Arial" panose="020B0604020202020204" pitchFamily="34" charset="0"/>
                <a:cs typeface="Arial" panose="020B0604020202020204" pitchFamily="34" charset="0"/>
              </a:rPr>
              <a:t>¿El objetivo expresa con claridad la transformación que se pretende lograr?</a:t>
            </a:r>
          </a:p>
          <a:p>
            <a:pPr marL="342900" indent="-342900" algn="just">
              <a:buFont typeface="Arial" panose="020B0604020202020204" pitchFamily="34" charset="0"/>
              <a:buChar char="•"/>
            </a:pPr>
            <a:r>
              <a:rPr lang="es-MX" b="1" dirty="0">
                <a:latin typeface="Arial" panose="020B0604020202020204" pitchFamily="34" charset="0"/>
                <a:cs typeface="Arial" panose="020B0604020202020204" pitchFamily="34" charset="0"/>
              </a:rPr>
              <a:t>¿Las metas permiten reconocer y valorar los avances alcanzados?</a:t>
            </a:r>
          </a:p>
          <a:p>
            <a:pPr marL="342900" indent="-342900" algn="just">
              <a:buFont typeface="Arial" panose="020B0604020202020204" pitchFamily="34" charset="0"/>
              <a:buChar char="•"/>
            </a:pPr>
            <a:r>
              <a:rPr lang="es-MX" b="1" dirty="0">
                <a:latin typeface="Arial" panose="020B0604020202020204" pitchFamily="34" charset="0"/>
                <a:cs typeface="Arial" panose="020B0604020202020204" pitchFamily="34" charset="0"/>
              </a:rPr>
              <a:t>¿Las acciones propuestas son pertinentes y suficientes para contribuir al logro de las metas y del objetivo planteado?</a:t>
            </a:r>
          </a:p>
        </p:txBody>
      </p:sp>
      <p:pic>
        <p:nvPicPr>
          <p:cNvPr id="5" name="Imagen 4">
            <a:extLst>
              <a:ext uri="{FF2B5EF4-FFF2-40B4-BE49-F238E27FC236}">
                <a16:creationId xmlns:a16="http://schemas.microsoft.com/office/drawing/2014/main" id="{C56A2703-861B-1699-7057-C2E8C1E4F0B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4690104" cy="78698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8253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79D1-10D3-3754-4831-1DB6427E6B20}"/>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4F54F592-EB84-4B31-B1D4-1CC90E9E5CAA}"/>
              </a:ext>
            </a:extLst>
          </p:cNvPr>
          <p:cNvPicPr>
            <a:picLocks noChangeAspect="1"/>
          </p:cNvPicPr>
          <p:nvPr/>
        </p:nvPicPr>
        <p:blipFill rotWithShape="1">
          <a:blip r:embed="rId2"/>
          <a:srcRect l="15352" t="29156" r="14922" b="37911"/>
          <a:stretch/>
        </p:blipFill>
        <p:spPr>
          <a:xfrm>
            <a:off x="715580" y="1393031"/>
            <a:ext cx="10760839" cy="4071938"/>
          </a:xfrm>
          <a:prstGeom prst="rect">
            <a:avLst/>
          </a:prstGeom>
        </p:spPr>
      </p:pic>
      <p:pic>
        <p:nvPicPr>
          <p:cNvPr id="4" name="Imagen 3">
            <a:extLst>
              <a:ext uri="{FF2B5EF4-FFF2-40B4-BE49-F238E27FC236}">
                <a16:creationId xmlns:a16="http://schemas.microsoft.com/office/drawing/2014/main" id="{3BA86D4D-3595-AE56-69C3-D5008097D61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AD1AB627-73A7-9103-F268-D8DFFE3D23EB}"/>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342697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8EDF-B0AB-8CF6-9DC5-E91A89C28EE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A8FA735-D2D8-4BEF-AE9B-3F92266D6AE2}"/>
              </a:ext>
            </a:extLst>
          </p:cNvPr>
          <p:cNvSpPr/>
          <p:nvPr/>
        </p:nvSpPr>
        <p:spPr>
          <a:xfrm>
            <a:off x="439994" y="1351508"/>
            <a:ext cx="11312012" cy="4154984"/>
          </a:xfrm>
          <a:prstGeom prst="rect">
            <a:avLst/>
          </a:prstGeom>
        </p:spPr>
        <p:txBody>
          <a:bodyPr wrap="square">
            <a:spAutoFit/>
          </a:bodyPr>
          <a:lstStyle/>
          <a:p>
            <a:pPr algn="ctr"/>
            <a:r>
              <a:rPr lang="es-MX" sz="2400" b="1" dirty="0">
                <a:solidFill>
                  <a:srgbClr val="1C5C4F"/>
                </a:solidFill>
                <a:latin typeface="Arial" panose="020B0604020202020204" pitchFamily="34" charset="0"/>
                <a:cs typeface="Arial" panose="020B0604020202020204" pitchFamily="34" charset="0"/>
              </a:rPr>
              <a:t>Acompañamiento a los colectivos docentes en la definición de su Itinerario del CTE para el ciclo escolar 2026-2027</a:t>
            </a:r>
          </a:p>
          <a:p>
            <a:endParaRPr lang="es-MX" sz="1600" dirty="0">
              <a:solidFill>
                <a:srgbClr val="000000"/>
              </a:solidFill>
              <a:latin typeface="Arial" panose="020B0604020202020204" pitchFamily="34" charset="0"/>
              <a:cs typeface="Arial" panose="020B0604020202020204" pitchFamily="34" charset="0"/>
            </a:endParaRPr>
          </a:p>
          <a:p>
            <a:pPr algn="just"/>
            <a:r>
              <a:rPr lang="es-MX" sz="2000" b="1" dirty="0">
                <a:solidFill>
                  <a:srgbClr val="000000"/>
                </a:solidFill>
                <a:latin typeface="Arial" panose="020B0604020202020204" pitchFamily="34" charset="0"/>
                <a:cs typeface="Arial" panose="020B0604020202020204" pitchFamily="34" charset="0"/>
              </a:rPr>
              <a:t>La construcción del Itinerario del Consejo Técnico Escolar constituye una oportunidad para ejercer la autonomía profesional docente</a:t>
            </a:r>
            <a:r>
              <a:rPr lang="es-MX" sz="2000" dirty="0">
                <a:solidFill>
                  <a:srgbClr val="000000"/>
                </a:solidFill>
                <a:latin typeface="Arial" panose="020B0604020202020204" pitchFamily="34" charset="0"/>
                <a:cs typeface="Arial" panose="020B0604020202020204" pitchFamily="34" charset="0"/>
              </a:rPr>
              <a:t>. Esta autonomía implica que maestras y maestros, a partir de su conocimiento de la escuela, de las características de sus estudiantes y de la comunidad, así como de los desafíos que enfrentan en su práctica, participen en la toma de decisiones sobre los asuntos pedagógicos que requieren analizar, aprender o profundizar.</a:t>
            </a:r>
          </a:p>
          <a:p>
            <a:pPr algn="just"/>
            <a:endParaRPr lang="es-MX" sz="2000" dirty="0">
              <a:solidFill>
                <a:srgbClr val="000000"/>
              </a:solidFill>
              <a:latin typeface="Arial" panose="020B0604020202020204" pitchFamily="34" charset="0"/>
              <a:cs typeface="Arial" panose="020B0604020202020204" pitchFamily="34" charset="0"/>
            </a:endParaRPr>
          </a:p>
          <a:p>
            <a:pPr algn="just"/>
            <a:r>
              <a:rPr lang="es-MX" sz="2000" dirty="0">
                <a:solidFill>
                  <a:srgbClr val="000000"/>
                </a:solidFill>
                <a:latin typeface="Arial" panose="020B0604020202020204" pitchFamily="34" charset="0"/>
                <a:cs typeface="Arial" panose="020B0604020202020204" pitchFamily="34" charset="0"/>
              </a:rPr>
              <a:t>En este sentido, </a:t>
            </a:r>
            <a:r>
              <a:rPr lang="es-MX" sz="2000" b="1" dirty="0">
                <a:solidFill>
                  <a:srgbClr val="C00000"/>
                </a:solidFill>
                <a:latin typeface="Arial" panose="020B0604020202020204" pitchFamily="34" charset="0"/>
                <a:cs typeface="Arial" panose="020B0604020202020204" pitchFamily="34" charset="0"/>
              </a:rPr>
              <a:t>definir el Itinerario no significa únicamente elegir temas para las sesiones del CTE. Implica que el colectivo delibere, establezca prioridades, argumente sus decisiones y determine el camino que considera pertinente para fortalecer sus prácticas y avanzar hacia un horizonte de mejora compartido</a:t>
            </a:r>
            <a:r>
              <a:rPr lang="es-MX" sz="2000" dirty="0">
                <a:solidFill>
                  <a:srgbClr val="000000"/>
                </a:solidFill>
                <a:latin typeface="Arial" panose="020B0604020202020204" pitchFamily="34" charset="0"/>
                <a:cs typeface="Arial" panose="020B0604020202020204" pitchFamily="34" charset="0"/>
              </a:rPr>
              <a:t>.</a:t>
            </a:r>
            <a:endParaRPr lang="es-MX" sz="200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155AFD04-1E46-7294-C3CA-92BA9C9272F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9645277A-7724-B105-050B-0412DEEEC29D}"/>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978974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C1159DD-BA13-421B-9871-AFFA57FB1AD2}"/>
              </a:ext>
            </a:extLst>
          </p:cNvPr>
          <p:cNvSpPr/>
          <p:nvPr/>
        </p:nvSpPr>
        <p:spPr>
          <a:xfrm>
            <a:off x="931069" y="1352826"/>
            <a:ext cx="10329862" cy="1631216"/>
          </a:xfrm>
          <a:prstGeom prst="rect">
            <a:avLst/>
          </a:prstGeom>
        </p:spPr>
        <p:txBody>
          <a:bodyPr wrap="square">
            <a:spAutoFit/>
          </a:bodyPr>
          <a:lstStyle/>
          <a:p>
            <a:pPr algn="just"/>
            <a:r>
              <a:rPr lang="es-MX" sz="2000" b="1" dirty="0">
                <a:solidFill>
                  <a:srgbClr val="C00000"/>
                </a:solidFill>
                <a:latin typeface="Arial" panose="020B0604020202020204" pitchFamily="34" charset="0"/>
                <a:cs typeface="Arial" panose="020B0604020202020204" pitchFamily="34" charset="0"/>
              </a:rPr>
              <a:t>Los temas propuestos por la SEP, constituyen referentes que pueden ser valorados por cada colectivo</a:t>
            </a:r>
            <a:r>
              <a:rPr lang="es-MX" sz="2000" dirty="0">
                <a:latin typeface="Arial" panose="020B0604020202020204" pitchFamily="34" charset="0"/>
                <a:cs typeface="Arial" panose="020B0604020202020204" pitchFamily="34" charset="0"/>
              </a:rPr>
              <a:t>, junto con otros asuntos que consideren relevantes. Corresponde a las maestras y los maestros, desde su autonomía profesional, decidir cuáles abordar, en qué momento, con qué profundidad y qué relaciones establecer entre ellos, de acuerdo con su contexto y sus necesidades.</a:t>
            </a:r>
          </a:p>
        </p:txBody>
      </p:sp>
      <p:sp>
        <p:nvSpPr>
          <p:cNvPr id="3" name="Rectángulo 2">
            <a:extLst>
              <a:ext uri="{FF2B5EF4-FFF2-40B4-BE49-F238E27FC236}">
                <a16:creationId xmlns:a16="http://schemas.microsoft.com/office/drawing/2014/main" id="{726D688F-8F1B-4A65-9087-90D3D0FE8E99}"/>
              </a:ext>
            </a:extLst>
          </p:cNvPr>
          <p:cNvSpPr/>
          <p:nvPr/>
        </p:nvSpPr>
        <p:spPr>
          <a:xfrm>
            <a:off x="1141502" y="3153389"/>
            <a:ext cx="9908996" cy="1881990"/>
          </a:xfrm>
          <a:prstGeom prst="rect">
            <a:avLst/>
          </a:prstGeom>
          <a:ln w="38100">
            <a:solidFill>
              <a:srgbClr val="0070C0"/>
            </a:solidFill>
          </a:ln>
        </p:spPr>
        <p:txBody>
          <a:bodyPr wrap="square">
            <a:spAutoFit/>
          </a:bodyPr>
          <a:lstStyle/>
          <a:p>
            <a:pPr algn="just">
              <a:lnSpc>
                <a:spcPct val="150000"/>
              </a:lnSpc>
            </a:pPr>
            <a:r>
              <a:rPr lang="es-MX" sz="2000" b="1" dirty="0">
                <a:latin typeface="Arial" panose="020B0604020202020204" pitchFamily="34" charset="0"/>
                <a:cs typeface="Arial" panose="020B0604020202020204" pitchFamily="34" charset="0"/>
              </a:rPr>
              <a:t>El acompañamiento de la supervisión y los directivos cobra especial relevancia en este proceso, no para definir el Itinerario que deben seguir los colectivos, sino para generar condiciones que favorezcan el diálogo, la reflexión y la toma de decisiones fundamentadas en los colectivos escolares.</a:t>
            </a:r>
          </a:p>
        </p:txBody>
      </p:sp>
      <p:pic>
        <p:nvPicPr>
          <p:cNvPr id="5" name="Imagen 4">
            <a:extLst>
              <a:ext uri="{FF2B5EF4-FFF2-40B4-BE49-F238E27FC236}">
                <a16:creationId xmlns:a16="http://schemas.microsoft.com/office/drawing/2014/main" id="{6E2C000B-6803-95A6-3E1F-F5BCB80D17D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81EDC468-D1DA-F191-D458-9BDAC3F92544}"/>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649015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C399861-3717-46DD-BFF1-E8943880E5E6}"/>
              </a:ext>
            </a:extLst>
          </p:cNvPr>
          <p:cNvPicPr>
            <a:picLocks noChangeAspect="1"/>
          </p:cNvPicPr>
          <p:nvPr/>
        </p:nvPicPr>
        <p:blipFill rotWithShape="1">
          <a:blip r:embed="rId2"/>
          <a:srcRect l="14648" t="30199" r="10938" b="23320"/>
          <a:stretch/>
        </p:blipFill>
        <p:spPr>
          <a:xfrm>
            <a:off x="943896" y="1179729"/>
            <a:ext cx="9888229" cy="4498542"/>
          </a:xfrm>
          <a:prstGeom prst="rect">
            <a:avLst/>
          </a:prstGeom>
        </p:spPr>
      </p:pic>
      <p:pic>
        <p:nvPicPr>
          <p:cNvPr id="4" name="Imagen 3">
            <a:extLst>
              <a:ext uri="{FF2B5EF4-FFF2-40B4-BE49-F238E27FC236}">
                <a16:creationId xmlns:a16="http://schemas.microsoft.com/office/drawing/2014/main" id="{AF81973D-8283-D150-AE64-75FE357D68D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0A7553A2-975B-F0FA-5F3B-ECB715D2771A}"/>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402926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45">
            <a:extLst>
              <a:ext uri="{FF2B5EF4-FFF2-40B4-BE49-F238E27FC236}">
                <a16:creationId xmlns:a16="http://schemas.microsoft.com/office/drawing/2014/main" id="{79481457-0559-A607-7629-AD0724187745}"/>
              </a:ext>
            </a:extLst>
          </p:cNvPr>
          <p:cNvGrpSpPr>
            <a:grpSpLocks/>
          </p:cNvGrpSpPr>
          <p:nvPr/>
        </p:nvGrpSpPr>
        <p:grpSpPr>
          <a:xfrm>
            <a:off x="9080971" y="8296910"/>
            <a:ext cx="538480" cy="532130"/>
            <a:chOff x="0" y="0"/>
            <a:chExt cx="538480" cy="532130"/>
          </a:xfrm>
        </p:grpSpPr>
        <p:pic>
          <p:nvPicPr>
            <p:cNvPr id="26" name="Image 46">
              <a:extLst>
                <a:ext uri="{FF2B5EF4-FFF2-40B4-BE49-F238E27FC236}">
                  <a16:creationId xmlns:a16="http://schemas.microsoft.com/office/drawing/2014/main" id="{31580D16-FADF-72B2-510F-D970175A5D17}"/>
                </a:ext>
              </a:extLst>
            </p:cNvPr>
            <p:cNvPicPr/>
            <p:nvPr/>
          </p:nvPicPr>
          <p:blipFill>
            <a:blip r:embed="rId2" cstate="print"/>
            <a:stretch>
              <a:fillRect/>
            </a:stretch>
          </p:blipFill>
          <p:spPr>
            <a:xfrm>
              <a:off x="0" y="0"/>
              <a:ext cx="537852" cy="531913"/>
            </a:xfrm>
            <a:prstGeom prst="rect">
              <a:avLst/>
            </a:prstGeom>
          </p:spPr>
        </p:pic>
        <p:sp>
          <p:nvSpPr>
            <p:cNvPr id="27" name="Textbox 47">
              <a:extLst>
                <a:ext uri="{FF2B5EF4-FFF2-40B4-BE49-F238E27FC236}">
                  <a16:creationId xmlns:a16="http://schemas.microsoft.com/office/drawing/2014/main" id="{403B6B48-508D-EFFC-D36D-47CB50B5A470}"/>
                </a:ext>
              </a:extLst>
            </p:cNvPr>
            <p:cNvSpPr txBox="1"/>
            <p:nvPr/>
          </p:nvSpPr>
          <p:spPr>
            <a:xfrm>
              <a:off x="0" y="0"/>
              <a:ext cx="538480" cy="532130"/>
            </a:xfrm>
            <a:prstGeom prst="rect">
              <a:avLst/>
            </a:prstGeom>
          </p:spPr>
          <p:txBody>
            <a:bodyPr wrap="square" lIns="0" tIns="0" rIns="0" bIns="0" rtlCol="0">
              <a:noAutofit/>
            </a:bodyPr>
            <a:lstStyle/>
            <a:p>
              <a:pPr marL="139065">
                <a:spcBef>
                  <a:spcPts val="670"/>
                </a:spcBef>
                <a:buNone/>
              </a:pPr>
              <a:r>
                <a:rPr lang="es-ES" sz="1100" b="1" spc="-50">
                  <a:solidFill>
                    <a:srgbClr val="AE8219"/>
                  </a:solidFill>
                  <a:effectLst/>
                  <a:latin typeface="Tahoma" panose="020B0604030504040204" pitchFamily="34" charset="0"/>
                  <a:ea typeface="Arial MT"/>
                  <a:cs typeface="Arial MT"/>
                </a:rPr>
                <a:t>3</a:t>
              </a:r>
              <a:endParaRPr lang="es-MX" sz="1100">
                <a:effectLst/>
                <a:latin typeface="Arial MT"/>
                <a:ea typeface="Arial MT"/>
                <a:cs typeface="Arial MT"/>
              </a:endParaRPr>
            </a:p>
          </p:txBody>
        </p:sp>
      </p:grpSp>
      <p:sp>
        <p:nvSpPr>
          <p:cNvPr id="31" name="Rectangle 24">
            <a:extLst>
              <a:ext uri="{FF2B5EF4-FFF2-40B4-BE49-F238E27FC236}">
                <a16:creationId xmlns:a16="http://schemas.microsoft.com/office/drawing/2014/main" id="{8A61A76B-EE06-3C1D-083C-C9CE5320DCC3}"/>
              </a:ext>
            </a:extLst>
          </p:cNvPr>
          <p:cNvSpPr>
            <a:spLocks noChangeArrowheads="1"/>
          </p:cNvSpPr>
          <p:nvPr/>
        </p:nvSpPr>
        <p:spPr bwMode="auto">
          <a:xfrm>
            <a:off x="2101686"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
        <p:nvSpPr>
          <p:cNvPr id="3" name="Rectángulo 2">
            <a:extLst>
              <a:ext uri="{FF2B5EF4-FFF2-40B4-BE49-F238E27FC236}">
                <a16:creationId xmlns:a16="http://schemas.microsoft.com/office/drawing/2014/main" id="{6B47140D-07FD-4E93-9CBE-E33EB35E167E}"/>
              </a:ext>
            </a:extLst>
          </p:cNvPr>
          <p:cNvSpPr/>
          <p:nvPr/>
        </p:nvSpPr>
        <p:spPr>
          <a:xfrm>
            <a:off x="969168" y="1111803"/>
            <a:ext cx="10253663" cy="1015663"/>
          </a:xfrm>
          <a:prstGeom prst="rect">
            <a:avLst/>
          </a:prstGeom>
        </p:spPr>
        <p:txBody>
          <a:bodyPr wrap="square">
            <a:spAutoFit/>
          </a:bodyPr>
          <a:lstStyle/>
          <a:p>
            <a:pPr algn="just"/>
            <a:r>
              <a:rPr lang="es-MX" sz="2000" dirty="0">
                <a:latin typeface="Arial" panose="020B0604020202020204" pitchFamily="34" charset="0"/>
                <a:cs typeface="Arial" panose="020B0604020202020204" pitchFamily="34" charset="0"/>
              </a:rPr>
              <a:t>A partir de lo que compartan pueden proponer algunas estrategias para que los colectivos realicen este ejercicio con compromiso, conocimiento y que atienda a sus necesidades.</a:t>
            </a:r>
          </a:p>
        </p:txBody>
      </p:sp>
      <p:pic>
        <p:nvPicPr>
          <p:cNvPr id="4" name="Imagen 3">
            <a:extLst>
              <a:ext uri="{FF2B5EF4-FFF2-40B4-BE49-F238E27FC236}">
                <a16:creationId xmlns:a16="http://schemas.microsoft.com/office/drawing/2014/main" id="{148CB9EB-91E5-4B14-8816-14B37B361FD0}"/>
              </a:ext>
            </a:extLst>
          </p:cNvPr>
          <p:cNvPicPr>
            <a:picLocks noChangeAspect="1"/>
          </p:cNvPicPr>
          <p:nvPr/>
        </p:nvPicPr>
        <p:blipFill rotWithShape="1">
          <a:blip r:embed="rId3"/>
          <a:srcRect l="18514" t="43747" r="11759" b="37911"/>
          <a:stretch/>
        </p:blipFill>
        <p:spPr>
          <a:xfrm>
            <a:off x="529515" y="2479051"/>
            <a:ext cx="11132970" cy="2421557"/>
          </a:xfrm>
          <a:prstGeom prst="rect">
            <a:avLst/>
          </a:prstGeom>
        </p:spPr>
      </p:pic>
      <p:pic>
        <p:nvPicPr>
          <p:cNvPr id="5" name="Imagen 4">
            <a:extLst>
              <a:ext uri="{FF2B5EF4-FFF2-40B4-BE49-F238E27FC236}">
                <a16:creationId xmlns:a16="http://schemas.microsoft.com/office/drawing/2014/main" id="{B0206A26-B550-87AC-3760-A188B38CD3E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DD3A4132-BEB1-00B3-79C7-6C554D907FD9}"/>
              </a:ext>
            </a:extLst>
          </p:cNvPr>
          <p:cNvPicPr>
            <a:picLocks noChangeAspect="1"/>
          </p:cNvPicPr>
          <p:nvPr/>
        </p:nvPicPr>
        <p:blipFill>
          <a:blip r:embed="rId6">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47550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magen que contiene Texto&#10;&#10;El contenido generado por IA puede ser incorrecto.">
            <a:extLst>
              <a:ext uri="{FF2B5EF4-FFF2-40B4-BE49-F238E27FC236}">
                <a16:creationId xmlns:a16="http://schemas.microsoft.com/office/drawing/2014/main" id="{AEE80EA5-A3DD-6AEC-396C-CE4BB11C8DF1}"/>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3" name="Imagen 2">
            <a:extLst>
              <a:ext uri="{FF2B5EF4-FFF2-40B4-BE49-F238E27FC236}">
                <a16:creationId xmlns:a16="http://schemas.microsoft.com/office/drawing/2014/main" id="{35A37A9B-B4D0-4219-9112-74414A19A368}"/>
              </a:ext>
            </a:extLst>
          </p:cNvPr>
          <p:cNvPicPr>
            <a:picLocks noChangeAspect="1"/>
          </p:cNvPicPr>
          <p:nvPr/>
        </p:nvPicPr>
        <p:blipFill rotWithShape="1">
          <a:blip r:embed="rId3"/>
          <a:srcRect l="25547" t="24779" r="30508" b="14149"/>
          <a:stretch/>
        </p:blipFill>
        <p:spPr>
          <a:xfrm>
            <a:off x="2866189" y="1100556"/>
            <a:ext cx="6459621" cy="5047114"/>
          </a:xfrm>
          <a:prstGeom prst="rect">
            <a:avLst/>
          </a:prstGeom>
        </p:spPr>
      </p:pic>
      <p:pic>
        <p:nvPicPr>
          <p:cNvPr id="4" name="Imagen 3">
            <a:extLst>
              <a:ext uri="{FF2B5EF4-FFF2-40B4-BE49-F238E27FC236}">
                <a16:creationId xmlns:a16="http://schemas.microsoft.com/office/drawing/2014/main" id="{CE985237-E40C-6832-7E50-3489516CF82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1891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16FF674-9665-4918-AE7D-BB9AE1F667ED}"/>
              </a:ext>
            </a:extLst>
          </p:cNvPr>
          <p:cNvPicPr>
            <a:picLocks noChangeAspect="1"/>
          </p:cNvPicPr>
          <p:nvPr/>
        </p:nvPicPr>
        <p:blipFill rotWithShape="1">
          <a:blip r:embed="rId2"/>
          <a:srcRect l="16406" t="25821" r="23243" b="61672"/>
          <a:stretch/>
        </p:blipFill>
        <p:spPr>
          <a:xfrm>
            <a:off x="478971" y="961521"/>
            <a:ext cx="8252001" cy="961398"/>
          </a:xfrm>
          <a:prstGeom prst="rect">
            <a:avLst/>
          </a:prstGeom>
        </p:spPr>
      </p:pic>
      <p:sp>
        <p:nvSpPr>
          <p:cNvPr id="4" name="Rectángulo 3">
            <a:extLst>
              <a:ext uri="{FF2B5EF4-FFF2-40B4-BE49-F238E27FC236}">
                <a16:creationId xmlns:a16="http://schemas.microsoft.com/office/drawing/2014/main" id="{797A56A6-8F73-45B3-8E41-C826AC85F44A}"/>
              </a:ext>
            </a:extLst>
          </p:cNvPr>
          <p:cNvSpPr/>
          <p:nvPr/>
        </p:nvSpPr>
        <p:spPr>
          <a:xfrm>
            <a:off x="776287" y="1922919"/>
            <a:ext cx="10639425" cy="4093428"/>
          </a:xfrm>
          <a:prstGeom prst="rect">
            <a:avLst/>
          </a:prstGeom>
        </p:spPr>
        <p:txBody>
          <a:bodyPr wrap="square">
            <a:spAutoFit/>
          </a:bodyPr>
          <a:lstStyle/>
          <a:p>
            <a:pPr algn="just"/>
            <a:r>
              <a:rPr lang="es-MX" sz="2000" b="1" dirty="0">
                <a:latin typeface="Arial" panose="020B0604020202020204" pitchFamily="34" charset="0"/>
                <a:cs typeface="Arial" panose="020B0604020202020204" pitchFamily="34" charset="0"/>
              </a:rPr>
              <a:t>Durante la Fase Intensiva del Consejo Técnico Escolar (CTE), las y los integrantes del colectivo docente dialogaron, analizaron y acordaron la organización y la planeación de diversas acciones orientadas a la puesta en marcha del ciclo escolar 2026-2027.</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Cada una de estas acciones es fundamental para </a:t>
            </a:r>
            <a:r>
              <a:rPr lang="es-MX" sz="2000" b="1" dirty="0">
                <a:solidFill>
                  <a:srgbClr val="C00000"/>
                </a:solidFill>
                <a:latin typeface="Arial" panose="020B0604020202020204" pitchFamily="34" charset="0"/>
                <a:cs typeface="Arial" panose="020B0604020202020204" pitchFamily="34" charset="0"/>
              </a:rPr>
              <a:t>generar las mejores condiciones que permitan a niñas, niños y adolescentes desarrollar los aprendizajes, habilidades, capacidades y saberes</a:t>
            </a:r>
            <a:r>
              <a:rPr lang="es-MX" sz="2000" dirty="0">
                <a:latin typeface="Arial" panose="020B0604020202020204" pitchFamily="34" charset="0"/>
                <a:cs typeface="Arial" panose="020B0604020202020204" pitchFamily="34" charset="0"/>
              </a:rPr>
              <a:t> que corresponden a cada nivel educativo.</a:t>
            </a:r>
          </a:p>
          <a:p>
            <a:pPr algn="just"/>
            <a:r>
              <a:rPr lang="es-MX" sz="2000" dirty="0">
                <a:latin typeface="Arial" panose="020B0604020202020204" pitchFamily="34" charset="0"/>
                <a:cs typeface="Arial" panose="020B0604020202020204" pitchFamily="34" charset="0"/>
              </a:rPr>
              <a:t>Los aspectos abordados, consensuados y planificados son de diversa naturaleza; sin embargo, todos convergen en un propósito común: </a:t>
            </a:r>
            <a:r>
              <a:rPr lang="es-MX" sz="2000" b="1" dirty="0">
                <a:solidFill>
                  <a:srgbClr val="C00000"/>
                </a:solidFill>
                <a:latin typeface="Arial" panose="020B0604020202020204" pitchFamily="34" charset="0"/>
                <a:cs typeface="Arial" panose="020B0604020202020204" pitchFamily="34" charset="0"/>
              </a:rPr>
              <a:t>favorecer el máximo logro de los aprendizajes de las y los estudiantes</a:t>
            </a:r>
            <a:r>
              <a:rPr lang="es-MX" sz="2000" dirty="0">
                <a:latin typeface="Arial" panose="020B0604020202020204" pitchFamily="34" charset="0"/>
                <a:cs typeface="Arial" panose="020B0604020202020204" pitchFamily="34" charset="0"/>
              </a:rPr>
              <a:t>. Para ello, se requiere de profesionales de la educación que, desde sus conocimientos, experiencias y saberes, sean capaces de articular y armonizar las múltiples dimensiones que atraviesan la vida escolar, con el fin de fortalecer los procesos formativos de niñas, niños y adolescentes.</a:t>
            </a:r>
          </a:p>
        </p:txBody>
      </p:sp>
      <p:pic>
        <p:nvPicPr>
          <p:cNvPr id="5" name="Imagen 4">
            <a:extLst>
              <a:ext uri="{FF2B5EF4-FFF2-40B4-BE49-F238E27FC236}">
                <a16:creationId xmlns:a16="http://schemas.microsoft.com/office/drawing/2014/main" id="{E6BD2F44-D695-09B4-FA79-D25AAD712E8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850A4602-AF7D-AB58-FCFD-E472E860EA34}"/>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520981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7E4AB58-F54B-451F-8EA8-476458AFED63}"/>
              </a:ext>
            </a:extLst>
          </p:cNvPr>
          <p:cNvSpPr/>
          <p:nvPr/>
        </p:nvSpPr>
        <p:spPr>
          <a:xfrm>
            <a:off x="802368" y="1843950"/>
            <a:ext cx="10267950" cy="3170099"/>
          </a:xfrm>
          <a:prstGeom prst="rect">
            <a:avLst/>
          </a:prstGeom>
        </p:spPr>
        <p:txBody>
          <a:bodyPr wrap="square">
            <a:spAutoFit/>
          </a:bodyPr>
          <a:lstStyle/>
          <a:p>
            <a:pPr algn="just"/>
            <a:r>
              <a:rPr lang="es-MX" sz="2000" b="1" dirty="0">
                <a:latin typeface="Arial" panose="020B0604020202020204" pitchFamily="34" charset="0"/>
                <a:cs typeface="Arial" panose="020B0604020202020204" pitchFamily="34" charset="0"/>
              </a:rPr>
              <a:t>Es en cada escuela y servicio educativo donde la política educativa de nuestro país cobra sentido y se hace realidad</a:t>
            </a:r>
            <a:r>
              <a:rPr lang="es-MX" sz="2000" dirty="0">
                <a:latin typeface="Arial" panose="020B0604020202020204" pitchFamily="34" charset="0"/>
                <a:cs typeface="Arial" panose="020B0604020202020204" pitchFamily="34" charset="0"/>
              </a:rPr>
              <a:t>. En ese espacio, maestras, maestros, agentes educativos, directoras y directores son las y los profesionales que, a partir del Plan de Estudio 2022 y de los Programas Sintéticos, construyen el Programa Analítico que orienta el trabajo educativo de sus comunidades escolares.</a:t>
            </a:r>
          </a:p>
          <a:p>
            <a:pPr algn="just"/>
            <a:endParaRPr lang="es-MX" sz="2000" dirty="0">
              <a:latin typeface="Arial" panose="020B0604020202020204" pitchFamily="34" charset="0"/>
              <a:cs typeface="Arial" panose="020B0604020202020204" pitchFamily="34" charset="0"/>
            </a:endParaRPr>
          </a:p>
          <a:p>
            <a:pPr algn="just"/>
            <a:r>
              <a:rPr lang="es-MX" sz="2000" dirty="0">
                <a:latin typeface="Arial" panose="020B0604020202020204" pitchFamily="34" charset="0"/>
                <a:cs typeface="Arial" panose="020B0604020202020204" pitchFamily="34" charset="0"/>
              </a:rPr>
              <a:t>Esta Primera Sesión Ordinaria del CTE constituye una oportunidad para revisar, ajustar y fortalecer el trabajo de codiseño realizado durante la Fase Intensiva, así como para afinar el Programa de mejora continua, de manera que sus acciones contribuyan a la formación y el desarrollo integral de las y los estudiantes.</a:t>
            </a:r>
          </a:p>
        </p:txBody>
      </p:sp>
      <p:pic>
        <p:nvPicPr>
          <p:cNvPr id="4" name="Imagen 3">
            <a:extLst>
              <a:ext uri="{FF2B5EF4-FFF2-40B4-BE49-F238E27FC236}">
                <a16:creationId xmlns:a16="http://schemas.microsoft.com/office/drawing/2014/main" id="{CE696189-D491-FFF1-28FD-77B668C61E6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C167A9FA-2D67-128A-2305-025267DFC43B}"/>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913430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59A91-BA59-A77E-0342-66CC247E41F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C40A540-4FA0-4010-A0A4-10D8B3CBB5EC}"/>
              </a:ext>
            </a:extLst>
          </p:cNvPr>
          <p:cNvSpPr/>
          <p:nvPr/>
        </p:nvSpPr>
        <p:spPr>
          <a:xfrm>
            <a:off x="752475" y="1119617"/>
            <a:ext cx="10687050" cy="4308872"/>
          </a:xfrm>
          <a:prstGeom prst="rect">
            <a:avLst/>
          </a:prstGeom>
        </p:spPr>
        <p:txBody>
          <a:bodyPr wrap="square">
            <a:spAutoFit/>
          </a:bodyPr>
          <a:lstStyle/>
          <a:p>
            <a:pPr algn="just"/>
            <a:r>
              <a:rPr lang="es-MX" dirty="0">
                <a:solidFill>
                  <a:srgbClr val="000000"/>
                </a:solidFill>
                <a:latin typeface="Arial" panose="020B0604020202020204" pitchFamily="34" charset="0"/>
                <a:cs typeface="Arial" panose="020B0604020202020204" pitchFamily="34" charset="0"/>
              </a:rPr>
              <a:t>El CTE es un espacio de diálogo profesional donde el colectivo docente comparte conocimientos, saberes y experiencias en torno a las situaciones, problemáticas y desafíos que surgen en la práctica educativa. En este intercambio es posible aprender de las experiencias compartidas y de los acuerdos construidos colectivamente. Asimismo, al reflexionar sobre la práctica y vincular los conocimientos adquiridos en la formación inicial con los retos cotidianos de la enseñanza, se genera conocimiento práctico, indispensable para construir una pedagogía situada y pertinente a las características y necesidades de cada territorio.</a:t>
            </a:r>
          </a:p>
          <a:p>
            <a:pPr algn="just"/>
            <a:endParaRPr lang="es-MX" dirty="0">
              <a:solidFill>
                <a:srgbClr val="000000"/>
              </a:solidFill>
              <a:latin typeface="Arial" panose="020B0604020202020204" pitchFamily="34" charset="0"/>
              <a:cs typeface="Arial" panose="020B0604020202020204" pitchFamily="34" charset="0"/>
            </a:endParaRPr>
          </a:p>
          <a:p>
            <a:pPr algn="just"/>
            <a:r>
              <a:rPr lang="es-MX" b="1" dirty="0">
                <a:solidFill>
                  <a:srgbClr val="C00000"/>
                </a:solidFill>
                <a:latin typeface="Arial" panose="020B0604020202020204" pitchFamily="34" charset="0"/>
                <a:cs typeface="Arial" panose="020B0604020202020204" pitchFamily="34" charset="0"/>
              </a:rPr>
              <a:t>La Secretaría de Educación Pública les convoca a seguir consolidando cada Consejo Técnico Escolar como una auténtica Comunidad de Aprendizaje, en la que, mediante procesos de formación situada, se fortalezcan las capacidades profesionales de todas y todos los integrantes del colectivo docente, en beneficio de los aprendizajes y el bienestar de sus estudiantes.</a:t>
            </a:r>
          </a:p>
          <a:p>
            <a:pPr algn="just"/>
            <a:endParaRPr lang="es-MX" dirty="0">
              <a:solidFill>
                <a:srgbClr val="000000"/>
              </a:solidFill>
              <a:latin typeface="Arial" panose="020B0604020202020204" pitchFamily="34" charset="0"/>
              <a:cs typeface="Arial" panose="020B0604020202020204" pitchFamily="34" charset="0"/>
            </a:endParaRPr>
          </a:p>
          <a:p>
            <a:pPr algn="ctr"/>
            <a:r>
              <a:rPr lang="es-MX" sz="2000" b="1" dirty="0">
                <a:solidFill>
                  <a:srgbClr val="AE8219"/>
                </a:solidFill>
                <a:latin typeface="Arial" panose="020B0604020202020204" pitchFamily="34" charset="0"/>
                <a:cs typeface="Arial" panose="020B0604020202020204" pitchFamily="34" charset="0"/>
              </a:rPr>
              <a:t>¡Educación para la transformación!</a:t>
            </a:r>
            <a:endParaRPr lang="es-MX" sz="2000"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C259FFF0-5D73-1428-1886-D4439F386D9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A82CB7BD-FF24-7BDE-67D2-CC683DD2AE46}"/>
              </a:ext>
            </a:extLst>
          </p:cNvPr>
          <p:cNvPicPr>
            <a:picLocks noChangeAspect="1"/>
          </p:cNvPicPr>
          <p:nvPr/>
        </p:nvPicPr>
        <p:blipFill>
          <a:blip r:embed="rId4">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787686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224B93F-5B4E-4AEA-995C-4E039A7F7E94}"/>
              </a:ext>
            </a:extLst>
          </p:cNvPr>
          <p:cNvPicPr>
            <a:picLocks noChangeAspect="1"/>
          </p:cNvPicPr>
          <p:nvPr/>
        </p:nvPicPr>
        <p:blipFill rotWithShape="1">
          <a:blip r:embed="rId2"/>
          <a:srcRect l="14883" t="19360" r="23945" b="65007"/>
          <a:stretch/>
        </p:blipFill>
        <p:spPr>
          <a:xfrm>
            <a:off x="669728" y="1008050"/>
            <a:ext cx="8742846" cy="1256156"/>
          </a:xfrm>
          <a:prstGeom prst="rect">
            <a:avLst/>
          </a:prstGeom>
        </p:spPr>
      </p:pic>
      <p:pic>
        <p:nvPicPr>
          <p:cNvPr id="3" name="Picture 2">
            <a:extLst>
              <a:ext uri="{FF2B5EF4-FFF2-40B4-BE49-F238E27FC236}">
                <a16:creationId xmlns:a16="http://schemas.microsoft.com/office/drawing/2014/main" id="{58A566D6-F72A-42A6-AFA3-FF7539BFF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0810" y="2264206"/>
            <a:ext cx="6358339" cy="381500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F2B33AA6-051E-A22E-C4C9-BC1D98B0D3C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79171C40-AA11-903E-D53A-578FD1DC8CBF}"/>
              </a:ext>
            </a:extLst>
          </p:cNvPr>
          <p:cNvPicPr>
            <a:picLocks noChangeAspect="1"/>
          </p:cNvPicPr>
          <p:nvPr/>
        </p:nvPicPr>
        <p:blipFill>
          <a:blip r:embed="rId6">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419613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3F9D8AB-3D7B-4A0D-93EF-EE77A5E9F8BB}"/>
              </a:ext>
            </a:extLst>
          </p:cNvPr>
          <p:cNvPicPr>
            <a:picLocks noChangeAspect="1"/>
          </p:cNvPicPr>
          <p:nvPr/>
        </p:nvPicPr>
        <p:blipFill rotWithShape="1">
          <a:blip r:embed="rId2"/>
          <a:srcRect l="18984" t="34159" r="25939" b="14983"/>
          <a:stretch/>
        </p:blipFill>
        <p:spPr>
          <a:xfrm>
            <a:off x="1456118" y="1176601"/>
            <a:ext cx="9134298" cy="4742061"/>
          </a:xfrm>
          <a:prstGeom prst="rect">
            <a:avLst/>
          </a:prstGeom>
        </p:spPr>
      </p:pic>
      <p:pic>
        <p:nvPicPr>
          <p:cNvPr id="4" name="Imagen 3">
            <a:extLst>
              <a:ext uri="{FF2B5EF4-FFF2-40B4-BE49-F238E27FC236}">
                <a16:creationId xmlns:a16="http://schemas.microsoft.com/office/drawing/2014/main" id="{0FBE1429-F2B5-BBC9-A748-3E5E62F5833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562DFB6E-1903-338E-209F-3221DE63D047}"/>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917358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2C8CB04-71E6-4FCE-97D1-73C35151927B}"/>
              </a:ext>
            </a:extLst>
          </p:cNvPr>
          <p:cNvPicPr>
            <a:picLocks noChangeAspect="1"/>
          </p:cNvPicPr>
          <p:nvPr/>
        </p:nvPicPr>
        <p:blipFill rotWithShape="1">
          <a:blip r:embed="rId2"/>
          <a:srcRect l="14414" t="31866" r="11289" b="12899"/>
          <a:stretch/>
        </p:blipFill>
        <p:spPr>
          <a:xfrm>
            <a:off x="1017851" y="1419440"/>
            <a:ext cx="10125224" cy="4630633"/>
          </a:xfrm>
          <a:prstGeom prst="rect">
            <a:avLst/>
          </a:prstGeom>
        </p:spPr>
      </p:pic>
      <p:pic>
        <p:nvPicPr>
          <p:cNvPr id="4" name="Imagen 3">
            <a:extLst>
              <a:ext uri="{FF2B5EF4-FFF2-40B4-BE49-F238E27FC236}">
                <a16:creationId xmlns:a16="http://schemas.microsoft.com/office/drawing/2014/main" id="{3C8D5DAE-6B52-228F-EECD-E5CE6A6DBCB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F1414BA2-DC13-7697-4C91-69D908A70B43}"/>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289050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21CFB28-B5EA-4BDE-AA65-8322231DCDED}"/>
              </a:ext>
            </a:extLst>
          </p:cNvPr>
          <p:cNvPicPr>
            <a:picLocks noChangeAspect="1"/>
          </p:cNvPicPr>
          <p:nvPr/>
        </p:nvPicPr>
        <p:blipFill rotWithShape="1">
          <a:blip r:embed="rId2"/>
          <a:srcRect l="18984" t="19360" r="21602" b="12482"/>
          <a:stretch/>
        </p:blipFill>
        <p:spPr>
          <a:xfrm>
            <a:off x="2579344" y="1307176"/>
            <a:ext cx="7033312" cy="4536277"/>
          </a:xfrm>
          <a:prstGeom prst="rect">
            <a:avLst/>
          </a:prstGeom>
        </p:spPr>
      </p:pic>
      <p:pic>
        <p:nvPicPr>
          <p:cNvPr id="4" name="Imagen 3">
            <a:extLst>
              <a:ext uri="{FF2B5EF4-FFF2-40B4-BE49-F238E27FC236}">
                <a16:creationId xmlns:a16="http://schemas.microsoft.com/office/drawing/2014/main" id="{F9F54F52-773F-241B-27B6-E9CEAF53D2B5}"/>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8D886EA8-A6AA-A427-9920-7E888A5FCA42}"/>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7608704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B0B3A67-6CBE-49B2-A476-FD86FAFE1520}"/>
              </a:ext>
            </a:extLst>
          </p:cNvPr>
          <p:cNvPicPr>
            <a:picLocks noChangeAspect="1"/>
          </p:cNvPicPr>
          <p:nvPr/>
        </p:nvPicPr>
        <p:blipFill rotWithShape="1">
          <a:blip r:embed="rId2"/>
          <a:srcRect l="21915" t="18318" r="9414" b="14983"/>
          <a:stretch/>
        </p:blipFill>
        <p:spPr>
          <a:xfrm>
            <a:off x="1895302" y="1266653"/>
            <a:ext cx="8757553" cy="4782281"/>
          </a:xfrm>
          <a:prstGeom prst="rect">
            <a:avLst/>
          </a:prstGeom>
        </p:spPr>
      </p:pic>
      <p:pic>
        <p:nvPicPr>
          <p:cNvPr id="4" name="Imagen 3">
            <a:extLst>
              <a:ext uri="{FF2B5EF4-FFF2-40B4-BE49-F238E27FC236}">
                <a16:creationId xmlns:a16="http://schemas.microsoft.com/office/drawing/2014/main" id="{5F61F80D-A1CA-9432-1680-D736007DD71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4AE04343-F460-8765-46DC-90423024C9D9}"/>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77879"/>
            <a:ext cx="8757553" cy="685257"/>
          </a:xfrm>
          <a:prstGeom prst="rect">
            <a:avLst/>
          </a:prstGeom>
        </p:spPr>
      </p:pic>
    </p:spTree>
    <p:extLst>
      <p:ext uri="{BB962C8B-B14F-4D97-AF65-F5344CB8AC3E}">
        <p14:creationId xmlns:p14="http://schemas.microsoft.com/office/powerpoint/2010/main" val="302375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DCDBF6A-1B84-4124-8092-F8957F439D67}"/>
              </a:ext>
            </a:extLst>
          </p:cNvPr>
          <p:cNvPicPr>
            <a:picLocks noChangeAspect="1"/>
          </p:cNvPicPr>
          <p:nvPr/>
        </p:nvPicPr>
        <p:blipFill rotWithShape="1">
          <a:blip r:embed="rId2"/>
          <a:srcRect l="22500" t="52710" r="10117" b="24779"/>
          <a:stretch/>
        </p:blipFill>
        <p:spPr>
          <a:xfrm>
            <a:off x="1396395" y="1503431"/>
            <a:ext cx="9981120" cy="1874715"/>
          </a:xfrm>
          <a:prstGeom prst="rect">
            <a:avLst/>
          </a:prstGeom>
        </p:spPr>
      </p:pic>
      <p:pic>
        <p:nvPicPr>
          <p:cNvPr id="4" name="Imagen 3">
            <a:extLst>
              <a:ext uri="{FF2B5EF4-FFF2-40B4-BE49-F238E27FC236}">
                <a16:creationId xmlns:a16="http://schemas.microsoft.com/office/drawing/2014/main" id="{B88A098A-A9D7-4199-A1B1-2DE9229DCA28}"/>
              </a:ext>
            </a:extLst>
          </p:cNvPr>
          <p:cNvPicPr>
            <a:picLocks noChangeAspect="1"/>
          </p:cNvPicPr>
          <p:nvPr/>
        </p:nvPicPr>
        <p:blipFill rotWithShape="1">
          <a:blip r:embed="rId3"/>
          <a:srcRect l="19102" t="29782" r="13516" b="46456"/>
          <a:stretch/>
        </p:blipFill>
        <p:spPr>
          <a:xfrm>
            <a:off x="1248228" y="3753932"/>
            <a:ext cx="10129287" cy="2008241"/>
          </a:xfrm>
          <a:prstGeom prst="rect">
            <a:avLst/>
          </a:prstGeom>
        </p:spPr>
      </p:pic>
      <p:pic>
        <p:nvPicPr>
          <p:cNvPr id="5" name="Imagen 4">
            <a:extLst>
              <a:ext uri="{FF2B5EF4-FFF2-40B4-BE49-F238E27FC236}">
                <a16:creationId xmlns:a16="http://schemas.microsoft.com/office/drawing/2014/main" id="{982EA55C-885E-F0B3-50B3-F57AFF8EE5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7" name="Imagen 6" descr="Imagen que contiene Texto&#10;&#10;El contenido generado por IA puede ser incorrecto.">
            <a:extLst>
              <a:ext uri="{FF2B5EF4-FFF2-40B4-BE49-F238E27FC236}">
                <a16:creationId xmlns:a16="http://schemas.microsoft.com/office/drawing/2014/main" id="{7C7A3D2D-56F5-A930-46B4-2893AD15F5FE}"/>
              </a:ext>
            </a:extLst>
          </p:cNvPr>
          <p:cNvPicPr>
            <a:picLocks noChangeAspect="1"/>
          </p:cNvPicPr>
          <p:nvPr/>
        </p:nvPicPr>
        <p:blipFill>
          <a:blip r:embed="rId6">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2149777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497A3C0-C370-4547-B125-D30594E6FD3D}"/>
              </a:ext>
            </a:extLst>
          </p:cNvPr>
          <p:cNvPicPr>
            <a:picLocks noChangeAspect="1"/>
          </p:cNvPicPr>
          <p:nvPr/>
        </p:nvPicPr>
        <p:blipFill rotWithShape="1">
          <a:blip r:embed="rId2"/>
          <a:srcRect l="19336" t="52710" r="14687" b="8313"/>
          <a:stretch/>
        </p:blipFill>
        <p:spPr>
          <a:xfrm>
            <a:off x="588168" y="207168"/>
            <a:ext cx="11015663" cy="3658843"/>
          </a:xfrm>
          <a:prstGeom prst="rect">
            <a:avLst/>
          </a:prstGeom>
        </p:spPr>
      </p:pic>
      <p:pic>
        <p:nvPicPr>
          <p:cNvPr id="3" name="Imagen 2">
            <a:extLst>
              <a:ext uri="{FF2B5EF4-FFF2-40B4-BE49-F238E27FC236}">
                <a16:creationId xmlns:a16="http://schemas.microsoft.com/office/drawing/2014/main" id="{EAF0BCB4-A1E3-4501-8A80-A2A88F5BE3CC}"/>
              </a:ext>
            </a:extLst>
          </p:cNvPr>
          <p:cNvPicPr>
            <a:picLocks noChangeAspect="1"/>
          </p:cNvPicPr>
          <p:nvPr/>
        </p:nvPicPr>
        <p:blipFill rotWithShape="1">
          <a:blip r:embed="rId3"/>
          <a:srcRect l="19219" t="53960" r="14570" b="17901"/>
          <a:stretch/>
        </p:blipFill>
        <p:spPr>
          <a:xfrm>
            <a:off x="588168" y="4083066"/>
            <a:ext cx="11015663" cy="2567766"/>
          </a:xfrm>
          <a:prstGeom prst="rect">
            <a:avLst/>
          </a:prstGeom>
        </p:spPr>
      </p:pic>
    </p:spTree>
    <p:extLst>
      <p:ext uri="{BB962C8B-B14F-4D97-AF65-F5344CB8AC3E}">
        <p14:creationId xmlns:p14="http://schemas.microsoft.com/office/powerpoint/2010/main" val="25453147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magen que contiene Texto&#10;&#10;El contenido generado por IA puede ser incorrecto.">
            <a:extLst>
              <a:ext uri="{FF2B5EF4-FFF2-40B4-BE49-F238E27FC236}">
                <a16:creationId xmlns:a16="http://schemas.microsoft.com/office/drawing/2014/main" id="{FCE827B1-D176-E153-EC00-CD3F17D351D2}"/>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2250075" y="6233134"/>
            <a:ext cx="7985759" cy="624866"/>
          </a:xfrm>
          <a:prstGeom prst="rect">
            <a:avLst/>
          </a:prstGeom>
        </p:spPr>
      </p:pic>
      <p:pic>
        <p:nvPicPr>
          <p:cNvPr id="3" name="Imagen 2">
            <a:extLst>
              <a:ext uri="{FF2B5EF4-FFF2-40B4-BE49-F238E27FC236}">
                <a16:creationId xmlns:a16="http://schemas.microsoft.com/office/drawing/2014/main" id="{D17FC1C1-B522-4478-B2CA-6BDD265AFCEB}"/>
              </a:ext>
            </a:extLst>
          </p:cNvPr>
          <p:cNvPicPr>
            <a:picLocks noChangeAspect="1"/>
          </p:cNvPicPr>
          <p:nvPr/>
        </p:nvPicPr>
        <p:blipFill rotWithShape="1">
          <a:blip r:embed="rId3"/>
          <a:srcRect l="14883" t="23320" r="8593" b="15400"/>
          <a:stretch/>
        </p:blipFill>
        <p:spPr>
          <a:xfrm>
            <a:off x="1619677" y="1306286"/>
            <a:ext cx="9484594" cy="5139191"/>
          </a:xfrm>
          <a:prstGeom prst="rect">
            <a:avLst/>
          </a:prstGeom>
        </p:spPr>
      </p:pic>
      <p:pic>
        <p:nvPicPr>
          <p:cNvPr id="4" name="Imagen 3">
            <a:extLst>
              <a:ext uri="{FF2B5EF4-FFF2-40B4-BE49-F238E27FC236}">
                <a16:creationId xmlns:a16="http://schemas.microsoft.com/office/drawing/2014/main" id="{EA64D482-4D24-B989-9FBE-F909E27006A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71841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magen que contiene Texto&#10;&#10;El contenido generado por IA puede ser incorrecto.">
            <a:extLst>
              <a:ext uri="{FF2B5EF4-FFF2-40B4-BE49-F238E27FC236}">
                <a16:creationId xmlns:a16="http://schemas.microsoft.com/office/drawing/2014/main" id="{C98BBE14-59A4-06B5-68AF-1B3553CF2146}"/>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2" name="Imagen 1">
            <a:extLst>
              <a:ext uri="{FF2B5EF4-FFF2-40B4-BE49-F238E27FC236}">
                <a16:creationId xmlns:a16="http://schemas.microsoft.com/office/drawing/2014/main" id="{1D74F81D-C73E-4927-8B48-13524E825E82}"/>
              </a:ext>
            </a:extLst>
          </p:cNvPr>
          <p:cNvPicPr>
            <a:picLocks noChangeAspect="1"/>
          </p:cNvPicPr>
          <p:nvPr/>
        </p:nvPicPr>
        <p:blipFill rotWithShape="1">
          <a:blip r:embed="rId3"/>
          <a:srcRect l="17929" t="21862" r="24883" b="11023"/>
          <a:stretch/>
        </p:blipFill>
        <p:spPr>
          <a:xfrm>
            <a:off x="2786743" y="1164519"/>
            <a:ext cx="7631556" cy="5035576"/>
          </a:xfrm>
          <a:prstGeom prst="rect">
            <a:avLst/>
          </a:prstGeom>
        </p:spPr>
      </p:pic>
      <p:pic>
        <p:nvPicPr>
          <p:cNvPr id="4" name="Imagen 3">
            <a:extLst>
              <a:ext uri="{FF2B5EF4-FFF2-40B4-BE49-F238E27FC236}">
                <a16:creationId xmlns:a16="http://schemas.microsoft.com/office/drawing/2014/main" id="{1BA202EB-F2DA-0AC4-3EDC-C674383E039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85419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magen que contiene Texto&#10;&#10;El contenido generado por IA puede ser incorrecto.">
            <a:extLst>
              <a:ext uri="{FF2B5EF4-FFF2-40B4-BE49-F238E27FC236}">
                <a16:creationId xmlns:a16="http://schemas.microsoft.com/office/drawing/2014/main" id="{D6310ABA-E98E-8D2A-B78A-7287E83B29A2}"/>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2" name="Imagen 1">
            <a:extLst>
              <a:ext uri="{FF2B5EF4-FFF2-40B4-BE49-F238E27FC236}">
                <a16:creationId xmlns:a16="http://schemas.microsoft.com/office/drawing/2014/main" id="{C1370A99-29F4-4B88-A30C-8FFC19F31620}"/>
              </a:ext>
            </a:extLst>
          </p:cNvPr>
          <p:cNvPicPr>
            <a:picLocks noChangeAspect="1"/>
          </p:cNvPicPr>
          <p:nvPr/>
        </p:nvPicPr>
        <p:blipFill rotWithShape="1">
          <a:blip r:embed="rId3"/>
          <a:srcRect l="19805" t="17901" r="21484" b="35826"/>
          <a:stretch/>
        </p:blipFill>
        <p:spPr>
          <a:xfrm>
            <a:off x="1146274" y="1146629"/>
            <a:ext cx="9899452" cy="4939620"/>
          </a:xfrm>
          <a:prstGeom prst="rect">
            <a:avLst/>
          </a:prstGeom>
        </p:spPr>
      </p:pic>
      <p:pic>
        <p:nvPicPr>
          <p:cNvPr id="4" name="Imagen 3">
            <a:extLst>
              <a:ext uri="{FF2B5EF4-FFF2-40B4-BE49-F238E27FC236}">
                <a16:creationId xmlns:a16="http://schemas.microsoft.com/office/drawing/2014/main" id="{C2B1533C-6BC3-1225-96D4-909DF66B9C4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98171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7E5D59C-5436-4005-AC41-B5A9536EF832}"/>
              </a:ext>
            </a:extLst>
          </p:cNvPr>
          <p:cNvPicPr>
            <a:picLocks noChangeAspect="1"/>
          </p:cNvPicPr>
          <p:nvPr/>
        </p:nvPicPr>
        <p:blipFill rotWithShape="1">
          <a:blip r:embed="rId2"/>
          <a:srcRect l="20742" t="63340" r="21836" b="7271"/>
          <a:stretch/>
        </p:blipFill>
        <p:spPr>
          <a:xfrm>
            <a:off x="1256389" y="1461440"/>
            <a:ext cx="9679222" cy="3935119"/>
          </a:xfrm>
          <a:prstGeom prst="rect">
            <a:avLst/>
          </a:prstGeom>
        </p:spPr>
      </p:pic>
      <p:pic>
        <p:nvPicPr>
          <p:cNvPr id="4" name="Imagen 3">
            <a:extLst>
              <a:ext uri="{FF2B5EF4-FFF2-40B4-BE49-F238E27FC236}">
                <a16:creationId xmlns:a16="http://schemas.microsoft.com/office/drawing/2014/main" id="{291A5DFB-9865-B884-85B0-F66AFDC7C22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D042B08B-87E8-573B-EB70-F77E177B665A}"/>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414078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19A8D28-9207-449E-8671-84D4C32352DD}"/>
              </a:ext>
            </a:extLst>
          </p:cNvPr>
          <p:cNvSpPr/>
          <p:nvPr/>
        </p:nvSpPr>
        <p:spPr>
          <a:xfrm>
            <a:off x="697101" y="863661"/>
            <a:ext cx="3867150" cy="2246769"/>
          </a:xfrm>
          <a:prstGeom prst="rect">
            <a:avLst/>
          </a:prstGeom>
          <a:ln w="38100">
            <a:solidFill>
              <a:srgbClr val="0070C0"/>
            </a:solidFill>
          </a:ln>
        </p:spPr>
        <p:txBody>
          <a:bodyPr wrap="square">
            <a:spAutoFit/>
          </a:bodyPr>
          <a:lstStyle/>
          <a:p>
            <a:pPr algn="just"/>
            <a:r>
              <a:rPr lang="es-MX" sz="2000" dirty="0">
                <a:latin typeface="Arial" panose="020B0604020202020204" pitchFamily="34" charset="0"/>
                <a:cs typeface="Arial" panose="020B0604020202020204" pitchFamily="34" charset="0"/>
              </a:rPr>
              <a:t>El </a:t>
            </a:r>
            <a:r>
              <a:rPr lang="es-MX" sz="2000" b="1" dirty="0">
                <a:latin typeface="Arial" panose="020B0604020202020204" pitchFamily="34" charset="0"/>
                <a:cs typeface="Arial" panose="020B0604020202020204" pitchFamily="34" charset="0"/>
              </a:rPr>
              <a:t>compromiso compartido </a:t>
            </a:r>
            <a:r>
              <a:rPr lang="es-MX" sz="2000" dirty="0">
                <a:latin typeface="Arial" panose="020B0604020202020204" pitchFamily="34" charset="0"/>
                <a:cs typeface="Arial" panose="020B0604020202020204" pitchFamily="34" charset="0"/>
              </a:rPr>
              <a:t>es una característica de las Comunidades de Aprendizaje y es una condición necesaria para el Proceso de Mejora Continua, algunas ideas para favorecerlo son las siguientes:</a:t>
            </a:r>
          </a:p>
        </p:txBody>
      </p:sp>
      <p:sp>
        <p:nvSpPr>
          <p:cNvPr id="3" name="Rectángulo 2">
            <a:extLst>
              <a:ext uri="{FF2B5EF4-FFF2-40B4-BE49-F238E27FC236}">
                <a16:creationId xmlns:a16="http://schemas.microsoft.com/office/drawing/2014/main" id="{409B48D3-41EF-4524-B07C-79AEF4F19829}"/>
              </a:ext>
            </a:extLst>
          </p:cNvPr>
          <p:cNvSpPr/>
          <p:nvPr/>
        </p:nvSpPr>
        <p:spPr>
          <a:xfrm>
            <a:off x="458658" y="3279706"/>
            <a:ext cx="4020652" cy="2262158"/>
          </a:xfrm>
          <a:prstGeom prst="rect">
            <a:avLst/>
          </a:prstGeom>
        </p:spPr>
        <p:txBody>
          <a:bodyPr wrap="none">
            <a:spAutoFit/>
          </a:bodyPr>
          <a:lstStyle/>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Participación.</a:t>
            </a:r>
          </a:p>
          <a:p>
            <a:endParaRPr lang="es-MX" sz="2000" b="1" dirty="0">
              <a:solidFill>
                <a:schemeClr val="accent6">
                  <a:lumMod val="7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Diálogo.</a:t>
            </a:r>
          </a:p>
          <a:p>
            <a:endParaRPr lang="es-MX" sz="2000" b="1" dirty="0">
              <a:solidFill>
                <a:schemeClr val="accent6">
                  <a:lumMod val="7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Provisión de materiales.</a:t>
            </a:r>
          </a:p>
          <a:p>
            <a:endParaRPr lang="es-MX" sz="2000" b="1" dirty="0">
              <a:solidFill>
                <a:schemeClr val="accent6">
                  <a:lumMod val="7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Optimización de los tiempos</a:t>
            </a:r>
            <a:r>
              <a:rPr lang="es-MX" sz="2100" b="1" dirty="0">
                <a:solidFill>
                  <a:schemeClr val="accent6">
                    <a:lumMod val="75000"/>
                  </a:schemeClr>
                </a:solidFill>
                <a:latin typeface="Arial" panose="020B0604020202020204" pitchFamily="34" charset="0"/>
                <a:cs typeface="Arial" panose="020B0604020202020204" pitchFamily="34" charset="0"/>
              </a:rPr>
              <a:t>.</a:t>
            </a:r>
            <a:endParaRPr lang="es-MX" sz="2100" dirty="0">
              <a:solidFill>
                <a:schemeClr val="accent6">
                  <a:lumMod val="75000"/>
                </a:schemeClr>
              </a:solidFill>
              <a:latin typeface="Arial" panose="020B0604020202020204" pitchFamily="34" charset="0"/>
              <a:cs typeface="Arial" panose="020B0604020202020204" pitchFamily="34" charset="0"/>
            </a:endParaRPr>
          </a:p>
        </p:txBody>
      </p:sp>
      <p:pic>
        <p:nvPicPr>
          <p:cNvPr id="7" name="Picture 2" descr="https://img.freepik.com/vector-premium/cuaderno-arte-abierto-dibujos-animados-vector-vuelta-escuela_277625-1969.jpg?w=1380">
            <a:extLst>
              <a:ext uri="{FF2B5EF4-FFF2-40B4-BE49-F238E27FC236}">
                <a16:creationId xmlns:a16="http://schemas.microsoft.com/office/drawing/2014/main" id="{99DBD1EB-0D30-4D74-9568-300F6567E3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19" t="9584" r="16597" b="9584"/>
          <a:stretch/>
        </p:blipFill>
        <p:spPr bwMode="auto">
          <a:xfrm>
            <a:off x="5109029" y="608882"/>
            <a:ext cx="6235332" cy="2820118"/>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4B4930C-8F09-4B09-8B52-2150B267A745}"/>
              </a:ext>
            </a:extLst>
          </p:cNvPr>
          <p:cNvSpPr/>
          <p:nvPr/>
        </p:nvSpPr>
        <p:spPr>
          <a:xfrm>
            <a:off x="5986462" y="694383"/>
            <a:ext cx="4972051" cy="2585323"/>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En escuelas unitarias o con colectivos de pocos integrantes la construcción del Programa de mejora continua puede apoyarse en el intercambio con otras escuelas multigrado, la supervisión, el personal de asesoría técnico-pedagógica o con actores de la comunidad, sin sustituir la autonomía de cada escuela ni trasladar decisiones externas al colectivo.</a:t>
            </a:r>
          </a:p>
        </p:txBody>
      </p:sp>
      <p:pic>
        <p:nvPicPr>
          <p:cNvPr id="9" name="Picture 2" descr="https://img.freepik.com/vector-premium/cuaderno-arte-abierto-dibujos-animados-vector-vuelta-escuela_277625-1969.jpg?w=1380">
            <a:extLst>
              <a:ext uri="{FF2B5EF4-FFF2-40B4-BE49-F238E27FC236}">
                <a16:creationId xmlns:a16="http://schemas.microsoft.com/office/drawing/2014/main" id="{A3FF7BFF-9251-43EB-9DAB-DC3B79D108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19" t="9584" r="16597" b="9584"/>
          <a:stretch/>
        </p:blipFill>
        <p:spPr bwMode="auto">
          <a:xfrm>
            <a:off x="4918026" y="3650901"/>
            <a:ext cx="6559343" cy="268460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71E1701-EEBD-4644-9894-3BEF83F4CA80}"/>
              </a:ext>
            </a:extLst>
          </p:cNvPr>
          <p:cNvSpPr/>
          <p:nvPr/>
        </p:nvSpPr>
        <p:spPr>
          <a:xfrm>
            <a:off x="5986462" y="3916847"/>
            <a:ext cx="5129213" cy="2185214"/>
          </a:xfrm>
          <a:prstGeom prst="rect">
            <a:avLst/>
          </a:prstGeom>
        </p:spPr>
        <p:txBody>
          <a:bodyPr wrap="square">
            <a:spAutoFit/>
          </a:bodyPr>
          <a:lstStyle/>
          <a:p>
            <a:pPr algn="just"/>
            <a:r>
              <a:rPr lang="es-MX" sz="1700" dirty="0">
                <a:latin typeface="Arial" panose="020B0604020202020204" pitchFamily="34" charset="0"/>
                <a:cs typeface="Arial" panose="020B0604020202020204" pitchFamily="34" charset="0"/>
              </a:rPr>
              <a:t>En el caso de las escuelas multigrado, la Comunidad de Aprendizaje puede ampliarse mediante el intercambio de experiencias entre docentes que atienden esta forma de organización escolar, favoreciendo la construcción colectiva de estrategias para la planeación, agrupamiento, enseñanza simultánea, evaluación y aprovechamiento de los saberes de la comunidad.</a:t>
            </a:r>
          </a:p>
        </p:txBody>
      </p:sp>
      <p:sp>
        <p:nvSpPr>
          <p:cNvPr id="5" name="Rectángulo 4">
            <a:extLst>
              <a:ext uri="{FF2B5EF4-FFF2-40B4-BE49-F238E27FC236}">
                <a16:creationId xmlns:a16="http://schemas.microsoft.com/office/drawing/2014/main" id="{21D314D7-D78B-FAEC-AFCA-48C0E45F6248}"/>
              </a:ext>
            </a:extLst>
          </p:cNvPr>
          <p:cNvSpPr/>
          <p:nvPr/>
        </p:nvSpPr>
        <p:spPr>
          <a:xfrm>
            <a:off x="458658" y="5548063"/>
            <a:ext cx="2781531" cy="1015663"/>
          </a:xfrm>
          <a:prstGeom prst="rect">
            <a:avLst/>
          </a:prstGeom>
        </p:spPr>
        <p:txBody>
          <a:bodyPr wrap="none">
            <a:spAutoFit/>
          </a:bodyPr>
          <a:lstStyle/>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Innovación.</a:t>
            </a:r>
          </a:p>
          <a:p>
            <a:pPr marL="285750" indent="-285750">
              <a:buFont typeface="Wingdings" panose="05000000000000000000" pitchFamily="2" charset="2"/>
              <a:buChar char="v"/>
            </a:pPr>
            <a:endParaRPr lang="es-MX" sz="2000" b="1" dirty="0">
              <a:solidFill>
                <a:schemeClr val="accent6">
                  <a:lumMod val="75000"/>
                </a:schemeClr>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v"/>
            </a:pPr>
            <a:r>
              <a:rPr lang="es-MX" sz="2000" b="1" dirty="0">
                <a:solidFill>
                  <a:schemeClr val="accent6">
                    <a:lumMod val="75000"/>
                  </a:schemeClr>
                </a:solidFill>
                <a:latin typeface="Arial" panose="020B0604020202020204" pitchFamily="34" charset="0"/>
                <a:cs typeface="Arial" panose="020B0604020202020204" pitchFamily="34" charset="0"/>
              </a:rPr>
              <a:t>Compartir avances</a:t>
            </a:r>
          </a:p>
        </p:txBody>
      </p:sp>
    </p:spTree>
    <p:extLst>
      <p:ext uri="{BB962C8B-B14F-4D97-AF65-F5344CB8AC3E}">
        <p14:creationId xmlns:p14="http://schemas.microsoft.com/office/powerpoint/2010/main" val="1450686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descr="Imagen que contiene Texto&#10;&#10;El contenido generado por IA puede ser incorrecto.">
            <a:extLst>
              <a:ext uri="{FF2B5EF4-FFF2-40B4-BE49-F238E27FC236}">
                <a16:creationId xmlns:a16="http://schemas.microsoft.com/office/drawing/2014/main" id="{550D5CAD-8023-9778-4076-C00BDD3536B6}"/>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grpSp>
        <p:nvGrpSpPr>
          <p:cNvPr id="3" name="Grupo 2">
            <a:extLst>
              <a:ext uri="{FF2B5EF4-FFF2-40B4-BE49-F238E27FC236}">
                <a16:creationId xmlns:a16="http://schemas.microsoft.com/office/drawing/2014/main" id="{857D42B5-870A-320C-6633-2DA37169FB0B}"/>
              </a:ext>
            </a:extLst>
          </p:cNvPr>
          <p:cNvGrpSpPr/>
          <p:nvPr/>
        </p:nvGrpSpPr>
        <p:grpSpPr>
          <a:xfrm>
            <a:off x="5252036" y="1330483"/>
            <a:ext cx="6142587" cy="2547851"/>
            <a:chOff x="5229224" y="629722"/>
            <a:chExt cx="6275749" cy="2799278"/>
          </a:xfrm>
        </p:grpSpPr>
        <p:pic>
          <p:nvPicPr>
            <p:cNvPr id="6" name="Picture 2" descr="https://img.freepik.com/vector-premium/cuaderno-arte-abierto-dibujos-animados-vector-vuelta-escuela_277625-1969.jpg?w=1380">
              <a:extLst>
                <a:ext uri="{FF2B5EF4-FFF2-40B4-BE49-F238E27FC236}">
                  <a16:creationId xmlns:a16="http://schemas.microsoft.com/office/drawing/2014/main" id="{549DDAD9-B521-4742-A6AA-CEC881BA8E1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19" t="9584" r="16597" b="9584"/>
            <a:stretch/>
          </p:blipFill>
          <p:spPr bwMode="auto">
            <a:xfrm>
              <a:off x="5229224" y="629722"/>
              <a:ext cx="6275749" cy="2799278"/>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2307BAD-5CFB-4759-AA12-3589C616E23D}"/>
                </a:ext>
              </a:extLst>
            </p:cNvPr>
            <p:cNvSpPr/>
            <p:nvPr/>
          </p:nvSpPr>
          <p:spPr>
            <a:xfrm>
              <a:off x="6305597" y="899398"/>
              <a:ext cx="4767263" cy="2308324"/>
            </a:xfrm>
            <a:prstGeom prst="rect">
              <a:avLst/>
            </a:prstGeom>
          </p:spPr>
          <p:txBody>
            <a:bodyPr wrap="square">
              <a:spAutoFit/>
            </a:bodyPr>
            <a:lstStyle/>
            <a:p>
              <a:pPr algn="just"/>
              <a:r>
                <a:rPr lang="es-MX" b="1" dirty="0">
                  <a:latin typeface="Arial" panose="020B0604020202020204" pitchFamily="34" charset="0"/>
                  <a:cs typeface="Arial" panose="020B0604020202020204" pitchFamily="34" charset="0"/>
                </a:rPr>
                <a:t>La innovación puede orientarse a aprovechar la diversidad de edades y niveles de aprendizaje como una oportunidad pedagógica, mediante tutorías entre pares, agrupamientos flexibles, proyectos comunes y estrategias que permitan la participación de todas y todos los estudiantes.</a:t>
              </a:r>
            </a:p>
          </p:txBody>
        </p:sp>
      </p:grpSp>
      <p:grpSp>
        <p:nvGrpSpPr>
          <p:cNvPr id="4" name="Grupo 3">
            <a:extLst>
              <a:ext uri="{FF2B5EF4-FFF2-40B4-BE49-F238E27FC236}">
                <a16:creationId xmlns:a16="http://schemas.microsoft.com/office/drawing/2014/main" id="{A074E9FB-1CE2-0519-6D4D-88D0D57EDD4C}"/>
              </a:ext>
            </a:extLst>
          </p:cNvPr>
          <p:cNvGrpSpPr/>
          <p:nvPr/>
        </p:nvGrpSpPr>
        <p:grpSpPr>
          <a:xfrm>
            <a:off x="1645023" y="4001197"/>
            <a:ext cx="6433348" cy="2238169"/>
            <a:chOff x="1846128" y="3812977"/>
            <a:chExt cx="6843100" cy="2415301"/>
          </a:xfrm>
        </p:grpSpPr>
        <p:pic>
          <p:nvPicPr>
            <p:cNvPr id="8" name="Picture 2" descr="https://img.freepik.com/vector-premium/cuaderno-arte-abierto-dibujos-animados-vector-vuelta-escuela_277625-1969.jpg?w=1380">
              <a:extLst>
                <a:ext uri="{FF2B5EF4-FFF2-40B4-BE49-F238E27FC236}">
                  <a16:creationId xmlns:a16="http://schemas.microsoft.com/office/drawing/2014/main" id="{359BE588-0AA4-43F7-B3E5-80BC6E6B77D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19" t="9584" r="16597" b="9584"/>
            <a:stretch/>
          </p:blipFill>
          <p:spPr bwMode="auto">
            <a:xfrm>
              <a:off x="1846128" y="3812977"/>
              <a:ext cx="6843100" cy="2415301"/>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F7FC097-7714-48D3-8EE9-1187999A3D8E}"/>
                </a:ext>
              </a:extLst>
            </p:cNvPr>
            <p:cNvSpPr/>
            <p:nvPr/>
          </p:nvSpPr>
          <p:spPr>
            <a:xfrm>
              <a:off x="3174872" y="4040949"/>
              <a:ext cx="5016015" cy="1754326"/>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En las escuelas multigrado, compartir avances puede incluir la </a:t>
              </a:r>
              <a:r>
                <a:rPr lang="es-MX" b="1" dirty="0">
                  <a:latin typeface="Arial" panose="020B0604020202020204" pitchFamily="34" charset="0"/>
                  <a:cs typeface="Arial" panose="020B0604020202020204" pitchFamily="34" charset="0"/>
                </a:rPr>
                <a:t>socialización de estrategias </a:t>
              </a:r>
              <a:r>
                <a:rPr lang="es-MX" dirty="0">
                  <a:latin typeface="Arial" panose="020B0604020202020204" pitchFamily="34" charset="0"/>
                  <a:cs typeface="Arial" panose="020B0604020202020204" pitchFamily="34" charset="0"/>
                </a:rPr>
                <a:t>que favorezcan la atención simultánea de diferentes grados y/o fases, así como experiencias en las que la colaboración entre estudiantes contribuya al aprendizaje.</a:t>
              </a:r>
            </a:p>
          </p:txBody>
        </p:sp>
      </p:grpSp>
      <p:pic>
        <p:nvPicPr>
          <p:cNvPr id="12" name="Imagen 11">
            <a:extLst>
              <a:ext uri="{FF2B5EF4-FFF2-40B4-BE49-F238E27FC236}">
                <a16:creationId xmlns:a16="http://schemas.microsoft.com/office/drawing/2014/main" id="{C916CFC0-0458-D77B-7DD6-9DA2C194E694}"/>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487857" cy="9208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27106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Imagen que contiene Texto&#10;&#10;El contenido generado por IA puede ser incorrecto.">
            <a:extLst>
              <a:ext uri="{FF2B5EF4-FFF2-40B4-BE49-F238E27FC236}">
                <a16:creationId xmlns:a16="http://schemas.microsoft.com/office/drawing/2014/main" id="{0B077106-654F-874E-FC10-02A80B567019}"/>
              </a:ext>
            </a:extLst>
          </p:cNvPr>
          <p:cNvPicPr>
            <a:picLocks noChangeAspect="1"/>
          </p:cNvPicPr>
          <p:nvPr/>
        </p:nvPicPr>
        <p:blipFill>
          <a:blip r:embed="rId2">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
        <p:nvSpPr>
          <p:cNvPr id="2" name="Rectángulo 1">
            <a:extLst>
              <a:ext uri="{FF2B5EF4-FFF2-40B4-BE49-F238E27FC236}">
                <a16:creationId xmlns:a16="http://schemas.microsoft.com/office/drawing/2014/main" id="{C6061D59-8B49-453F-8DB7-B5AC20C9D7BE}"/>
              </a:ext>
            </a:extLst>
          </p:cNvPr>
          <p:cNvSpPr/>
          <p:nvPr/>
        </p:nvSpPr>
        <p:spPr>
          <a:xfrm>
            <a:off x="597695" y="846178"/>
            <a:ext cx="10682288" cy="1938992"/>
          </a:xfrm>
          <a:prstGeom prst="rect">
            <a:avLst/>
          </a:prstGeom>
        </p:spPr>
        <p:txBody>
          <a:bodyPr wrap="square">
            <a:spAutoFit/>
          </a:bodyPr>
          <a:lstStyle/>
          <a:p>
            <a:pPr algn="just"/>
            <a:r>
              <a:rPr lang="es-MX" sz="2000" b="1" dirty="0">
                <a:solidFill>
                  <a:srgbClr val="A11F42"/>
                </a:solidFill>
                <a:latin typeface="Arial" panose="020B0604020202020204" pitchFamily="34" charset="0"/>
                <a:cs typeface="Arial" panose="020B0604020202020204" pitchFamily="34" charset="0"/>
              </a:rPr>
              <a:t>Para reflexionar:</a:t>
            </a:r>
          </a:p>
          <a:p>
            <a:pPr marL="285750" indent="-285750" algn="just">
              <a:buFont typeface="Wingdings" panose="05000000000000000000" pitchFamily="2" charset="2"/>
              <a:buChar char="v"/>
            </a:pPr>
            <a:r>
              <a:rPr lang="es-MX" sz="2000" dirty="0">
                <a:solidFill>
                  <a:srgbClr val="000000"/>
                </a:solidFill>
                <a:latin typeface="Arial" panose="020B0604020202020204" pitchFamily="34" charset="0"/>
                <a:cs typeface="Arial" panose="020B0604020202020204" pitchFamily="34" charset="0"/>
              </a:rPr>
              <a:t>¿Qué estrategias han implementado para favorecer el involucramiento del colectivo con el Programa de mejora continua? </a:t>
            </a:r>
          </a:p>
          <a:p>
            <a:pPr algn="just"/>
            <a:endParaRPr lang="es-MX" sz="2000" dirty="0">
              <a:solidFill>
                <a:srgbClr val="000000"/>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v"/>
            </a:pPr>
            <a:r>
              <a:rPr lang="es-MX" sz="2000" dirty="0">
                <a:solidFill>
                  <a:srgbClr val="000000"/>
                </a:solidFill>
                <a:latin typeface="Arial" panose="020B0604020202020204" pitchFamily="34" charset="0"/>
                <a:cs typeface="Arial" panose="020B0604020202020204" pitchFamily="34" charset="0"/>
              </a:rPr>
              <a:t>¿Cuáles son los principales retos de la escuela para concretar el Programa de mejora continua?, ¿cómo podrían enfrentarlos?</a:t>
            </a:r>
            <a:endParaRPr lang="es-MX" sz="2000" dirty="0">
              <a:latin typeface="Arial" panose="020B0604020202020204" pitchFamily="34" charset="0"/>
              <a:cs typeface="Arial" panose="020B0604020202020204" pitchFamily="34" charset="0"/>
            </a:endParaRPr>
          </a:p>
        </p:txBody>
      </p:sp>
      <p:grpSp>
        <p:nvGrpSpPr>
          <p:cNvPr id="7" name="Grupo 6">
            <a:extLst>
              <a:ext uri="{FF2B5EF4-FFF2-40B4-BE49-F238E27FC236}">
                <a16:creationId xmlns:a16="http://schemas.microsoft.com/office/drawing/2014/main" id="{3A4E0415-EBA9-D2B5-F8CD-5C6BE3F8D7B3}"/>
              </a:ext>
            </a:extLst>
          </p:cNvPr>
          <p:cNvGrpSpPr/>
          <p:nvPr/>
        </p:nvGrpSpPr>
        <p:grpSpPr>
          <a:xfrm>
            <a:off x="2504038" y="2785170"/>
            <a:ext cx="6174449" cy="3351749"/>
            <a:chOff x="2105027" y="2785171"/>
            <a:chExt cx="6915150" cy="3780650"/>
          </a:xfrm>
        </p:grpSpPr>
        <p:pic>
          <p:nvPicPr>
            <p:cNvPr id="5" name="Picture 2" descr="https://img.freepik.com/vector-premium/cuaderno-arte-abierto-dibujos-animados-vector-vuelta-escuela_277625-1969.jpg?w=1380">
              <a:extLst>
                <a:ext uri="{FF2B5EF4-FFF2-40B4-BE49-F238E27FC236}">
                  <a16:creationId xmlns:a16="http://schemas.microsoft.com/office/drawing/2014/main" id="{092E1496-E86C-4234-9282-E87D3BC27C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319" t="9584" r="16597" b="9584"/>
            <a:stretch/>
          </p:blipFill>
          <p:spPr bwMode="auto">
            <a:xfrm>
              <a:off x="2105027" y="2785171"/>
              <a:ext cx="6915150" cy="378065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40834C97-FF93-4B01-BB47-167B87031E0C}"/>
                </a:ext>
              </a:extLst>
            </p:cNvPr>
            <p:cNvSpPr/>
            <p:nvPr/>
          </p:nvSpPr>
          <p:spPr>
            <a:xfrm>
              <a:off x="3333752" y="3090446"/>
              <a:ext cx="5210174" cy="2770644"/>
            </a:xfrm>
            <a:prstGeom prst="rect">
              <a:avLst/>
            </a:prstGeom>
          </p:spPr>
          <p:txBody>
            <a:bodyPr wrap="square">
              <a:spAutoFit/>
            </a:bodyPr>
            <a:lstStyle/>
            <a:p>
              <a:pPr algn="just"/>
              <a:r>
                <a:rPr lang="es-MX" dirty="0">
                  <a:latin typeface="Arial" panose="020B0604020202020204" pitchFamily="34" charset="0"/>
                  <a:cs typeface="Arial" panose="020B0604020202020204" pitchFamily="34" charset="0"/>
                </a:rPr>
                <a:t>¿Qué condiciones pedagógicas, organizativas y comunitarias necesitan fortalecer para garantizar el aprendizaje y la participación de todas y todos los estudiantes en la escuela multigrado?</a:t>
              </a:r>
            </a:p>
            <a:p>
              <a:pPr algn="just"/>
              <a:endParaRPr lang="es-MX" dirty="0">
                <a:latin typeface="Arial" panose="020B0604020202020204" pitchFamily="34" charset="0"/>
                <a:cs typeface="Arial" panose="020B0604020202020204" pitchFamily="34" charset="0"/>
              </a:endParaRPr>
            </a:p>
            <a:p>
              <a:pPr algn="just"/>
              <a:r>
                <a:rPr lang="es-MX" dirty="0">
                  <a:latin typeface="Arial" panose="020B0604020202020204" pitchFamily="34" charset="0"/>
                  <a:cs typeface="Arial" panose="020B0604020202020204" pitchFamily="34" charset="0"/>
                </a:rPr>
                <a:t>• ¿Qué acciones pueden favorecer que estudiantes de diferentes grados y/o fases aprendan juntos, colaboren y avancen de acuerdo con sus propias trayectorias?</a:t>
              </a:r>
            </a:p>
          </p:txBody>
        </p:sp>
      </p:grpSp>
      <p:pic>
        <p:nvPicPr>
          <p:cNvPr id="6" name="Imagen 5">
            <a:extLst>
              <a:ext uri="{FF2B5EF4-FFF2-40B4-BE49-F238E27FC236}">
                <a16:creationId xmlns:a16="http://schemas.microsoft.com/office/drawing/2014/main" id="{12A64CC8-4820-5B41-054D-18BB0B70C71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846523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44695C0-E977-4076-BB4C-132F34505B45}"/>
              </a:ext>
            </a:extLst>
          </p:cNvPr>
          <p:cNvSpPr/>
          <p:nvPr/>
        </p:nvSpPr>
        <p:spPr>
          <a:xfrm>
            <a:off x="945356" y="1274562"/>
            <a:ext cx="10301287" cy="923330"/>
          </a:xfrm>
          <a:prstGeom prst="rect">
            <a:avLst/>
          </a:prstGeom>
        </p:spPr>
        <p:txBody>
          <a:bodyPr wrap="square">
            <a:spAutoFit/>
          </a:bodyPr>
          <a:lstStyle/>
          <a:p>
            <a:pPr algn="just"/>
            <a:r>
              <a:rPr lang="es-MX" dirty="0">
                <a:solidFill>
                  <a:srgbClr val="000000"/>
                </a:solidFill>
                <a:latin typeface="Arial" panose="020B0604020202020204" pitchFamily="34" charset="0"/>
                <a:cs typeface="Arial" panose="020B0604020202020204" pitchFamily="34" charset="0"/>
              </a:rPr>
              <a:t>Considerando lo anterior, y a partir de lo que el Comité de Planeación y Evaluación haya preparado para coordinar el diálogo en torno a la fase de planeación, avancen en la construcción o ajuste de su Programa de mejora continua del presente ciclo escolar.</a:t>
            </a:r>
          </a:p>
        </p:txBody>
      </p:sp>
      <p:sp>
        <p:nvSpPr>
          <p:cNvPr id="3" name="Rectángulo 2">
            <a:extLst>
              <a:ext uri="{FF2B5EF4-FFF2-40B4-BE49-F238E27FC236}">
                <a16:creationId xmlns:a16="http://schemas.microsoft.com/office/drawing/2014/main" id="{A38C5BE0-0186-4819-929C-B335196762FD}"/>
              </a:ext>
            </a:extLst>
          </p:cNvPr>
          <p:cNvSpPr/>
          <p:nvPr/>
        </p:nvSpPr>
        <p:spPr>
          <a:xfrm>
            <a:off x="4019549" y="2410622"/>
            <a:ext cx="6367463" cy="2462213"/>
          </a:xfrm>
          <a:prstGeom prst="rect">
            <a:avLst/>
          </a:prstGeom>
          <a:ln w="57150">
            <a:solidFill>
              <a:schemeClr val="accent2">
                <a:lumMod val="50000"/>
              </a:schemeClr>
            </a:solidFill>
          </a:ln>
        </p:spPr>
        <p:txBody>
          <a:bodyPr wrap="square">
            <a:spAutoFit/>
          </a:bodyPr>
          <a:lstStyle/>
          <a:p>
            <a:pPr algn="just"/>
            <a:r>
              <a:rPr lang="es-MX" sz="2200" b="1" dirty="0">
                <a:solidFill>
                  <a:srgbClr val="A11F42"/>
                </a:solidFill>
                <a:latin typeface="Arial" panose="020B0604020202020204" pitchFamily="34" charset="0"/>
                <a:cs typeface="Arial" panose="020B0604020202020204" pitchFamily="34" charset="0"/>
              </a:rPr>
              <a:t>Recuerden que:</a:t>
            </a:r>
          </a:p>
          <a:p>
            <a:pPr algn="just"/>
            <a:endParaRPr lang="es-MX" sz="2200" b="1" dirty="0">
              <a:solidFill>
                <a:srgbClr val="A11F42"/>
              </a:solidFill>
              <a:latin typeface="Arial" panose="020B0604020202020204" pitchFamily="34" charset="0"/>
              <a:cs typeface="Arial" panose="020B0604020202020204" pitchFamily="34" charset="0"/>
            </a:endParaRPr>
          </a:p>
          <a:p>
            <a:pPr algn="just"/>
            <a:r>
              <a:rPr lang="es-MX" sz="2200" b="1" dirty="0">
                <a:solidFill>
                  <a:srgbClr val="000000"/>
                </a:solidFill>
                <a:latin typeface="Arial" panose="020B0604020202020204" pitchFamily="34" charset="0"/>
                <a:cs typeface="Arial" panose="020B0604020202020204" pitchFamily="34" charset="0"/>
              </a:rPr>
              <a:t>Cuando se pierde de vista el propósito de la Mejora, se elaboran documentos al margen de la realidad, puramente administrativos, que se usan como control, se entregan, se archivan y se olvidan. (SEP, 2024, p. 9)1</a:t>
            </a:r>
            <a:endParaRPr lang="es-MX" sz="2200" b="1"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41A65C71-DE4F-4416-8F05-D1EEE3E7152C}"/>
              </a:ext>
            </a:extLst>
          </p:cNvPr>
          <p:cNvPicPr>
            <a:picLocks noChangeAspect="1"/>
          </p:cNvPicPr>
          <p:nvPr/>
        </p:nvPicPr>
        <p:blipFill rotWithShape="1">
          <a:blip r:embed="rId2"/>
          <a:srcRect l="18398" t="32492" r="75625" b="52691"/>
          <a:stretch/>
        </p:blipFill>
        <p:spPr>
          <a:xfrm>
            <a:off x="1185862" y="2197892"/>
            <a:ext cx="2071687" cy="2887671"/>
          </a:xfrm>
          <a:prstGeom prst="rect">
            <a:avLst/>
          </a:prstGeom>
        </p:spPr>
      </p:pic>
      <p:pic>
        <p:nvPicPr>
          <p:cNvPr id="6" name="Imagen 5">
            <a:extLst>
              <a:ext uri="{FF2B5EF4-FFF2-40B4-BE49-F238E27FC236}">
                <a16:creationId xmlns:a16="http://schemas.microsoft.com/office/drawing/2014/main" id="{A627691F-CB88-2C9D-FA86-9964CF546F0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Imagen 7" descr="Imagen que contiene Texto&#10;&#10;El contenido generado por IA puede ser incorrecto.">
            <a:extLst>
              <a:ext uri="{FF2B5EF4-FFF2-40B4-BE49-F238E27FC236}">
                <a16:creationId xmlns:a16="http://schemas.microsoft.com/office/drawing/2014/main" id="{167CC026-E5AD-4D85-D918-D1930D209748}"/>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987251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B467020-E225-4631-A641-87C0250D6839}"/>
              </a:ext>
            </a:extLst>
          </p:cNvPr>
          <p:cNvPicPr>
            <a:picLocks noChangeAspect="1"/>
          </p:cNvPicPr>
          <p:nvPr/>
        </p:nvPicPr>
        <p:blipFill rotWithShape="1">
          <a:blip r:embed="rId2"/>
          <a:srcRect l="18633" t="31241" r="25586" b="14148"/>
          <a:stretch/>
        </p:blipFill>
        <p:spPr>
          <a:xfrm>
            <a:off x="930467" y="428625"/>
            <a:ext cx="10642553" cy="5857875"/>
          </a:xfrm>
          <a:prstGeom prst="rect">
            <a:avLst/>
          </a:prstGeom>
        </p:spPr>
      </p:pic>
    </p:spTree>
    <p:extLst>
      <p:ext uri="{BB962C8B-B14F-4D97-AF65-F5344CB8AC3E}">
        <p14:creationId xmlns:p14="http://schemas.microsoft.com/office/powerpoint/2010/main" val="598264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64101436-9198-49A3-9035-D5C80C7B2FC3}"/>
              </a:ext>
            </a:extLst>
          </p:cNvPr>
          <p:cNvPicPr>
            <a:picLocks noChangeAspect="1"/>
          </p:cNvPicPr>
          <p:nvPr/>
        </p:nvPicPr>
        <p:blipFill rotWithShape="1">
          <a:blip r:embed="rId2"/>
          <a:srcRect l="20860" t="26447" r="22773" b="23609"/>
          <a:stretch/>
        </p:blipFill>
        <p:spPr>
          <a:xfrm>
            <a:off x="1640114" y="948456"/>
            <a:ext cx="9298724" cy="4632330"/>
          </a:xfrm>
          <a:prstGeom prst="rect">
            <a:avLst/>
          </a:prstGeom>
        </p:spPr>
      </p:pic>
      <p:sp>
        <p:nvSpPr>
          <p:cNvPr id="3" name="Rectángulo 2">
            <a:extLst>
              <a:ext uri="{FF2B5EF4-FFF2-40B4-BE49-F238E27FC236}">
                <a16:creationId xmlns:a16="http://schemas.microsoft.com/office/drawing/2014/main" id="{D5F45CD2-8288-42B9-A246-7B7FA0038E83}"/>
              </a:ext>
            </a:extLst>
          </p:cNvPr>
          <p:cNvSpPr/>
          <p:nvPr/>
        </p:nvSpPr>
        <p:spPr>
          <a:xfrm>
            <a:off x="642939" y="5580786"/>
            <a:ext cx="10716814" cy="1200329"/>
          </a:xfrm>
          <a:prstGeom prst="rect">
            <a:avLst/>
          </a:prstGeom>
        </p:spPr>
        <p:txBody>
          <a:bodyPr wrap="square">
            <a:spAutoFit/>
          </a:bodyPr>
          <a:lstStyle/>
          <a:p>
            <a:pPr algn="just"/>
            <a:r>
              <a:rPr lang="es-MX" b="1" dirty="0">
                <a:latin typeface="Arial" panose="020B0604020202020204" pitchFamily="34" charset="0"/>
                <a:cs typeface="Arial" panose="020B0604020202020204" pitchFamily="34" charset="0"/>
              </a:rPr>
              <a:t>Los temas propuestos por la SEP surgen de las opiniones expresadas por maestras y maestros, recabadas mediante el seguimiento nacional que la Dirección General de Gestión Escolar y Enfoque Territorial realizó en una muestra de escuelas de educación básica durante el ciclo escolar 2025-2026.</a:t>
            </a:r>
          </a:p>
        </p:txBody>
      </p:sp>
      <p:pic>
        <p:nvPicPr>
          <p:cNvPr id="5" name="Imagen 4">
            <a:extLst>
              <a:ext uri="{FF2B5EF4-FFF2-40B4-BE49-F238E27FC236}">
                <a16:creationId xmlns:a16="http://schemas.microsoft.com/office/drawing/2014/main" id="{231F9464-445C-D653-F7FB-E5D1EFCA456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461468" cy="91642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0455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0F5BEAC-E8C1-4B39-8FC8-D0A7D76C092D}"/>
              </a:ext>
            </a:extLst>
          </p:cNvPr>
          <p:cNvPicPr>
            <a:picLocks noChangeAspect="1"/>
          </p:cNvPicPr>
          <p:nvPr/>
        </p:nvPicPr>
        <p:blipFill rotWithShape="1">
          <a:blip r:embed="rId2"/>
          <a:srcRect l="19688" t="38329" r="28164" b="5811"/>
          <a:stretch/>
        </p:blipFill>
        <p:spPr>
          <a:xfrm>
            <a:off x="1090309" y="414337"/>
            <a:ext cx="10011381" cy="6029325"/>
          </a:xfrm>
          <a:prstGeom prst="rect">
            <a:avLst/>
          </a:prstGeom>
        </p:spPr>
      </p:pic>
    </p:spTree>
    <p:extLst>
      <p:ext uri="{BB962C8B-B14F-4D97-AF65-F5344CB8AC3E}">
        <p14:creationId xmlns:p14="http://schemas.microsoft.com/office/powerpoint/2010/main" val="12534124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49B651F3-4EF8-4E6F-B1F1-BD9C94959887}"/>
              </a:ext>
            </a:extLst>
          </p:cNvPr>
          <p:cNvPicPr>
            <a:picLocks noChangeAspect="1"/>
          </p:cNvPicPr>
          <p:nvPr/>
        </p:nvPicPr>
        <p:blipFill rotWithShape="1">
          <a:blip r:embed="rId2"/>
          <a:srcRect l="20039" t="27072" r="22071" b="23945"/>
          <a:stretch/>
        </p:blipFill>
        <p:spPr>
          <a:xfrm>
            <a:off x="1760422" y="957489"/>
            <a:ext cx="9650616" cy="4943021"/>
          </a:xfrm>
          <a:prstGeom prst="rect">
            <a:avLst/>
          </a:prstGeom>
        </p:spPr>
      </p:pic>
      <p:pic>
        <p:nvPicPr>
          <p:cNvPr id="4" name="Imagen 3">
            <a:extLst>
              <a:ext uri="{FF2B5EF4-FFF2-40B4-BE49-F238E27FC236}">
                <a16:creationId xmlns:a16="http://schemas.microsoft.com/office/drawing/2014/main" id="{0380B871-0AC1-D0C7-D309-4DE714C9C18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711561" y="119002"/>
            <a:ext cx="4997010" cy="838487"/>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6" name="Imagen 5" descr="Imagen que contiene Texto&#10;&#10;El contenido generado por IA puede ser incorrecto.">
            <a:extLst>
              <a:ext uri="{FF2B5EF4-FFF2-40B4-BE49-F238E27FC236}">
                <a16:creationId xmlns:a16="http://schemas.microsoft.com/office/drawing/2014/main" id="{1EDE98BA-4B78-363A-3C86-1DEF8409B0EB}"/>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33886661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A471C9C7-5356-2C3B-7F70-2C872E10AD3B}"/>
              </a:ext>
            </a:extLst>
          </p:cNvPr>
          <p:cNvGrpSpPr/>
          <p:nvPr/>
        </p:nvGrpSpPr>
        <p:grpSpPr>
          <a:xfrm>
            <a:off x="500065" y="1429789"/>
            <a:ext cx="4354568" cy="3000855"/>
            <a:chOff x="500065" y="501581"/>
            <a:chExt cx="4400548" cy="3929063"/>
          </a:xfrm>
        </p:grpSpPr>
        <p:pic>
          <p:nvPicPr>
            <p:cNvPr id="1026" name="Picture 2" descr="https://img.freepik.com/vector-premium/cuaderno-arte-abierto-dibujos-animados-vector-vuelta-escuela_277625-1969.jpg?w=1380">
              <a:extLst>
                <a:ext uri="{FF2B5EF4-FFF2-40B4-BE49-F238E27FC236}">
                  <a16:creationId xmlns:a16="http://schemas.microsoft.com/office/drawing/2014/main" id="{D69978DE-72D1-4E07-8983-14B4A3C87D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319" t="9584" r="16597" b="9584"/>
            <a:stretch/>
          </p:blipFill>
          <p:spPr bwMode="auto">
            <a:xfrm>
              <a:off x="500065" y="501581"/>
              <a:ext cx="4400548" cy="3929063"/>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C11FD7BA-CD3D-4F8B-9DAC-A04BA5380E38}"/>
                </a:ext>
              </a:extLst>
            </p:cNvPr>
            <p:cNvSpPr txBox="1"/>
            <p:nvPr/>
          </p:nvSpPr>
          <p:spPr>
            <a:xfrm>
              <a:off x="1404937" y="757952"/>
              <a:ext cx="3121819" cy="2554545"/>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La autonomía profesional para las escuelas multigrado implica también la posibilidad de seleccionar, adaptar, combinar o desarrollar estrategias y materiales que respondan a la organización de su grupo, las características del territorio y las trayectorias de aprendizaje de sus estudiantes.</a:t>
              </a:r>
            </a:p>
          </p:txBody>
        </p:sp>
      </p:grpSp>
      <p:sp>
        <p:nvSpPr>
          <p:cNvPr id="3" name="Rectángulo 2">
            <a:extLst>
              <a:ext uri="{FF2B5EF4-FFF2-40B4-BE49-F238E27FC236}">
                <a16:creationId xmlns:a16="http://schemas.microsoft.com/office/drawing/2014/main" id="{AFFAC7C5-F73D-43A9-85FE-26096A17BFCF}"/>
              </a:ext>
            </a:extLst>
          </p:cNvPr>
          <p:cNvSpPr/>
          <p:nvPr/>
        </p:nvSpPr>
        <p:spPr>
          <a:xfrm>
            <a:off x="5750050" y="1065891"/>
            <a:ext cx="5516450" cy="3728649"/>
          </a:xfrm>
          <a:prstGeom prst="rect">
            <a:avLst/>
          </a:prstGeom>
        </p:spPr>
        <p:txBody>
          <a:bodyPr wrap="square">
            <a:spAutoFit/>
          </a:bodyPr>
          <a:lstStyle/>
          <a:p>
            <a:pPr algn="just">
              <a:lnSpc>
                <a:spcPct val="150000"/>
              </a:lnSpc>
            </a:pPr>
            <a:r>
              <a:rPr lang="es-MX" sz="2000" dirty="0">
                <a:latin typeface="Arial" panose="020B0604020202020204" pitchFamily="34" charset="0"/>
                <a:cs typeface="Arial" panose="020B0604020202020204" pitchFamily="34" charset="0"/>
              </a:rPr>
              <a:t>Esta propuesta busca generar mayores condiciones para el ejercicio de la autonomía profesional, brindar mayor flexibilidad a los colectivos docentes para abordar los asuntos pedagógicos más relevantes de acuerdo con su realidad y contexto, y ampliar las oportunidades para profundizar en los temas que consideren prioritarios.</a:t>
            </a:r>
          </a:p>
        </p:txBody>
      </p:sp>
      <p:sp>
        <p:nvSpPr>
          <p:cNvPr id="5" name="Rectángulo 4">
            <a:extLst>
              <a:ext uri="{FF2B5EF4-FFF2-40B4-BE49-F238E27FC236}">
                <a16:creationId xmlns:a16="http://schemas.microsoft.com/office/drawing/2014/main" id="{4659CFA2-2653-485B-815F-8F80FC751F79}"/>
              </a:ext>
            </a:extLst>
          </p:cNvPr>
          <p:cNvSpPr/>
          <p:nvPr/>
        </p:nvSpPr>
        <p:spPr>
          <a:xfrm>
            <a:off x="1021556" y="4863199"/>
            <a:ext cx="9836944" cy="769441"/>
          </a:xfrm>
          <a:prstGeom prst="rect">
            <a:avLst/>
          </a:prstGeom>
        </p:spPr>
        <p:txBody>
          <a:bodyPr wrap="square">
            <a:spAutoFit/>
          </a:bodyPr>
          <a:lstStyle/>
          <a:p>
            <a:pPr algn="ctr"/>
            <a:r>
              <a:rPr lang="es-MX" sz="2200" b="1" dirty="0">
                <a:solidFill>
                  <a:srgbClr val="C00000"/>
                </a:solidFill>
                <a:latin typeface="Arial" panose="020B0604020202020204" pitchFamily="34" charset="0"/>
                <a:cs typeface="Arial" panose="020B0604020202020204" pitchFamily="34" charset="0"/>
              </a:rPr>
              <a:t>Les invitamos a construir un Itinerario propio, pertinente y significativo, diseñado por y para ustedes.</a:t>
            </a:r>
            <a:endParaRPr lang="es-MX" sz="2200" dirty="0">
              <a:solidFill>
                <a:srgbClr val="C00000"/>
              </a:solidFill>
              <a:latin typeface="Arial" panose="020B0604020202020204" pitchFamily="34" charset="0"/>
              <a:cs typeface="Arial" panose="020B0604020202020204" pitchFamily="34" charset="0"/>
            </a:endParaRPr>
          </a:p>
        </p:txBody>
      </p:sp>
      <p:pic>
        <p:nvPicPr>
          <p:cNvPr id="7" name="Imagen 6" descr="Imagen que contiene Texto&#10;&#10;El contenido generado por IA puede ser incorrecto.">
            <a:extLst>
              <a:ext uri="{FF2B5EF4-FFF2-40B4-BE49-F238E27FC236}">
                <a16:creationId xmlns:a16="http://schemas.microsoft.com/office/drawing/2014/main" id="{A7AB5D31-0D0C-CA71-F743-0F27DB939567}"/>
              </a:ext>
            </a:extLst>
          </p:cNvPr>
          <p:cNvPicPr>
            <a:picLocks noChangeAspect="1"/>
          </p:cNvPicPr>
          <p:nvPr/>
        </p:nvPicPr>
        <p:blipFill>
          <a:blip r:embed="rId3">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9" name="Imagen 8">
            <a:extLst>
              <a:ext uri="{FF2B5EF4-FFF2-40B4-BE49-F238E27FC236}">
                <a16:creationId xmlns:a16="http://schemas.microsoft.com/office/drawing/2014/main" id="{54AA1687-35EE-B12C-7F19-4BFB396C143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461468" cy="916422"/>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392268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FBBB7FB2-5350-4356-8460-CAB4A64E0EE3}"/>
              </a:ext>
            </a:extLst>
          </p:cNvPr>
          <p:cNvPicPr>
            <a:picLocks noChangeAspect="1"/>
          </p:cNvPicPr>
          <p:nvPr/>
        </p:nvPicPr>
        <p:blipFill rotWithShape="1">
          <a:blip r:embed="rId2"/>
          <a:srcRect l="14414" t="27280" r="25000" b="26030"/>
          <a:stretch/>
        </p:blipFill>
        <p:spPr>
          <a:xfrm>
            <a:off x="723258" y="1280773"/>
            <a:ext cx="10745484" cy="4655683"/>
          </a:xfrm>
          <a:prstGeom prst="rect">
            <a:avLst/>
          </a:prstGeom>
        </p:spPr>
      </p:pic>
      <p:pic>
        <p:nvPicPr>
          <p:cNvPr id="4" name="Imagen 3">
            <a:extLst>
              <a:ext uri="{FF2B5EF4-FFF2-40B4-BE49-F238E27FC236}">
                <a16:creationId xmlns:a16="http://schemas.microsoft.com/office/drawing/2014/main" id="{DB1DB1F2-6B49-BF19-285A-5A44CC24521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93718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7A43F8B-7E6B-43D6-B0E6-AB7A14690BB3}"/>
              </a:ext>
            </a:extLst>
          </p:cNvPr>
          <p:cNvPicPr>
            <a:picLocks noChangeAspect="1"/>
          </p:cNvPicPr>
          <p:nvPr/>
        </p:nvPicPr>
        <p:blipFill rotWithShape="1">
          <a:blip r:embed="rId2"/>
          <a:srcRect l="14414" t="77096" r="65078" b="14150"/>
          <a:stretch/>
        </p:blipFill>
        <p:spPr>
          <a:xfrm>
            <a:off x="754856" y="1605189"/>
            <a:ext cx="3171825" cy="761238"/>
          </a:xfrm>
          <a:prstGeom prst="rect">
            <a:avLst/>
          </a:prstGeom>
        </p:spPr>
      </p:pic>
      <p:sp>
        <p:nvSpPr>
          <p:cNvPr id="3" name="Rectángulo 2">
            <a:extLst>
              <a:ext uri="{FF2B5EF4-FFF2-40B4-BE49-F238E27FC236}">
                <a16:creationId xmlns:a16="http://schemas.microsoft.com/office/drawing/2014/main" id="{4B1C6034-E4EB-4137-9C88-5D9C90564580}"/>
              </a:ext>
            </a:extLst>
          </p:cNvPr>
          <p:cNvSpPr/>
          <p:nvPr/>
        </p:nvSpPr>
        <p:spPr>
          <a:xfrm>
            <a:off x="754856" y="3146403"/>
            <a:ext cx="10682287" cy="1077218"/>
          </a:xfrm>
          <a:prstGeom prst="rect">
            <a:avLst/>
          </a:prstGeom>
        </p:spPr>
        <p:txBody>
          <a:bodyPr wrap="square">
            <a:spAutoFit/>
          </a:bodyPr>
          <a:lstStyle/>
          <a:p>
            <a:pPr algn="just"/>
            <a:r>
              <a:rPr lang="es-MX" sz="1600" dirty="0">
                <a:solidFill>
                  <a:srgbClr val="000000"/>
                </a:solidFill>
                <a:latin typeface="Arial" panose="020B0604020202020204" pitchFamily="34" charset="0"/>
                <a:cs typeface="Arial" panose="020B0604020202020204" pitchFamily="34" charset="0"/>
              </a:rPr>
              <a:t>SEP. Secretaría de Educación Pública. (2024). </a:t>
            </a:r>
            <a:r>
              <a:rPr lang="es-MX" sz="1600" i="1" dirty="0">
                <a:solidFill>
                  <a:srgbClr val="000000"/>
                </a:solidFill>
                <a:latin typeface="Arial" panose="020B0604020202020204" pitchFamily="34" charset="0"/>
                <a:cs typeface="Arial" panose="020B0604020202020204" pitchFamily="34" charset="0"/>
              </a:rPr>
              <a:t>El Proceso de Mejora Continua. Orientaciones para las escuelas de Educación Básica</a:t>
            </a:r>
            <a:r>
              <a:rPr lang="es-MX" sz="1600" dirty="0">
                <a:solidFill>
                  <a:srgbClr val="000000"/>
                </a:solidFill>
                <a:latin typeface="Arial" panose="020B0604020202020204" pitchFamily="34" charset="0"/>
                <a:cs typeface="Arial" panose="020B0604020202020204" pitchFamily="34" charset="0"/>
              </a:rPr>
              <a:t>.</a:t>
            </a:r>
          </a:p>
          <a:p>
            <a:pPr algn="just"/>
            <a:r>
              <a:rPr lang="es-MX" sz="1600" dirty="0">
                <a:solidFill>
                  <a:srgbClr val="255C4E"/>
                </a:solidFill>
                <a:latin typeface="Arial" panose="020B0604020202020204" pitchFamily="34" charset="0"/>
                <a:cs typeface="Arial" panose="020B0604020202020204" pitchFamily="34" charset="0"/>
              </a:rPr>
              <a:t>https://gestion.cte.sep.gob.mx/insumos/docs/2425_s0_insumos_direc_proceso_mejora_continua.pdf?1785941790894</a:t>
            </a:r>
            <a:endParaRPr lang="es-MX" sz="16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2D399E93-5AF7-F1AA-8C0B-67B8671A0F9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8" name="Imagen 7" descr="Imagen que contiene Texto&#10;&#10;El contenido generado por IA puede ser incorrecto.">
            <a:extLst>
              <a:ext uri="{FF2B5EF4-FFF2-40B4-BE49-F238E27FC236}">
                <a16:creationId xmlns:a16="http://schemas.microsoft.com/office/drawing/2014/main" id="{B6235C93-C447-BC7B-F07C-1FB3126D1C44}"/>
              </a:ext>
            </a:extLst>
          </p:cNvPr>
          <p:cNvPicPr>
            <a:picLocks noChangeAspect="1"/>
          </p:cNvPicPr>
          <p:nvPr/>
        </p:nvPicPr>
        <p:blipFill>
          <a:blip r:embed="rId5">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extLst>
      <p:ext uri="{BB962C8B-B14F-4D97-AF65-F5344CB8AC3E}">
        <p14:creationId xmlns:p14="http://schemas.microsoft.com/office/powerpoint/2010/main" val="1299888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30380" y="4699099"/>
            <a:ext cx="4252019" cy="962025"/>
          </a:xfrm>
          <a:prstGeom prst="roundRect">
            <a:avLst>
              <a:gd name="adj" fmla="val 11881"/>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2"/>
          <a:stretch>
            <a:fillRect/>
          </a:stretch>
        </p:blipFill>
        <p:spPr>
          <a:xfrm>
            <a:off x="7330380" y="2070199"/>
            <a:ext cx="4252019" cy="2476500"/>
          </a:xfrm>
          <a:prstGeom prst="rect">
            <a:avLst/>
          </a:prstGeom>
        </p:spPr>
      </p:pic>
      <p:sp>
        <p:nvSpPr>
          <p:cNvPr id="17" name="TextBox 16"/>
          <p:cNvSpPr txBox="1"/>
          <p:nvPr/>
        </p:nvSpPr>
        <p:spPr>
          <a:xfrm>
            <a:off x="4160044" y="1432312"/>
            <a:ext cx="3871912" cy="492443"/>
          </a:xfrm>
          <a:prstGeom prst="rect">
            <a:avLst/>
          </a:prstGeom>
          <a:noFill/>
        </p:spPr>
        <p:txBody>
          <a:bodyPr wrap="square" lIns="0" tIns="0" rIns="0" bIns="0" anchor="t">
            <a:spAutoFit/>
          </a:bodyPr>
          <a:lstStyle/>
          <a:p>
            <a:pPr algn="l"/>
            <a:r>
              <a:rPr lang="es-MX" sz="1600" b="0" i="0" u="none" noProof="0" dirty="0">
                <a:solidFill>
                  <a:srgbClr val="3399FF"/>
                </a:solidFill>
                <a:latin typeface="Plus Jakarta Sans"/>
              </a:rPr>
              <a:t>Recurso pedagógico y ético para transformar la convivencia en los contextos escolares.</a:t>
            </a:r>
          </a:p>
        </p:txBody>
      </p:sp>
      <p:sp>
        <p:nvSpPr>
          <p:cNvPr id="18" name="TextBox 17"/>
          <p:cNvSpPr txBox="1"/>
          <p:nvPr/>
        </p:nvSpPr>
        <p:spPr>
          <a:xfrm>
            <a:off x="8196745" y="5451574"/>
            <a:ext cx="2619307" cy="161583"/>
          </a:xfrm>
          <a:prstGeom prst="rect">
            <a:avLst/>
          </a:prstGeom>
          <a:noFill/>
        </p:spPr>
        <p:txBody>
          <a:bodyPr wrap="none" lIns="0" tIns="0" rIns="0" bIns="0" anchor="t">
            <a:spAutoFit/>
          </a:bodyPr>
          <a:lstStyle/>
          <a:p>
            <a:pPr algn="l"/>
            <a:r>
              <a:rPr sz="1050" b="0" i="0" u="none" dirty="0">
                <a:latin typeface="Plus Jakarta Sans"/>
              </a:rPr>
              <a:t>Plan de </a:t>
            </a:r>
            <a:r>
              <a:rPr sz="1050" b="0" i="0" u="none" dirty="0" err="1">
                <a:latin typeface="Plus Jakarta Sans"/>
              </a:rPr>
              <a:t>Estudio</a:t>
            </a:r>
            <a:r>
              <a:rPr sz="1050" b="0" i="0" u="none" dirty="0">
                <a:latin typeface="Plus Jakarta Sans"/>
              </a:rPr>
              <a:t> 2022 • Nueva Escuela Mexicana</a:t>
            </a:r>
          </a:p>
        </p:txBody>
      </p:sp>
      <p:sp>
        <p:nvSpPr>
          <p:cNvPr id="20" name="TextBox 19"/>
          <p:cNvSpPr txBox="1"/>
          <p:nvPr/>
        </p:nvSpPr>
        <p:spPr>
          <a:xfrm>
            <a:off x="7037003" y="4889599"/>
            <a:ext cx="4838774" cy="342900"/>
          </a:xfrm>
          <a:prstGeom prst="rect">
            <a:avLst/>
          </a:prstGeom>
          <a:noFill/>
        </p:spPr>
        <p:txBody>
          <a:bodyPr wrap="none" lIns="0" tIns="0" rIns="0" bIns="0" anchor="t">
            <a:spAutoFit/>
          </a:bodyPr>
          <a:lstStyle/>
          <a:p>
            <a:pPr algn="ctr">
              <a:lnSpc>
                <a:spcPts val="2700"/>
              </a:lnSpc>
            </a:pPr>
            <a:r>
              <a:rPr sz="2700" b="1" i="0" u="none">
                <a:solidFill>
                  <a:srgbClr val="062319"/>
                </a:solidFill>
                <a:latin typeface="Plus Jakarta Sans"/>
              </a:rPr>
              <a:t>64 Experiencias</a:t>
            </a:r>
          </a:p>
        </p:txBody>
      </p:sp>
      <p:sp>
        <p:nvSpPr>
          <p:cNvPr id="21" name="TextBox 20"/>
          <p:cNvSpPr txBox="1"/>
          <p:nvPr/>
        </p:nvSpPr>
        <p:spPr>
          <a:xfrm>
            <a:off x="7037003" y="5289649"/>
            <a:ext cx="4838774" cy="180975"/>
          </a:xfrm>
          <a:prstGeom prst="rect">
            <a:avLst/>
          </a:prstGeom>
          <a:noFill/>
        </p:spPr>
        <p:txBody>
          <a:bodyPr wrap="none" lIns="0" tIns="0" rIns="0" bIns="0" anchor="t">
            <a:spAutoFit/>
          </a:bodyPr>
          <a:lstStyle/>
          <a:p>
            <a:pPr algn="ctr"/>
            <a:r>
              <a:rPr sz="1125" b="1" i="0" u="none">
                <a:solidFill>
                  <a:srgbClr val="062319"/>
                </a:solidFill>
                <a:latin typeface="Plus Jakarta Sans"/>
              </a:rPr>
              <a:t>Preescolar • Primaria • Secundaria</a:t>
            </a:r>
          </a:p>
        </p:txBody>
      </p:sp>
      <p:sp>
        <p:nvSpPr>
          <p:cNvPr id="24" name="TextBox 23"/>
          <p:cNvSpPr txBox="1"/>
          <p:nvPr/>
        </p:nvSpPr>
        <p:spPr>
          <a:xfrm>
            <a:off x="1400175" y="3646586"/>
            <a:ext cx="5738217" cy="219075"/>
          </a:xfrm>
          <a:prstGeom prst="rect">
            <a:avLst/>
          </a:prstGeom>
          <a:noFill/>
        </p:spPr>
        <p:txBody>
          <a:bodyPr wrap="none" lIns="0" tIns="0" rIns="0" bIns="0" anchor="t">
            <a:spAutoFit/>
          </a:bodyPr>
          <a:lstStyle/>
          <a:p>
            <a:pPr algn="l"/>
            <a:r>
              <a:rPr sz="1350" b="1" i="0" u="none">
                <a:solidFill>
                  <a:srgbClr val="FFFFFF"/>
                </a:solidFill>
                <a:latin typeface="Plus Jakarta Sans"/>
              </a:rPr>
              <a:t>Autonomía y Codiseño</a:t>
            </a:r>
          </a:p>
        </p:txBody>
      </p:sp>
      <p:grpSp>
        <p:nvGrpSpPr>
          <p:cNvPr id="30" name="Grupo 29">
            <a:extLst>
              <a:ext uri="{FF2B5EF4-FFF2-40B4-BE49-F238E27FC236}">
                <a16:creationId xmlns:a16="http://schemas.microsoft.com/office/drawing/2014/main" id="{99131AC0-61D1-A60E-B459-4854C7445B05}"/>
              </a:ext>
            </a:extLst>
          </p:cNvPr>
          <p:cNvGrpSpPr/>
          <p:nvPr/>
        </p:nvGrpSpPr>
        <p:grpSpPr>
          <a:xfrm>
            <a:off x="519318" y="3046944"/>
            <a:ext cx="6377880" cy="2743200"/>
            <a:chOff x="609600" y="2494061"/>
            <a:chExt cx="6377880" cy="2743200"/>
          </a:xfrm>
        </p:grpSpPr>
        <p:sp>
          <p:nvSpPr>
            <p:cNvPr id="4" name="Rounded Rectangle 3"/>
            <p:cNvSpPr/>
            <p:nvPr/>
          </p:nvSpPr>
          <p:spPr>
            <a:xfrm>
              <a:off x="609600" y="2494061"/>
              <a:ext cx="6377880" cy="800100"/>
            </a:xfrm>
            <a:prstGeom prst="roundRect">
              <a:avLst>
                <a:gd name="adj" fmla="val 14285"/>
              </a:avLst>
            </a:prstGeom>
            <a:solidFill>
              <a:srgbClr val="153027"/>
            </a:solidFill>
            <a:ln w="9525">
              <a:solidFill>
                <a:srgbClr val="243D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3465611"/>
              <a:ext cx="6377880" cy="800100"/>
            </a:xfrm>
            <a:prstGeom prst="roundRect">
              <a:avLst>
                <a:gd name="adj" fmla="val 14285"/>
              </a:avLst>
            </a:prstGeom>
            <a:solidFill>
              <a:srgbClr val="153027"/>
            </a:solidFill>
            <a:ln w="9525">
              <a:solidFill>
                <a:srgbClr val="243D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437161"/>
              <a:ext cx="6377880" cy="800100"/>
            </a:xfrm>
            <a:prstGeom prst="roundRect">
              <a:avLst>
                <a:gd name="adj" fmla="val 14285"/>
              </a:avLst>
            </a:prstGeom>
            <a:solidFill>
              <a:srgbClr val="153027"/>
            </a:solidFill>
            <a:ln w="9525">
              <a:solidFill>
                <a:srgbClr val="243D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828675" y="2684561"/>
              <a:ext cx="419100" cy="419100"/>
            </a:xfrm>
            <a:prstGeom prst="rect">
              <a:avLst/>
            </a:prstGeom>
          </p:spPr>
        </p:pic>
        <p:pic>
          <p:nvPicPr>
            <p:cNvPr id="9" name="Picture 8" descr="image.png"/>
            <p:cNvPicPr>
              <a:picLocks noChangeAspect="1"/>
            </p:cNvPicPr>
            <p:nvPr/>
          </p:nvPicPr>
          <p:blipFill>
            <a:blip r:embed="rId4"/>
            <a:stretch>
              <a:fillRect/>
            </a:stretch>
          </p:blipFill>
          <p:spPr>
            <a:xfrm>
              <a:off x="828675" y="3656111"/>
              <a:ext cx="419100" cy="419100"/>
            </a:xfrm>
            <a:prstGeom prst="rect">
              <a:avLst/>
            </a:prstGeom>
          </p:spPr>
        </p:pic>
        <p:pic>
          <p:nvPicPr>
            <p:cNvPr id="10" name="Picture 9" descr="image.png"/>
            <p:cNvPicPr>
              <a:picLocks noChangeAspect="1"/>
            </p:cNvPicPr>
            <p:nvPr/>
          </p:nvPicPr>
          <p:blipFill>
            <a:blip r:embed="rId5"/>
            <a:stretch>
              <a:fillRect/>
            </a:stretch>
          </p:blipFill>
          <p:spPr>
            <a:xfrm>
              <a:off x="828675" y="4627661"/>
              <a:ext cx="419100" cy="419100"/>
            </a:xfrm>
            <a:prstGeom prst="rect">
              <a:avLst/>
            </a:prstGeom>
          </p:spPr>
        </p:pic>
        <p:pic>
          <p:nvPicPr>
            <p:cNvPr id="12" name="Picture 11" descr="image.png"/>
            <p:cNvPicPr>
              <a:picLocks noChangeAspect="1"/>
            </p:cNvPicPr>
            <p:nvPr/>
          </p:nvPicPr>
          <p:blipFill>
            <a:blip r:embed="rId6"/>
            <a:stretch>
              <a:fillRect/>
            </a:stretch>
          </p:blipFill>
          <p:spPr>
            <a:xfrm>
              <a:off x="928687" y="2798861"/>
              <a:ext cx="219075" cy="190500"/>
            </a:xfrm>
            <a:prstGeom prst="rect">
              <a:avLst/>
            </a:prstGeom>
          </p:spPr>
        </p:pic>
        <p:pic>
          <p:nvPicPr>
            <p:cNvPr id="13" name="Picture 12" descr="image.png"/>
            <p:cNvPicPr>
              <a:picLocks noChangeAspect="1"/>
            </p:cNvPicPr>
            <p:nvPr/>
          </p:nvPicPr>
          <p:blipFill>
            <a:blip r:embed="rId7"/>
            <a:stretch>
              <a:fillRect/>
            </a:stretch>
          </p:blipFill>
          <p:spPr>
            <a:xfrm>
              <a:off x="942975" y="3770411"/>
              <a:ext cx="190500" cy="190500"/>
            </a:xfrm>
            <a:prstGeom prst="rect">
              <a:avLst/>
            </a:prstGeom>
          </p:spPr>
        </p:pic>
        <p:pic>
          <p:nvPicPr>
            <p:cNvPr id="14" name="Picture 13" descr="image.png"/>
            <p:cNvPicPr>
              <a:picLocks noChangeAspect="1"/>
            </p:cNvPicPr>
            <p:nvPr/>
          </p:nvPicPr>
          <p:blipFill>
            <a:blip r:embed="rId8"/>
            <a:stretch>
              <a:fillRect/>
            </a:stretch>
          </p:blipFill>
          <p:spPr>
            <a:xfrm>
              <a:off x="919162" y="4741961"/>
              <a:ext cx="238125" cy="190500"/>
            </a:xfrm>
            <a:prstGeom prst="rect">
              <a:avLst/>
            </a:prstGeom>
          </p:spPr>
        </p:pic>
        <p:sp>
          <p:nvSpPr>
            <p:cNvPr id="22" name="TextBox 21"/>
            <p:cNvSpPr txBox="1"/>
            <p:nvPr/>
          </p:nvSpPr>
          <p:spPr>
            <a:xfrm>
              <a:off x="1400175" y="2675036"/>
              <a:ext cx="5450681" cy="219075"/>
            </a:xfrm>
            <a:prstGeom prst="rect">
              <a:avLst/>
            </a:prstGeom>
            <a:noFill/>
          </p:spPr>
          <p:txBody>
            <a:bodyPr wrap="none" lIns="0" tIns="0" rIns="0" bIns="0" anchor="t">
              <a:spAutoFit/>
            </a:bodyPr>
            <a:lstStyle/>
            <a:p>
              <a:pPr algn="l"/>
              <a:r>
                <a:rPr sz="1350" b="1" i="0" u="none">
                  <a:solidFill>
                    <a:srgbClr val="FFFFFF"/>
                  </a:solidFill>
                  <a:latin typeface="Plus Jakarta Sans"/>
                </a:rPr>
                <a:t>Postura Pedagógica y Ética</a:t>
              </a:r>
            </a:p>
          </p:txBody>
        </p:sp>
        <p:sp>
          <p:nvSpPr>
            <p:cNvPr id="23" name="TextBox 22"/>
            <p:cNvSpPr txBox="1"/>
            <p:nvPr/>
          </p:nvSpPr>
          <p:spPr>
            <a:xfrm>
              <a:off x="1400175" y="2932211"/>
              <a:ext cx="5191125" cy="180975"/>
            </a:xfrm>
            <a:prstGeom prst="rect">
              <a:avLst/>
            </a:prstGeom>
            <a:noFill/>
          </p:spPr>
          <p:txBody>
            <a:bodyPr wrap="none" lIns="0" tIns="0" rIns="0" bIns="0" anchor="t">
              <a:spAutoFit/>
            </a:bodyPr>
            <a:lstStyle/>
            <a:p>
              <a:pPr algn="l"/>
              <a:r>
                <a:rPr sz="1125" b="0" i="0" u="none">
                  <a:solidFill>
                    <a:srgbClr val="94A3B8"/>
                  </a:solidFill>
                  <a:latin typeface="Plus Jakarta Sans"/>
                </a:rPr>
                <a:t>Paz vivencial centrada en la dignidad humana y justicia social.</a:t>
              </a:r>
            </a:p>
          </p:txBody>
        </p:sp>
        <p:sp>
          <p:nvSpPr>
            <p:cNvPr id="25" name="TextBox 24"/>
            <p:cNvSpPr txBox="1"/>
            <p:nvPr/>
          </p:nvSpPr>
          <p:spPr>
            <a:xfrm>
              <a:off x="1400175" y="3903761"/>
              <a:ext cx="5464968" cy="180975"/>
            </a:xfrm>
            <a:prstGeom prst="rect">
              <a:avLst/>
            </a:prstGeom>
            <a:noFill/>
          </p:spPr>
          <p:txBody>
            <a:bodyPr wrap="none" lIns="0" tIns="0" rIns="0" bIns="0" anchor="t">
              <a:spAutoFit/>
            </a:bodyPr>
            <a:lstStyle/>
            <a:p>
              <a:pPr algn="l"/>
              <a:r>
                <a:rPr sz="1125" b="0" i="0" u="none">
                  <a:solidFill>
                    <a:srgbClr val="94A3B8"/>
                  </a:solidFill>
                  <a:latin typeface="Plus Jakarta Sans"/>
                </a:rPr>
                <a:t>Propuestas adaptables a la realidad de cada colectivo docente.</a:t>
              </a:r>
            </a:p>
          </p:txBody>
        </p:sp>
        <p:sp>
          <p:nvSpPr>
            <p:cNvPr id="26" name="TextBox 25"/>
            <p:cNvSpPr txBox="1"/>
            <p:nvPr/>
          </p:nvSpPr>
          <p:spPr>
            <a:xfrm>
              <a:off x="1400175" y="4618136"/>
              <a:ext cx="5275659" cy="219075"/>
            </a:xfrm>
            <a:prstGeom prst="rect">
              <a:avLst/>
            </a:prstGeom>
            <a:noFill/>
          </p:spPr>
          <p:txBody>
            <a:bodyPr wrap="none" lIns="0" tIns="0" rIns="0" bIns="0" anchor="t">
              <a:spAutoFit/>
            </a:bodyPr>
            <a:lstStyle/>
            <a:p>
              <a:pPr algn="l"/>
              <a:r>
                <a:rPr sz="1350" b="1" i="0" u="none">
                  <a:solidFill>
                    <a:srgbClr val="FFFFFF"/>
                  </a:solidFill>
                  <a:latin typeface="Plus Jakarta Sans"/>
                </a:rPr>
                <a:t>Vínculo Escuela-Comunidad</a:t>
              </a:r>
            </a:p>
          </p:txBody>
        </p:sp>
        <p:sp>
          <p:nvSpPr>
            <p:cNvPr id="27" name="TextBox 26"/>
            <p:cNvSpPr txBox="1"/>
            <p:nvPr/>
          </p:nvSpPr>
          <p:spPr>
            <a:xfrm>
              <a:off x="1400175" y="4875311"/>
              <a:ext cx="5024437" cy="180975"/>
            </a:xfrm>
            <a:prstGeom prst="rect">
              <a:avLst/>
            </a:prstGeom>
            <a:noFill/>
          </p:spPr>
          <p:txBody>
            <a:bodyPr wrap="none" lIns="0" tIns="0" rIns="0" bIns="0" anchor="t">
              <a:spAutoFit/>
            </a:bodyPr>
            <a:lstStyle/>
            <a:p>
              <a:pPr algn="l"/>
              <a:r>
                <a:rPr sz="1125" b="0" i="0" u="none">
                  <a:solidFill>
                    <a:srgbClr val="94A3B8"/>
                  </a:solidFill>
                  <a:latin typeface="Plus Jakarta Sans"/>
                </a:rPr>
                <a:t>Corresponsabilidad activa con familias y entorno territorial.</a:t>
              </a:r>
            </a:p>
          </p:txBody>
        </p:sp>
      </p:grpSp>
      <p:pic>
        <p:nvPicPr>
          <p:cNvPr id="29" name="Imagen 28">
            <a:extLst>
              <a:ext uri="{FF2B5EF4-FFF2-40B4-BE49-F238E27FC236}">
                <a16:creationId xmlns:a16="http://schemas.microsoft.com/office/drawing/2014/main" id="{F4C8B8E5-1C3D-91B7-AF78-8099968BDBF3}"/>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25000"/>
                    </a14:imgEffect>
                  </a14:imgLayer>
                </a14:imgProps>
              </a:ext>
            </a:extLst>
          </a:blip>
          <a:srcRect l="30413" t="34439" r="53272" b="49577"/>
          <a:stretch>
            <a:fillRect/>
          </a:stretch>
        </p:blipFill>
        <p:spPr>
          <a:xfrm>
            <a:off x="192138" y="857768"/>
            <a:ext cx="3871912" cy="2078354"/>
          </a:xfrm>
          <a:prstGeom prst="rect">
            <a:avLst/>
          </a:prstGeom>
        </p:spPr>
      </p:pic>
      <p:pic>
        <p:nvPicPr>
          <p:cNvPr id="32" name="Imagen 31">
            <a:extLst>
              <a:ext uri="{FF2B5EF4-FFF2-40B4-BE49-F238E27FC236}">
                <a16:creationId xmlns:a16="http://schemas.microsoft.com/office/drawing/2014/main" id="{AE27BF4F-9A5E-9909-A5CF-447FF847BE20}"/>
              </a:ext>
            </a:extLst>
          </p:cNvPr>
          <p:cNvPicPr>
            <a:picLocks noChangeAspect="1"/>
          </p:cNvPicPr>
          <p:nvPr/>
        </p:nvPicPr>
        <p:blipFill>
          <a:blip r:embed="rId11">
            <a:extLst>
              <a:ext uri="{BEBA8EAE-BF5A-486C-A8C5-ECC9F3942E4B}">
                <a14:imgProps xmlns:a14="http://schemas.microsoft.com/office/drawing/2010/main">
                  <a14:imgLayer r:embed="rId12">
                    <a14:imgEffect>
                      <a14:sharpenSoften amount="25000"/>
                    </a14:imgEffect>
                    <a14:imgEffect>
                      <a14:colorTemperature colorTemp="7200"/>
                    </a14:imgEffect>
                  </a14:imgLayer>
                </a14:imgProps>
              </a:ext>
            </a:extLst>
          </a:blip>
          <a:stretch>
            <a:fillRect/>
          </a:stretch>
        </p:blipFill>
        <p:spPr>
          <a:xfrm>
            <a:off x="3599543" y="148742"/>
            <a:ext cx="5479606" cy="91946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34" name="Imagen 33" descr="Imagen que contiene Texto&#10;&#10;El contenido generado por IA puede ser incorrecto.">
            <a:extLst>
              <a:ext uri="{FF2B5EF4-FFF2-40B4-BE49-F238E27FC236}">
                <a16:creationId xmlns:a16="http://schemas.microsoft.com/office/drawing/2014/main" id="{834F6F7B-5C3D-AA1B-782F-A63CE6DB9CC6}"/>
              </a:ext>
            </a:extLst>
          </p:cNvPr>
          <p:cNvPicPr>
            <a:picLocks noChangeAspect="1"/>
          </p:cNvPicPr>
          <p:nvPr/>
        </p:nvPicPr>
        <p:blipFill>
          <a:blip r:embed="rId13">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609600" y="6086475"/>
            <a:ext cx="10972800" cy="3143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ounded Rectangle 2"/>
          <p:cNvSpPr/>
          <p:nvPr/>
        </p:nvSpPr>
        <p:spPr>
          <a:xfrm>
            <a:off x="609600" y="1264889"/>
            <a:ext cx="5572125" cy="3965601"/>
          </a:xfrm>
          <a:prstGeom prst="roundRect">
            <a:avLst>
              <a:gd name="adj" fmla="val 276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847725" y="5343525"/>
            <a:ext cx="5095875" cy="5048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ounded Rectangle 5"/>
          <p:cNvSpPr/>
          <p:nvPr/>
        </p:nvSpPr>
        <p:spPr>
          <a:xfrm>
            <a:off x="6486525" y="1264890"/>
            <a:ext cx="5095875" cy="714375"/>
          </a:xfrm>
          <a:prstGeom prst="roundRect">
            <a:avLst>
              <a:gd name="adj" fmla="val 1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ounded Rectangle 6"/>
          <p:cNvSpPr/>
          <p:nvPr/>
        </p:nvSpPr>
        <p:spPr>
          <a:xfrm>
            <a:off x="6486525" y="2633960"/>
            <a:ext cx="5095875" cy="714375"/>
          </a:xfrm>
          <a:prstGeom prst="roundRect">
            <a:avLst>
              <a:gd name="adj" fmla="val 1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ounded Rectangle 7"/>
          <p:cNvSpPr/>
          <p:nvPr/>
        </p:nvSpPr>
        <p:spPr>
          <a:xfrm>
            <a:off x="6486525" y="4003030"/>
            <a:ext cx="5095875" cy="714375"/>
          </a:xfrm>
          <a:prstGeom prst="roundRect">
            <a:avLst>
              <a:gd name="adj" fmla="val 1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ounded Rectangle 8"/>
          <p:cNvSpPr/>
          <p:nvPr/>
        </p:nvSpPr>
        <p:spPr>
          <a:xfrm>
            <a:off x="6486525" y="5372100"/>
            <a:ext cx="5095875" cy="714375"/>
          </a:xfrm>
          <a:prstGeom prst="roundRect">
            <a:avLst>
              <a:gd name="adj" fmla="val 1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p:cNvSpPr/>
          <p:nvPr/>
        </p:nvSpPr>
        <p:spPr>
          <a:xfrm>
            <a:off x="847725" y="5343525"/>
            <a:ext cx="5095875" cy="9525"/>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ounded Rectangle 10"/>
          <p:cNvSpPr/>
          <p:nvPr/>
        </p:nvSpPr>
        <p:spPr>
          <a:xfrm>
            <a:off x="6686550" y="1469677"/>
            <a:ext cx="304800" cy="304800"/>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ounded Rectangle 11"/>
          <p:cNvSpPr/>
          <p:nvPr/>
        </p:nvSpPr>
        <p:spPr>
          <a:xfrm>
            <a:off x="6686550" y="2838747"/>
            <a:ext cx="304800" cy="304800"/>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ounded Rectangle 12"/>
          <p:cNvSpPr/>
          <p:nvPr/>
        </p:nvSpPr>
        <p:spPr>
          <a:xfrm>
            <a:off x="6686550" y="4207817"/>
            <a:ext cx="304800" cy="304800"/>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ounded Rectangle 13"/>
          <p:cNvSpPr/>
          <p:nvPr/>
        </p:nvSpPr>
        <p:spPr>
          <a:xfrm>
            <a:off x="6686550" y="5576887"/>
            <a:ext cx="304800" cy="304800"/>
          </a:xfrm>
          <a:prstGeom prst="roundRect">
            <a:avLst>
              <a:gd name="adj" fmla="val 50000"/>
            </a:avLst>
          </a:prstGeom>
          <a:solidFill>
            <a:srgbClr val="04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Rounded Rectangle 14"/>
          <p:cNvSpPr/>
          <p:nvPr/>
        </p:nvSpPr>
        <p:spPr>
          <a:xfrm>
            <a:off x="847725" y="1874490"/>
            <a:ext cx="1590675"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Rounded Rectangle 15"/>
          <p:cNvSpPr/>
          <p:nvPr/>
        </p:nvSpPr>
        <p:spPr>
          <a:xfrm>
            <a:off x="2514600" y="1874490"/>
            <a:ext cx="2076450"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Rounded Rectangle 16"/>
          <p:cNvSpPr/>
          <p:nvPr/>
        </p:nvSpPr>
        <p:spPr>
          <a:xfrm>
            <a:off x="847725" y="2293590"/>
            <a:ext cx="2600325"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Rounded Rectangle 17"/>
          <p:cNvSpPr/>
          <p:nvPr/>
        </p:nvSpPr>
        <p:spPr>
          <a:xfrm>
            <a:off x="3524250" y="2293590"/>
            <a:ext cx="2066925"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Rounded Rectangle 18"/>
          <p:cNvSpPr/>
          <p:nvPr/>
        </p:nvSpPr>
        <p:spPr>
          <a:xfrm>
            <a:off x="847725" y="2712690"/>
            <a:ext cx="1619250"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ounded Rectangle 19"/>
          <p:cNvSpPr/>
          <p:nvPr/>
        </p:nvSpPr>
        <p:spPr>
          <a:xfrm>
            <a:off x="2543175" y="2712690"/>
            <a:ext cx="2466975"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Rounded Rectangle 20"/>
          <p:cNvSpPr/>
          <p:nvPr/>
        </p:nvSpPr>
        <p:spPr>
          <a:xfrm>
            <a:off x="847725" y="3131790"/>
            <a:ext cx="2124075" cy="342900"/>
          </a:xfrm>
          <a:prstGeom prst="roundRect">
            <a:avLst>
              <a:gd name="adj" fmla="val 2222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22" name="Picture 21" descr="image.png"/>
          <p:cNvPicPr>
            <a:picLocks noChangeAspect="1"/>
          </p:cNvPicPr>
          <p:nvPr/>
        </p:nvPicPr>
        <p:blipFill>
          <a:blip r:embed="rId2"/>
          <a:stretch>
            <a:fillRect/>
          </a:stretch>
        </p:blipFill>
        <p:spPr>
          <a:xfrm>
            <a:off x="847725" y="1526827"/>
            <a:ext cx="190500" cy="171450"/>
          </a:xfrm>
          <a:prstGeom prst="rect">
            <a:avLst/>
          </a:prstGeom>
        </p:spPr>
      </p:pic>
      <p:sp>
        <p:nvSpPr>
          <p:cNvPr id="23" name="TextBox 22"/>
          <p:cNvSpPr txBox="1"/>
          <p:nvPr/>
        </p:nvSpPr>
        <p:spPr>
          <a:xfrm>
            <a:off x="609600" y="457199"/>
            <a:ext cx="3726426" cy="161583"/>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ESTRUCTURA DIDÁCTICA Y APLICACIÓN EN AULA</a:t>
            </a:r>
          </a:p>
        </p:txBody>
      </p:sp>
      <p:sp>
        <p:nvSpPr>
          <p:cNvPr id="24" name="TextBox 23"/>
          <p:cNvSpPr txBox="1"/>
          <p:nvPr/>
        </p:nvSpPr>
        <p:spPr>
          <a:xfrm>
            <a:off x="609600" y="685800"/>
            <a:ext cx="7044813" cy="384529"/>
          </a:xfrm>
          <a:prstGeom prst="rect">
            <a:avLst/>
          </a:prstGeom>
          <a:noFill/>
        </p:spPr>
        <p:txBody>
          <a:bodyPr wrap="square" lIns="0" tIns="0" rIns="0" bIns="0" anchor="t">
            <a:spAutoFit/>
          </a:bodyPr>
          <a:lstStyle/>
          <a:p>
            <a:pPr marL="0" marR="0" lvl="0" indent="0" algn="l" defTabSz="457200" rtl="0" eaLnBrk="1" fontAlgn="auto" latinLnBrk="0" hangingPunct="1">
              <a:lnSpc>
                <a:spcPts val="3060"/>
              </a:lnSpc>
              <a:spcBef>
                <a:spcPts val="0"/>
              </a:spcBef>
              <a:spcAft>
                <a:spcPts val="0"/>
              </a:spcAft>
              <a:buClrTx/>
              <a:buSzTx/>
              <a:buFontTx/>
              <a:buNone/>
              <a:tabLst/>
              <a:defRPr/>
            </a:pPr>
            <a:r>
              <a:rPr kumimoji="0" lang="es-MX" sz="2550" b="1" i="0" u="none" strike="noStrike" kern="1200" cap="none" spc="0" normalizeH="0" baseline="0" noProof="0">
                <a:ln>
                  <a:noFill/>
                </a:ln>
                <a:solidFill>
                  <a:srgbClr val="0F172A"/>
                </a:solidFill>
                <a:effectLst/>
                <a:uLnTx/>
                <a:uFillTx/>
                <a:latin typeface="Plus Jakarta Sans"/>
                <a:ea typeface="+mn-ea"/>
                <a:cs typeface="+mn-cs"/>
              </a:rPr>
              <a:t>Organización Operativa para el Colectivo Docente</a:t>
            </a:r>
          </a:p>
        </p:txBody>
      </p:sp>
      <p:sp>
        <p:nvSpPr>
          <p:cNvPr id="26" name="TextBox 25"/>
          <p:cNvSpPr txBox="1"/>
          <p:nvPr/>
        </p:nvSpPr>
        <p:spPr>
          <a:xfrm>
            <a:off x="3279826" y="6375723"/>
            <a:ext cx="4865250"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400" b="1" i="0" u="none" strike="noStrike" kern="1200" cap="none" spc="0" normalizeH="0" baseline="0" noProof="0">
                <a:ln>
                  <a:noFill/>
                </a:ln>
                <a:solidFill>
                  <a:srgbClr val="047857"/>
                </a:solidFill>
                <a:effectLst/>
                <a:uLnTx/>
                <a:uFillTx/>
                <a:latin typeface="Plus Jakarta Sans"/>
                <a:ea typeface="+mn-ea"/>
                <a:cs typeface="+mn-cs"/>
              </a:rPr>
              <a:t>La cultura de paz no solo se enseña, se vive cotidianamente</a:t>
            </a:r>
          </a:p>
        </p:txBody>
      </p:sp>
      <p:sp>
        <p:nvSpPr>
          <p:cNvPr id="27" name="TextBox 26"/>
          <p:cNvSpPr txBox="1"/>
          <p:nvPr/>
        </p:nvSpPr>
        <p:spPr>
          <a:xfrm>
            <a:off x="1114425" y="1503015"/>
            <a:ext cx="6408300" cy="219075"/>
          </a:xfrm>
          <a:prstGeom prst="rect">
            <a:avLst/>
          </a:prstGeom>
          <a:noFill/>
        </p:spPr>
        <p:txBody>
          <a:bodyPr wrap="none" lIns="0" tIns="0" rIns="0" bIns="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50" b="1" i="0" u="none" strike="noStrike" kern="1200" cap="none" spc="0" normalizeH="0" baseline="0" noProof="0">
                <a:ln>
                  <a:noFill/>
                </a:ln>
                <a:solidFill>
                  <a:srgbClr val="047857"/>
                </a:solidFill>
                <a:effectLst/>
                <a:uLnTx/>
                <a:uFillTx/>
                <a:latin typeface="Plus Jakarta Sans"/>
                <a:ea typeface="+mn-ea"/>
                <a:cs typeface="+mn-cs"/>
              </a:rPr>
              <a:t>7 Líneas Temáticas Articuladas</a:t>
            </a:r>
          </a:p>
        </p:txBody>
      </p:sp>
      <p:sp>
        <p:nvSpPr>
          <p:cNvPr id="28" name="TextBox 27"/>
          <p:cNvSpPr txBox="1"/>
          <p:nvPr/>
        </p:nvSpPr>
        <p:spPr>
          <a:xfrm>
            <a:off x="752475" y="4887590"/>
            <a:ext cx="5191125" cy="369332"/>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effectLst/>
                <a:uLnTx/>
                <a:uFillTx/>
                <a:latin typeface="Plus Jakarta Sans"/>
                <a:ea typeface="+mn-ea"/>
                <a:cs typeface="+mn-cs"/>
              </a:rPr>
              <a:t>Enfoque sin fragmentación:</a:t>
            </a:r>
            <a:r>
              <a:rPr kumimoji="0" lang="es-MX" sz="1200" b="0" i="0" u="none" strike="noStrike" kern="1200" cap="none" spc="0" normalizeH="0" baseline="0" noProof="0" dirty="0">
                <a:ln>
                  <a:noFill/>
                </a:ln>
                <a:effectLst/>
                <a:uLnTx/>
                <a:uFillTx/>
                <a:latin typeface="Plus Jakarta Sans"/>
                <a:ea typeface="+mn-ea"/>
                <a:cs typeface="+mn-cs"/>
              </a:rPr>
              <a:t> aborda problemáticas reales conectando campos formativos y ejes articuladores.</a:t>
            </a:r>
          </a:p>
        </p:txBody>
      </p:sp>
      <p:sp>
        <p:nvSpPr>
          <p:cNvPr id="29" name="TextBox 28"/>
          <p:cNvSpPr txBox="1"/>
          <p:nvPr/>
        </p:nvSpPr>
        <p:spPr>
          <a:xfrm>
            <a:off x="6543675" y="1469677"/>
            <a:ext cx="590550" cy="30480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Plus Jakarta Sans"/>
                <a:ea typeface="+mn-ea"/>
                <a:cs typeface="+mn-cs"/>
              </a:rPr>
              <a:t>1</a:t>
            </a:r>
          </a:p>
        </p:txBody>
      </p:sp>
      <p:sp>
        <p:nvSpPr>
          <p:cNvPr id="30" name="TextBox 29"/>
          <p:cNvSpPr txBox="1"/>
          <p:nvPr/>
        </p:nvSpPr>
        <p:spPr>
          <a:xfrm>
            <a:off x="6543675" y="2838747"/>
            <a:ext cx="590550" cy="30480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Plus Jakarta Sans"/>
                <a:ea typeface="+mn-ea"/>
                <a:cs typeface="+mn-cs"/>
              </a:rPr>
              <a:t>2</a:t>
            </a:r>
          </a:p>
        </p:txBody>
      </p:sp>
      <p:sp>
        <p:nvSpPr>
          <p:cNvPr id="31" name="TextBox 30"/>
          <p:cNvSpPr txBox="1"/>
          <p:nvPr/>
        </p:nvSpPr>
        <p:spPr>
          <a:xfrm>
            <a:off x="6543675" y="4207817"/>
            <a:ext cx="590550" cy="30480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Plus Jakarta Sans"/>
                <a:ea typeface="+mn-ea"/>
                <a:cs typeface="+mn-cs"/>
              </a:rPr>
              <a:t>3</a:t>
            </a:r>
          </a:p>
        </p:txBody>
      </p:sp>
      <p:sp>
        <p:nvSpPr>
          <p:cNvPr id="32" name="TextBox 31"/>
          <p:cNvSpPr txBox="1"/>
          <p:nvPr/>
        </p:nvSpPr>
        <p:spPr>
          <a:xfrm>
            <a:off x="6543675" y="5576887"/>
            <a:ext cx="590550" cy="304800"/>
          </a:xfrm>
          <a:prstGeom prst="rect">
            <a:avLst/>
          </a:prstGeom>
          <a:noFill/>
        </p:spPr>
        <p:txBody>
          <a:bodyPr wrap="square" lIns="0" tIns="0" rIns="0" bIns="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FFFFFF"/>
                </a:solidFill>
                <a:effectLst/>
                <a:uLnTx/>
                <a:uFillTx/>
                <a:latin typeface="Plus Jakarta Sans"/>
                <a:ea typeface="+mn-ea"/>
                <a:cs typeface="+mn-cs"/>
              </a:rPr>
              <a:t>4</a:t>
            </a:r>
          </a:p>
        </p:txBody>
      </p:sp>
      <p:sp>
        <p:nvSpPr>
          <p:cNvPr id="33" name="TextBox 32"/>
          <p:cNvSpPr txBox="1"/>
          <p:nvPr/>
        </p:nvSpPr>
        <p:spPr>
          <a:xfrm>
            <a:off x="962025" y="1950690"/>
            <a:ext cx="1457325"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1. Igualdad de género</a:t>
            </a:r>
          </a:p>
        </p:txBody>
      </p:sp>
      <p:sp>
        <p:nvSpPr>
          <p:cNvPr id="34" name="TextBox 33"/>
          <p:cNvSpPr txBox="1"/>
          <p:nvPr/>
        </p:nvSpPr>
        <p:spPr>
          <a:xfrm>
            <a:off x="2628900" y="1950690"/>
            <a:ext cx="1943100"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2. Educación socioemocional</a:t>
            </a:r>
          </a:p>
        </p:txBody>
      </p:sp>
      <p:sp>
        <p:nvSpPr>
          <p:cNvPr id="35" name="TextBox 34"/>
          <p:cNvSpPr txBox="1"/>
          <p:nvPr/>
        </p:nvSpPr>
        <p:spPr>
          <a:xfrm>
            <a:off x="962025" y="2369790"/>
            <a:ext cx="2466975"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3. Participación infantil y adolescente</a:t>
            </a:r>
          </a:p>
        </p:txBody>
      </p:sp>
      <p:sp>
        <p:nvSpPr>
          <p:cNvPr id="36" name="TextBox 35"/>
          <p:cNvSpPr txBox="1"/>
          <p:nvPr/>
        </p:nvSpPr>
        <p:spPr>
          <a:xfrm>
            <a:off x="3638550" y="2369790"/>
            <a:ext cx="1933575"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4. Valoración de la diversidad</a:t>
            </a:r>
          </a:p>
        </p:txBody>
      </p:sp>
      <p:sp>
        <p:nvSpPr>
          <p:cNvPr id="37" name="TextBox 36"/>
          <p:cNvSpPr txBox="1"/>
          <p:nvPr/>
        </p:nvSpPr>
        <p:spPr>
          <a:xfrm>
            <a:off x="962025" y="2788890"/>
            <a:ext cx="1485900"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5. Derechos humanos</a:t>
            </a:r>
          </a:p>
        </p:txBody>
      </p:sp>
      <p:sp>
        <p:nvSpPr>
          <p:cNvPr id="38" name="TextBox 37"/>
          <p:cNvSpPr txBox="1"/>
          <p:nvPr/>
        </p:nvSpPr>
        <p:spPr>
          <a:xfrm>
            <a:off x="2657475" y="2788890"/>
            <a:ext cx="2333625"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6. Autocuidado y cuidado colectivo</a:t>
            </a:r>
          </a:p>
        </p:txBody>
      </p:sp>
      <p:sp>
        <p:nvSpPr>
          <p:cNvPr id="39" name="TextBox 38"/>
          <p:cNvSpPr txBox="1"/>
          <p:nvPr/>
        </p:nvSpPr>
        <p:spPr>
          <a:xfrm>
            <a:off x="962025" y="3207990"/>
            <a:ext cx="1990725" cy="190500"/>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1" i="0" u="none" strike="noStrike" kern="1200" cap="none" spc="0" normalizeH="0" baseline="0" noProof="0">
                <a:ln>
                  <a:noFill/>
                </a:ln>
                <a:solidFill>
                  <a:srgbClr val="047857"/>
                </a:solidFill>
                <a:effectLst/>
                <a:uLnTx/>
                <a:uFillTx/>
                <a:latin typeface="Plus Jakarta Sans"/>
                <a:ea typeface="+mn-ea"/>
                <a:cs typeface="+mn-cs"/>
              </a:rPr>
              <a:t>7. Entornos escolares seguros</a:t>
            </a:r>
          </a:p>
        </p:txBody>
      </p:sp>
      <p:sp>
        <p:nvSpPr>
          <p:cNvPr id="40" name="TextBox 39"/>
          <p:cNvSpPr txBox="1"/>
          <p:nvPr/>
        </p:nvSpPr>
        <p:spPr>
          <a:xfrm>
            <a:off x="7143750" y="1426815"/>
            <a:ext cx="4475559" cy="200025"/>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72A"/>
                </a:solidFill>
                <a:effectLst/>
                <a:uLnTx/>
                <a:uFillTx/>
                <a:latin typeface="Plus Jakarta Sans"/>
                <a:ea typeface="+mn-ea"/>
                <a:cs typeface="+mn-cs"/>
              </a:rPr>
              <a:t>Apuntes y Secuencia en Aula</a:t>
            </a:r>
          </a:p>
        </p:txBody>
      </p:sp>
      <p:sp>
        <p:nvSpPr>
          <p:cNvPr id="41" name="TextBox 40"/>
          <p:cNvSpPr txBox="1"/>
          <p:nvPr/>
        </p:nvSpPr>
        <p:spPr>
          <a:xfrm>
            <a:off x="7143750" y="1645890"/>
            <a:ext cx="4262437" cy="1714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64748B"/>
                </a:solidFill>
                <a:effectLst/>
                <a:uLnTx/>
                <a:uFillTx/>
                <a:latin typeface="Plus Jakarta Sans"/>
                <a:ea typeface="+mn-ea"/>
                <a:cs typeface="+mn-cs"/>
              </a:rPr>
              <a:t>Fundamento docente y ruta didáctica con el alumnado.</a:t>
            </a:r>
          </a:p>
        </p:txBody>
      </p:sp>
      <p:sp>
        <p:nvSpPr>
          <p:cNvPr id="42" name="TextBox 41"/>
          <p:cNvSpPr txBox="1"/>
          <p:nvPr/>
        </p:nvSpPr>
        <p:spPr>
          <a:xfrm>
            <a:off x="7143750" y="2795885"/>
            <a:ext cx="4375546" cy="200025"/>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72A"/>
                </a:solidFill>
                <a:effectLst/>
                <a:uLnTx/>
                <a:uFillTx/>
                <a:latin typeface="Plus Jakarta Sans"/>
                <a:ea typeface="+mn-ea"/>
                <a:cs typeface="+mn-cs"/>
              </a:rPr>
              <a:t>Elemento "Variante" (Multigrado)</a:t>
            </a:r>
          </a:p>
        </p:txBody>
      </p:sp>
      <p:sp>
        <p:nvSpPr>
          <p:cNvPr id="43" name="TextBox 42"/>
          <p:cNvSpPr txBox="1"/>
          <p:nvPr/>
        </p:nvSpPr>
        <p:spPr>
          <a:xfrm>
            <a:off x="7143750" y="3014960"/>
            <a:ext cx="4167187" cy="1714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64748B"/>
                </a:solidFill>
                <a:effectLst/>
                <a:uLnTx/>
                <a:uFillTx/>
                <a:latin typeface="Plus Jakarta Sans"/>
                <a:ea typeface="+mn-ea"/>
                <a:cs typeface="+mn-cs"/>
              </a:rPr>
              <a:t>Flexibilización para integrar distintos grados y edades.</a:t>
            </a:r>
          </a:p>
        </p:txBody>
      </p:sp>
      <p:sp>
        <p:nvSpPr>
          <p:cNvPr id="44" name="TextBox 43"/>
          <p:cNvSpPr txBox="1"/>
          <p:nvPr/>
        </p:nvSpPr>
        <p:spPr>
          <a:xfrm>
            <a:off x="7143750" y="4164955"/>
            <a:ext cx="4938117" cy="200025"/>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72A"/>
                </a:solidFill>
                <a:effectLst/>
                <a:uLnTx/>
                <a:uFillTx/>
                <a:latin typeface="Plus Jakarta Sans"/>
                <a:ea typeface="+mn-ea"/>
                <a:cs typeface="+mn-cs"/>
              </a:rPr>
              <a:t>Con las Familias</a:t>
            </a:r>
          </a:p>
        </p:txBody>
      </p:sp>
      <p:sp>
        <p:nvSpPr>
          <p:cNvPr id="45" name="TextBox 44"/>
          <p:cNvSpPr txBox="1"/>
          <p:nvPr/>
        </p:nvSpPr>
        <p:spPr>
          <a:xfrm>
            <a:off x="7143750" y="4384030"/>
            <a:ext cx="4702968" cy="1714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64748B"/>
                </a:solidFill>
                <a:effectLst/>
                <a:uLnTx/>
                <a:uFillTx/>
                <a:latin typeface="Plus Jakarta Sans"/>
                <a:ea typeface="+mn-ea"/>
                <a:cs typeface="+mn-cs"/>
              </a:rPr>
              <a:t>Diálogo comunitario y acciones corresponsables en el hogar.</a:t>
            </a:r>
          </a:p>
        </p:txBody>
      </p:sp>
      <p:sp>
        <p:nvSpPr>
          <p:cNvPr id="46" name="TextBox 45"/>
          <p:cNvSpPr txBox="1"/>
          <p:nvPr/>
        </p:nvSpPr>
        <p:spPr>
          <a:xfrm>
            <a:off x="7143750" y="5534025"/>
            <a:ext cx="4463057" cy="200025"/>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a:ln>
                  <a:noFill/>
                </a:ln>
                <a:solidFill>
                  <a:srgbClr val="0F172A"/>
                </a:solidFill>
                <a:effectLst/>
                <a:uLnTx/>
                <a:uFillTx/>
                <a:latin typeface="Plus Jakarta Sans"/>
                <a:ea typeface="+mn-ea"/>
                <a:cs typeface="+mn-cs"/>
              </a:rPr>
              <a:t>Reflexiones entre Docentes</a:t>
            </a:r>
          </a:p>
        </p:txBody>
      </p:sp>
      <p:sp>
        <p:nvSpPr>
          <p:cNvPr id="47" name="TextBox 46"/>
          <p:cNvSpPr txBox="1"/>
          <p:nvPr/>
        </p:nvSpPr>
        <p:spPr>
          <a:xfrm>
            <a:off x="7143750" y="5753100"/>
            <a:ext cx="4250531" cy="17145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64748B"/>
                </a:solidFill>
                <a:effectLst/>
                <a:uLnTx/>
                <a:uFillTx/>
                <a:latin typeface="Plus Jakarta Sans"/>
                <a:ea typeface="+mn-ea"/>
                <a:cs typeface="+mn-cs"/>
              </a:rPr>
              <a:t>Análisis crítico y transformación continua de la práctica.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6C2B32E-C59B-4E7C-AEBF-BDD850728A5F}"/>
              </a:ext>
            </a:extLst>
          </p:cNvPr>
          <p:cNvPicPr>
            <a:picLocks noChangeAspect="1"/>
          </p:cNvPicPr>
          <p:nvPr/>
        </p:nvPicPr>
        <p:blipFill rotWithShape="1">
          <a:blip r:embed="rId2"/>
          <a:srcRect l="26133" t="29156" r="25469" b="12481"/>
          <a:stretch/>
        </p:blipFill>
        <p:spPr>
          <a:xfrm>
            <a:off x="1553029" y="843345"/>
            <a:ext cx="8584520" cy="5820014"/>
          </a:xfrm>
          <a:prstGeom prst="rect">
            <a:avLst/>
          </a:prstGeom>
        </p:spPr>
      </p:pic>
      <p:pic>
        <p:nvPicPr>
          <p:cNvPr id="4" name="Imagen 3">
            <a:extLst>
              <a:ext uri="{FF2B5EF4-FFF2-40B4-BE49-F238E27FC236}">
                <a16:creationId xmlns:a16="http://schemas.microsoft.com/office/drawing/2014/main" id="{6B972C10-9786-8DCD-24C2-64BB8CAE5B4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459053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507484E4-B2F3-45CF-86FC-5864152660FF}"/>
              </a:ext>
            </a:extLst>
          </p:cNvPr>
          <p:cNvPicPr>
            <a:picLocks noChangeAspect="1"/>
          </p:cNvPicPr>
          <p:nvPr/>
        </p:nvPicPr>
        <p:blipFill rotWithShape="1">
          <a:blip r:embed="rId2"/>
          <a:srcRect l="25781" t="23320" r="25937" b="12273"/>
          <a:stretch/>
        </p:blipFill>
        <p:spPr>
          <a:xfrm>
            <a:off x="2235198" y="1157513"/>
            <a:ext cx="7095785" cy="5321840"/>
          </a:xfrm>
          <a:prstGeom prst="rect">
            <a:avLst/>
          </a:prstGeom>
        </p:spPr>
      </p:pic>
      <p:pic>
        <p:nvPicPr>
          <p:cNvPr id="4" name="Imagen 3">
            <a:extLst>
              <a:ext uri="{FF2B5EF4-FFF2-40B4-BE49-F238E27FC236}">
                <a16:creationId xmlns:a16="http://schemas.microsoft.com/office/drawing/2014/main" id="{BC9AE435-3A66-5A40-AFAB-80C6FF20C49F}"/>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4391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0" name="Freeform: Shape 9">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Isosceles Triangle 14">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Imagen 1" descr="Descubre 130 ideas de Gracias... y muchas gracias imagenes | imagenes para  dar gracias, imágenes de gracias, mensajes de agradecimiento y más">
            <a:extLst>
              <a:ext uri="{FF2B5EF4-FFF2-40B4-BE49-F238E27FC236}">
                <a16:creationId xmlns:a16="http://schemas.microsoft.com/office/drawing/2014/main" id="{F5C44BDE-F1BA-8AF3-866C-464D9302D6B2}"/>
              </a:ext>
            </a:extLst>
          </p:cNvPr>
          <p:cNvPicPr>
            <a:picLocks noChangeAspect="1"/>
          </p:cNvPicPr>
          <p:nvPr/>
        </p:nvPicPr>
        <p:blipFill>
          <a:blip r:embed="rId2"/>
          <a:stretch>
            <a:fillRect/>
          </a:stretch>
        </p:blipFill>
        <p:spPr>
          <a:xfrm>
            <a:off x="3546598" y="1100556"/>
            <a:ext cx="5129179" cy="5129179"/>
          </a:xfrm>
          <a:prstGeom prst="rect">
            <a:avLst/>
          </a:prstGeom>
          <a:ln>
            <a:noFill/>
          </a:ln>
        </p:spPr>
      </p:pic>
      <p:pic>
        <p:nvPicPr>
          <p:cNvPr id="4" name="Imagen 3" descr="Imagen que contiene Texto&#10;&#10;El contenido generado por IA puede ser incorrecto.">
            <a:extLst>
              <a:ext uri="{FF2B5EF4-FFF2-40B4-BE49-F238E27FC236}">
                <a16:creationId xmlns:a16="http://schemas.microsoft.com/office/drawing/2014/main" id="{2D313779-1CB7-7220-2FA4-36C424AA381C}"/>
              </a:ext>
            </a:extLst>
          </p:cNvPr>
          <p:cNvPicPr>
            <a:picLocks noChangeAspect="1"/>
          </p:cNvPicPr>
          <p:nvPr/>
        </p:nvPicPr>
        <p:blipFill>
          <a:blip r:embed="rId3">
            <a:extLst>
              <a:ext uri="{28A0092B-C50C-407E-A947-70E740481C1C}">
                <a14:useLocalDpi xmlns:a14="http://schemas.microsoft.com/office/drawing/2010/main" val="0"/>
              </a:ext>
            </a:extLst>
          </a:blip>
          <a:srcRect t="89902"/>
          <a:stretch>
            <a:fillRect/>
          </a:stretch>
        </p:blipFill>
        <p:spPr>
          <a:xfrm>
            <a:off x="1524001" y="6050073"/>
            <a:ext cx="9112924" cy="713064"/>
          </a:xfrm>
          <a:prstGeom prst="rect">
            <a:avLst/>
          </a:prstGeom>
        </p:spPr>
      </p:pic>
      <p:pic>
        <p:nvPicPr>
          <p:cNvPr id="6" name="Imagen 5">
            <a:extLst>
              <a:ext uri="{FF2B5EF4-FFF2-40B4-BE49-F238E27FC236}">
                <a16:creationId xmlns:a16="http://schemas.microsoft.com/office/drawing/2014/main" id="{2A97EB84-154C-AED8-E76E-2AB54EE3CA06}"/>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colorTemperature colorTemp="7200"/>
                    </a14:imgEffect>
                  </a14:imgLayer>
                </a14:imgProps>
              </a:ext>
            </a:extLst>
          </a:blip>
          <a:stretch>
            <a:fillRect/>
          </a:stretch>
        </p:blipFill>
        <p:spPr>
          <a:xfrm>
            <a:off x="3406761" y="148742"/>
            <a:ext cx="5672388" cy="95181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953419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3296</TotalTime>
  <Words>2944</Words>
  <Application>Microsoft Office PowerPoint</Application>
  <PresentationFormat>Panorámica</PresentationFormat>
  <Paragraphs>145</Paragraphs>
  <Slides>50</Slides>
  <Notes>0</Notes>
  <HiddenSlides>0</HiddenSlides>
  <MMClips>0</MMClips>
  <ScaleCrop>false</ScaleCrop>
  <HeadingPairs>
    <vt:vector size="6" baseType="variant">
      <vt:variant>
        <vt:lpstr>Fuentes usadas</vt:lpstr>
      </vt:variant>
      <vt:variant>
        <vt:i4>14</vt:i4>
      </vt:variant>
      <vt:variant>
        <vt:lpstr>Tema</vt:lpstr>
      </vt:variant>
      <vt:variant>
        <vt:i4>3</vt:i4>
      </vt:variant>
      <vt:variant>
        <vt:lpstr>Títulos de diapositiva</vt:lpstr>
      </vt:variant>
      <vt:variant>
        <vt:i4>50</vt:i4>
      </vt:variant>
    </vt:vector>
  </HeadingPairs>
  <TitlesOfParts>
    <vt:vector size="67" baseType="lpstr">
      <vt:lpstr>Aptos</vt:lpstr>
      <vt:lpstr>Aptos Display</vt:lpstr>
      <vt:lpstr>Arial</vt:lpstr>
      <vt:lpstr>Arial MT</vt:lpstr>
      <vt:lpstr>Calibri</vt:lpstr>
      <vt:lpstr>Montserrat</vt:lpstr>
      <vt:lpstr>Open Sans</vt:lpstr>
      <vt:lpstr>Open Sans Black</vt:lpstr>
      <vt:lpstr>Open Sans SemiBold</vt:lpstr>
      <vt:lpstr>Plus Jakarta Sans</vt:lpstr>
      <vt:lpstr>Tahoma</vt:lpstr>
      <vt:lpstr>Times New Roman</vt:lpstr>
      <vt:lpstr>Verdana</vt:lpstr>
      <vt:lpstr>Wingdings</vt:lpstr>
      <vt:lpstr>Tema de Office</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Dixguel03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Subdirección de Educación Primaria Nezahualcóyotl</dc:creator>
  <cp:lastModifiedBy>Lenovo</cp:lastModifiedBy>
  <cp:revision>125</cp:revision>
  <dcterms:created xsi:type="dcterms:W3CDTF">2025-09-20T01:37:33Z</dcterms:created>
  <dcterms:modified xsi:type="dcterms:W3CDTF">2026-09-21T01:07:26Z</dcterms:modified>
</cp:coreProperties>
</file>