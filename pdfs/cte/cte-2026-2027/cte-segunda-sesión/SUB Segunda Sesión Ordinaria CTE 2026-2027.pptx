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8"/>
  </p:notesMasterIdLst>
  <p:sldIdLst>
    <p:sldId id="1278" r:id="rId3"/>
    <p:sldId id="294" r:id="rId4"/>
    <p:sldId id="257" r:id="rId5"/>
    <p:sldId id="1267" r:id="rId6"/>
    <p:sldId id="1268" r:id="rId7"/>
    <p:sldId id="1269" r:id="rId8"/>
    <p:sldId id="1270" r:id="rId9"/>
    <p:sldId id="1271" r:id="rId10"/>
    <p:sldId id="1272" r:id="rId11"/>
    <p:sldId id="1276" r:id="rId12"/>
    <p:sldId id="1273" r:id="rId13"/>
    <p:sldId id="1274" r:id="rId14"/>
    <p:sldId id="1266" r:id="rId15"/>
    <p:sldId id="1277" r:id="rId16"/>
    <p:sldId id="1265"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4" d="100"/>
          <a:sy n="64" d="100"/>
        </p:scale>
        <p:origin x="9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8A39E3-EB44-4CB3-A801-C922C5D0972D}" type="datetimeFigureOut">
              <a:rPr lang="es-MX" smtClean="0"/>
              <a:t>24/10/2026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047DE-7CE0-4E62-A53B-9952E3BBA988}" type="slidenum">
              <a:rPr lang="es-MX" smtClean="0"/>
              <a:t>‹Nº›</a:t>
            </a:fld>
            <a:endParaRPr lang="es-MX"/>
          </a:p>
        </p:txBody>
      </p:sp>
    </p:spTree>
    <p:extLst>
      <p:ext uri="{BB962C8B-B14F-4D97-AF65-F5344CB8AC3E}">
        <p14:creationId xmlns:p14="http://schemas.microsoft.com/office/powerpoint/2010/main" val="2655329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F74B28-BAAE-9732-14B1-4542EF19B7F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92195233-8C2C-BEBD-B38C-B84FDEF8AF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B8F79B5-378F-FCDD-3BB6-DF9548DFB419}"/>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5" name="Marcador de pie de página 4">
            <a:extLst>
              <a:ext uri="{FF2B5EF4-FFF2-40B4-BE49-F238E27FC236}">
                <a16:creationId xmlns:a16="http://schemas.microsoft.com/office/drawing/2014/main" id="{AA1E598E-421D-5CDC-B1C0-8CB23F26F0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FC86164-34AA-F6E6-464F-7DC5D1696BB7}"/>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61565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C43955-FFB2-AB51-DF6A-D5331FD83B0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C63CE97-EE20-4757-AB7B-D39D57A28EF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921CC81-2DDA-BB6A-FFDB-303AE099CD89}"/>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5" name="Marcador de pie de página 4">
            <a:extLst>
              <a:ext uri="{FF2B5EF4-FFF2-40B4-BE49-F238E27FC236}">
                <a16:creationId xmlns:a16="http://schemas.microsoft.com/office/drawing/2014/main" id="{A1E6BD26-1465-B371-E18E-D5CF40B2A2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108A460-2F7D-05AA-22E2-C736305CD571}"/>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1690090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8FCEF1-5883-E4B8-2D3F-034FF2F0469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F9C5DD2-E7F2-EA46-0940-51144FFEF6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350620F-E5B2-2737-6D41-CDDA992160B9}"/>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5" name="Marcador de pie de página 4">
            <a:extLst>
              <a:ext uri="{FF2B5EF4-FFF2-40B4-BE49-F238E27FC236}">
                <a16:creationId xmlns:a16="http://schemas.microsoft.com/office/drawing/2014/main" id="{04A9FBE4-864C-A90D-DD4E-F737A9AD002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927E2FA-4183-B0C9-45BC-B30FB4A687E3}"/>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978224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88F0E9-6A52-AD27-BE0F-DCA1AB625C3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D8E5F03-E2D9-0510-6BCC-3E0F4302ED5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7C7C9B9-B108-12F0-CCCD-C9C406F0BB2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98AF050-523E-E017-C6FB-B2BA5B0C17D3}"/>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6" name="Marcador de pie de página 5">
            <a:extLst>
              <a:ext uri="{FF2B5EF4-FFF2-40B4-BE49-F238E27FC236}">
                <a16:creationId xmlns:a16="http://schemas.microsoft.com/office/drawing/2014/main" id="{88ADFC3D-2CE3-D30E-EA2E-76E4ABD7298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49F5381-C2EF-DDBC-B667-E230A2D9BC05}"/>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720659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FDDC83-F5FC-6E89-A037-64CB4F07178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5A374EA-38D7-B8BE-B4A8-13CDB7F2DD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FDC9EE0-19A9-BE6B-42E7-0E630315A48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292446F-220B-5960-A038-1B48687C53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459A9B4-BAEB-9424-B656-A148E5BFE0D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5FB84DA-E130-10C0-2548-8CADFCDC84CC}"/>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8" name="Marcador de pie de página 7">
            <a:extLst>
              <a:ext uri="{FF2B5EF4-FFF2-40B4-BE49-F238E27FC236}">
                <a16:creationId xmlns:a16="http://schemas.microsoft.com/office/drawing/2014/main" id="{C79757E2-230A-4CC1-A5A1-4B6B12B1620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76DE826-7A74-A6E0-CD5F-892F34A21862}"/>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114934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D35F13-BA8A-B740-54EF-C07958E6D51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37ADEA4-E061-E2D4-3653-3D977FEFEA36}"/>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4" name="Marcador de pie de página 3">
            <a:extLst>
              <a:ext uri="{FF2B5EF4-FFF2-40B4-BE49-F238E27FC236}">
                <a16:creationId xmlns:a16="http://schemas.microsoft.com/office/drawing/2014/main" id="{11A6734E-F2C2-8704-A6FD-C59E60F61E2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495F6C8-3E58-B942-2BFF-BFA38D88D607}"/>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911253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3809C71-4816-9EC3-688A-12CD9794135C}"/>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3" name="Marcador de pie de página 2">
            <a:extLst>
              <a:ext uri="{FF2B5EF4-FFF2-40B4-BE49-F238E27FC236}">
                <a16:creationId xmlns:a16="http://schemas.microsoft.com/office/drawing/2014/main" id="{63A7C84F-C8E1-0B02-6DF7-5E0053F64DB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A1F13B2-9411-4445-3F8E-FDF02C665157}"/>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449823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1ED73-9BA2-931F-6396-DE5A3364160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CCCA67F-0DD9-2898-6190-B9214A0AA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2706349-BA06-BD00-3D31-21D474C5F0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B4107E4-C51E-8DC2-0B7F-4D67A1B79AF4}"/>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6" name="Marcador de pie de página 5">
            <a:extLst>
              <a:ext uri="{FF2B5EF4-FFF2-40B4-BE49-F238E27FC236}">
                <a16:creationId xmlns:a16="http://schemas.microsoft.com/office/drawing/2014/main" id="{83432CBF-80F6-9C7A-0E77-B66765B36DE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A5C8BE1-848E-FEEA-B498-03642B6E2D73}"/>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940083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EFC47-8F17-1A0A-8D6F-4C1DB4D7A0E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0E748E2-7CDC-EB34-F826-07392C1E51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03BA24E-323F-1CBE-775C-30B013278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9BA486C-0FA5-0870-6450-AE40D8B53946}"/>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6" name="Marcador de pie de página 5">
            <a:extLst>
              <a:ext uri="{FF2B5EF4-FFF2-40B4-BE49-F238E27FC236}">
                <a16:creationId xmlns:a16="http://schemas.microsoft.com/office/drawing/2014/main" id="{64E66E90-5AAC-E019-AB71-26837DBFEFF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1892420-8E27-0CF4-805D-3420B9C42924}"/>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714427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93A7B1-B340-34F9-7318-5758204B815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A5247B5-8121-9C89-CE91-B01E719F2D9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440B344-A2B4-64F0-503D-09F46BB8C9AA}"/>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5" name="Marcador de pie de página 4">
            <a:extLst>
              <a:ext uri="{FF2B5EF4-FFF2-40B4-BE49-F238E27FC236}">
                <a16:creationId xmlns:a16="http://schemas.microsoft.com/office/drawing/2014/main" id="{29186E50-06C6-7FA4-C6D4-5683ABEC871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1823C44-81F0-DA2C-CF23-F219975D9242}"/>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666374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328946F-372D-3D61-E91C-10EBD6CA1E0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3F27598-7AD7-5C1F-07EA-1FA4F6A868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0409DFE-26B1-976B-0488-2A2A4E32D297}"/>
              </a:ext>
            </a:extLst>
          </p:cNvPr>
          <p:cNvSpPr>
            <a:spLocks noGrp="1"/>
          </p:cNvSpPr>
          <p:nvPr>
            <p:ph type="dt" sz="half" idx="10"/>
          </p:nvPr>
        </p:nvSpPr>
        <p:spPr/>
        <p:txBody>
          <a:bodyPr/>
          <a:lstStyle/>
          <a:p>
            <a:fld id="{ED120201-D102-4882-A247-002CD02F9FC5}" type="datetimeFigureOut">
              <a:rPr lang="es-MX" smtClean="0"/>
              <a:t>24/10/2026</a:t>
            </a:fld>
            <a:endParaRPr lang="es-MX"/>
          </a:p>
        </p:txBody>
      </p:sp>
      <p:sp>
        <p:nvSpPr>
          <p:cNvPr id="5" name="Marcador de pie de página 4">
            <a:extLst>
              <a:ext uri="{FF2B5EF4-FFF2-40B4-BE49-F238E27FC236}">
                <a16:creationId xmlns:a16="http://schemas.microsoft.com/office/drawing/2014/main" id="{BFFECBDA-1C65-F23D-C9CE-C008106BBD3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E9438C6-1A0B-15CF-ABEE-16361BE1D1FA}"/>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303003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0" i="0">
                <a:solidFill>
                  <a:srgbClr val="0070C0"/>
                </a:solidFill>
                <a:latin typeface="Arial"/>
                <a:cs typeface="Arial"/>
              </a:defRPr>
            </a:lvl1pPr>
          </a:lstStyle>
          <a:p>
            <a:pPr marL="3025140" marR="3810" indent="-3016091">
              <a:lnSpc>
                <a:spcPct val="101400"/>
              </a:lnSpc>
              <a:spcBef>
                <a:spcPts val="8"/>
              </a:spcBef>
            </a:pPr>
            <a:r>
              <a:rPr lang="es-MX" spc="-56" dirty="0"/>
              <a:t>"Este </a:t>
            </a:r>
            <a:r>
              <a:rPr lang="es-MX" spc="-49" dirty="0"/>
              <a:t>programa </a:t>
            </a:r>
            <a:r>
              <a:rPr lang="es-MX" spc="-90" dirty="0"/>
              <a:t>es </a:t>
            </a:r>
            <a:r>
              <a:rPr lang="es-MX" spc="-30" dirty="0"/>
              <a:t>público </a:t>
            </a:r>
            <a:r>
              <a:rPr lang="es-MX" spc="-38" dirty="0"/>
              <a:t>ajeno </a:t>
            </a:r>
            <a:r>
              <a:rPr lang="es-MX" spc="-83" dirty="0"/>
              <a:t>a </a:t>
            </a:r>
            <a:r>
              <a:rPr lang="es-MX" spc="-34" dirty="0"/>
              <a:t>cualquier </a:t>
            </a:r>
            <a:r>
              <a:rPr lang="es-MX" spc="-15" dirty="0"/>
              <a:t>partido </a:t>
            </a:r>
            <a:r>
              <a:rPr lang="es-MX" spc="-23" dirty="0"/>
              <a:t>político. </a:t>
            </a:r>
            <a:r>
              <a:rPr lang="es-MX" spc="-68" dirty="0"/>
              <a:t>Queda </a:t>
            </a:r>
            <a:r>
              <a:rPr lang="es-MX" spc="-23" dirty="0"/>
              <a:t>prohibido </a:t>
            </a:r>
            <a:r>
              <a:rPr lang="es-MX" spc="-30" dirty="0"/>
              <a:t>el </a:t>
            </a:r>
            <a:r>
              <a:rPr lang="es-MX" spc="-60" dirty="0"/>
              <a:t>uso </a:t>
            </a:r>
            <a:r>
              <a:rPr lang="es-MX" spc="-53" dirty="0"/>
              <a:t>para </a:t>
            </a:r>
            <a:r>
              <a:rPr lang="es-MX" spc="-38" dirty="0"/>
              <a:t>fines </a:t>
            </a:r>
            <a:r>
              <a:rPr lang="es-MX" spc="-26" dirty="0"/>
              <a:t>distintos </a:t>
            </a:r>
            <a:r>
              <a:rPr lang="es-MX" spc="-83" dirty="0"/>
              <a:t>a </a:t>
            </a:r>
            <a:r>
              <a:rPr lang="es-MX" spc="-49" dirty="0"/>
              <a:t>los establecidos en </a:t>
            </a:r>
            <a:r>
              <a:rPr lang="es-MX" spc="-281" dirty="0"/>
              <a:t> </a:t>
            </a:r>
            <a:r>
              <a:rPr lang="es-MX" spc="-30" dirty="0"/>
              <a:t>el</a:t>
            </a:r>
            <a:r>
              <a:rPr lang="es-MX" spc="-60" dirty="0"/>
              <a:t> </a:t>
            </a:r>
            <a:r>
              <a:rPr lang="es-MX" spc="-38" dirty="0"/>
              <a:t>programa".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dirty="0"/>
          </a:p>
        </p:txBody>
      </p:sp>
    </p:spTree>
    <p:extLst>
      <p:ext uri="{BB962C8B-B14F-4D97-AF65-F5344CB8AC3E}">
        <p14:creationId xmlns:p14="http://schemas.microsoft.com/office/powerpoint/2010/main" val="2039672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325881"/>
          </a:xfrm>
          <a:prstGeom prst="rect">
            <a:avLst/>
          </a:prstGeom>
        </p:spPr>
        <p:txBody>
          <a:bodyPr wrap="square" lIns="0" tIns="0" rIns="0" bIns="0">
            <a:spAutoFit/>
          </a:bodyPr>
          <a:lstStyle>
            <a:lvl1pPr>
              <a:defRPr sz="2118" b="1" i="0">
                <a:solidFill>
                  <a:srgbClr val="BE9844"/>
                </a:solidFill>
                <a:latin typeface="Verdana"/>
                <a:cs typeface="Verdana"/>
              </a:defRPr>
            </a:lvl1pPr>
          </a:lstStyle>
          <a:p>
            <a:endParaRPr/>
          </a:p>
        </p:txBody>
      </p:sp>
      <p:sp>
        <p:nvSpPr>
          <p:cNvPr id="3" name="Holder 3"/>
          <p:cNvSpPr>
            <a:spLocks noGrp="1"/>
          </p:cNvSpPr>
          <p:nvPr>
            <p:ph type="subTitle" idx="4"/>
          </p:nvPr>
        </p:nvSpPr>
        <p:spPr>
          <a:xfrm>
            <a:off x="1828800" y="3840481"/>
            <a:ext cx="8534400" cy="407351"/>
          </a:xfrm>
          <a:prstGeom prst="rect">
            <a:avLst/>
          </a:prstGeom>
        </p:spPr>
        <p:txBody>
          <a:bodyPr wrap="square" lIns="0" tIns="0" rIns="0" bIns="0">
            <a:spAutoFit/>
          </a:bodyPr>
          <a:lstStyle>
            <a:lvl1pPr>
              <a:defRPr sz="2647" b="1" i="0">
                <a:solidFill>
                  <a:srgbClr val="621233"/>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158967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25923"/>
          </a:xfrm>
        </p:spPr>
        <p:txBody>
          <a:bodyPr lIns="0" tIns="0" rIns="0" bIns="0"/>
          <a:lstStyle>
            <a:lvl1pPr>
              <a:defRPr sz="2118" b="1" i="0">
                <a:solidFill>
                  <a:srgbClr val="BE9844"/>
                </a:solidFill>
                <a:latin typeface="Verdana"/>
                <a:cs typeface="Verdana"/>
              </a:defRPr>
            </a:lvl1pPr>
          </a:lstStyle>
          <a:p>
            <a:endParaRPr/>
          </a:p>
        </p:txBody>
      </p:sp>
      <p:sp>
        <p:nvSpPr>
          <p:cNvPr id="3" name="Holder 3"/>
          <p:cNvSpPr>
            <a:spLocks noGrp="1"/>
          </p:cNvSpPr>
          <p:nvPr>
            <p:ph type="body" idx="1"/>
          </p:nvPr>
        </p:nvSpPr>
        <p:spPr>
          <a:xfrm>
            <a:off x="5260909" y="1403603"/>
            <a:ext cx="5345546" cy="407356"/>
          </a:xfrm>
        </p:spPr>
        <p:txBody>
          <a:bodyPr lIns="0" tIns="0" rIns="0" bIns="0"/>
          <a:lstStyle>
            <a:lvl1pPr>
              <a:defRPr sz="2647" b="1" i="0">
                <a:solidFill>
                  <a:srgbClr val="621233"/>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130609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25923"/>
          </a:xfrm>
        </p:spPr>
        <p:txBody>
          <a:bodyPr lIns="0" tIns="0" rIns="0" bIns="0"/>
          <a:lstStyle>
            <a:lvl1pPr>
              <a:defRPr sz="2118" b="1" i="0">
                <a:solidFill>
                  <a:srgbClr val="BE9844"/>
                </a:solidFill>
                <a:latin typeface="Verdana"/>
                <a:cs typeface="Verdana"/>
              </a:defRPr>
            </a:lvl1pPr>
          </a:lstStyle>
          <a:p>
            <a:endParaRPr/>
          </a:p>
        </p:txBody>
      </p:sp>
      <p:sp>
        <p:nvSpPr>
          <p:cNvPr id="3" name="Holder 3"/>
          <p:cNvSpPr>
            <a:spLocks noGrp="1"/>
          </p:cNvSpPr>
          <p:nvPr>
            <p:ph sz="half" idx="2"/>
          </p:nvPr>
        </p:nvSpPr>
        <p:spPr>
          <a:xfrm>
            <a:off x="609600" y="1577341"/>
            <a:ext cx="5303520" cy="46166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1"/>
            <a:ext cx="5303520" cy="46166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4261824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25923"/>
          </a:xfrm>
        </p:spPr>
        <p:txBody>
          <a:bodyPr lIns="0" tIns="0" rIns="0" bIns="0"/>
          <a:lstStyle>
            <a:lvl1pPr>
              <a:defRPr sz="2118" b="1" i="0">
                <a:solidFill>
                  <a:srgbClr val="BE9844"/>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41416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344022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C75319-024F-F409-6693-236420C187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96409DF-A009-8674-36F0-7C01CE8AD4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6F8DD63-34CF-15E0-7F2C-8830F73041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120201-D102-4882-A247-002CD02F9FC5}" type="datetimeFigureOut">
              <a:rPr lang="es-MX" smtClean="0"/>
              <a:t>24/10/2026</a:t>
            </a:fld>
            <a:endParaRPr lang="es-MX"/>
          </a:p>
        </p:txBody>
      </p:sp>
      <p:sp>
        <p:nvSpPr>
          <p:cNvPr id="5" name="Marcador de pie de página 4">
            <a:extLst>
              <a:ext uri="{FF2B5EF4-FFF2-40B4-BE49-F238E27FC236}">
                <a16:creationId xmlns:a16="http://schemas.microsoft.com/office/drawing/2014/main" id="{8EF1EB0A-2A23-D405-0296-8F68FB9C7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F53B4B45-00C2-8B4E-FDB8-615FA91878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594759-038D-4E57-8848-7B069E09A11D}" type="slidenum">
              <a:rPr lang="es-MX" smtClean="0"/>
              <a:t>‹Nº›</a:t>
            </a:fld>
            <a:endParaRPr lang="es-MX"/>
          </a:p>
        </p:txBody>
      </p:sp>
    </p:spTree>
    <p:extLst>
      <p:ext uri="{BB962C8B-B14F-4D97-AF65-F5344CB8AC3E}">
        <p14:creationId xmlns:p14="http://schemas.microsoft.com/office/powerpoint/2010/main" val="332703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69332"/>
          </a:xfrm>
          <a:prstGeom prst="rect">
            <a:avLst/>
          </a:prstGeom>
        </p:spPr>
        <p:txBody>
          <a:bodyPr wrap="square" lIns="0" tIns="0" rIns="0" bIns="0">
            <a:spAutoFit/>
          </a:bodyPr>
          <a:lstStyle>
            <a:lvl1pPr>
              <a:defRPr sz="2400" b="1" i="0">
                <a:solidFill>
                  <a:srgbClr val="BE9844"/>
                </a:solidFill>
                <a:latin typeface="Verdana"/>
                <a:cs typeface="Verdana"/>
              </a:defRPr>
            </a:lvl1pPr>
          </a:lstStyle>
          <a:p>
            <a:endParaRPr/>
          </a:p>
        </p:txBody>
      </p:sp>
      <p:sp>
        <p:nvSpPr>
          <p:cNvPr id="3" name="Holder 3"/>
          <p:cNvSpPr>
            <a:spLocks noGrp="1"/>
          </p:cNvSpPr>
          <p:nvPr>
            <p:ph type="body" idx="1"/>
          </p:nvPr>
        </p:nvSpPr>
        <p:spPr>
          <a:xfrm>
            <a:off x="5260909" y="1403603"/>
            <a:ext cx="5345546" cy="461665"/>
          </a:xfrm>
          <a:prstGeom prst="rect">
            <a:avLst/>
          </a:prstGeom>
        </p:spPr>
        <p:txBody>
          <a:bodyPr wrap="square" lIns="0" tIns="0" rIns="0" bIns="0">
            <a:spAutoFit/>
          </a:bodyPr>
          <a:lstStyle>
            <a:lvl1pPr>
              <a:defRPr sz="3000" b="1" i="0">
                <a:solidFill>
                  <a:srgbClr val="621233"/>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10/24/2026</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1504430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3" Type="http://schemas.microsoft.com/office/2007/relationships/hdphoto" Target="../media/hdphoto1.wdp"/><Relationship Id="rId7" Type="http://schemas.openxmlformats.org/officeDocument/2006/relationships/hyperlink" Target="https://gestion.cte.sep.gob.mx/insumos/docs/2627_s2_doc1_anexo1_cuestionario_diagnostico.pdf?1792515208977" TargetMode="External"/><Relationship Id="rId12"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1.xml"/><Relationship Id="rId6" Type="http://schemas.microsoft.com/office/2007/relationships/hdphoto" Target="../media/hdphoto3.wdp"/><Relationship Id="rId11" Type="http://schemas.openxmlformats.org/officeDocument/2006/relationships/hyperlink" Target="https://gestion.cte.sep.gob.mx/insumos/docs/2627_s2_doc3_anexo3_consulta_nacional.pdf?1792515208977" TargetMode="External"/><Relationship Id="rId5" Type="http://schemas.openxmlformats.org/officeDocument/2006/relationships/image" Target="../media/image12.png"/><Relationship Id="rId10" Type="http://schemas.openxmlformats.org/officeDocument/2006/relationships/image" Target="../media/image14.png"/><Relationship Id="rId4" Type="http://schemas.openxmlformats.org/officeDocument/2006/relationships/image" Target="../media/image7.png"/><Relationship Id="rId9" Type="http://schemas.openxmlformats.org/officeDocument/2006/relationships/hyperlink" Target="https://gestion.cte.sep.gob.mx/insumos/docs/2627_s2_doc2_anexo2_carpeta_trabajo.pdf?1792515208977" TargetMode="Externa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hyperlink" Target="https://gestion.cte.sep.gob.mx/insumos/docs/2627_s2_doc1_anexo1_cuestionario_diagnostico.pdf?1792515208977" TargetMode="External"/><Relationship Id="rId5" Type="http://schemas.openxmlformats.org/officeDocument/2006/relationships/image" Target="../media/image2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hyperlink" Target="https://gestion.cte.sep.gob.mx/insumos/docs/2627_s2_doc2_anexo2_carpeta_trabajo.pdf?1792515208977" TargetMode="External"/><Relationship Id="rId5" Type="http://schemas.openxmlformats.org/officeDocument/2006/relationships/image" Target="../media/image2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5" Type="http://schemas.openxmlformats.org/officeDocument/2006/relationships/image" Target="../media/image25.jpe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9479706-0B51-7BA6-987A-52F5CC6CD6C4}"/>
              </a:ext>
            </a:extLst>
          </p:cNvPr>
          <p:cNvPicPr>
            <a:picLocks noChangeAspect="1"/>
          </p:cNvPicPr>
          <p:nvPr/>
        </p:nvPicPr>
        <p:blipFill>
          <a:blip r:embed="rId2"/>
          <a:srcRect l="39344" t="26655" r="39561" b="34762"/>
          <a:stretch>
            <a:fillRect/>
          </a:stretch>
        </p:blipFill>
        <p:spPr>
          <a:xfrm>
            <a:off x="3388492" y="643466"/>
            <a:ext cx="5415015" cy="5571067"/>
          </a:xfrm>
          <a:prstGeom prst="rect">
            <a:avLst/>
          </a:prstGeom>
          <a:ln>
            <a:noFill/>
          </a:ln>
          <a:effectLst>
            <a:outerShdw blurRad="292100" dist="139700" dir="2700000" algn="tl" rotWithShape="0">
              <a:srgbClr val="333333">
                <a:alpha val="65000"/>
              </a:srgbClr>
            </a:outerShdw>
          </a:effectLst>
        </p:spPr>
      </p:pic>
      <p:cxnSp>
        <p:nvCxnSpPr>
          <p:cNvPr id="5" name="Conector recto 4">
            <a:extLst>
              <a:ext uri="{FF2B5EF4-FFF2-40B4-BE49-F238E27FC236}">
                <a16:creationId xmlns:a16="http://schemas.microsoft.com/office/drawing/2014/main" id="{FF6D7C8C-A470-2B60-C163-CB3C5A4AD321}"/>
              </a:ext>
            </a:extLst>
          </p:cNvPr>
          <p:cNvCxnSpPr/>
          <p:nvPr/>
        </p:nvCxnSpPr>
        <p:spPr>
          <a:xfrm>
            <a:off x="404734" y="464695"/>
            <a:ext cx="0" cy="5906125"/>
          </a:xfrm>
          <a:prstGeom prst="line">
            <a:avLst/>
          </a:prstGeom>
        </p:spPr>
        <p:style>
          <a:lnRef idx="3">
            <a:schemeClr val="accent6"/>
          </a:lnRef>
          <a:fillRef idx="0">
            <a:schemeClr val="accent6"/>
          </a:fillRef>
          <a:effectRef idx="2">
            <a:schemeClr val="accent6"/>
          </a:effectRef>
          <a:fontRef idx="minor">
            <a:schemeClr val="tx1"/>
          </a:fontRef>
        </p:style>
      </p:cxnSp>
      <p:cxnSp>
        <p:nvCxnSpPr>
          <p:cNvPr id="6" name="Conector recto 5">
            <a:extLst>
              <a:ext uri="{FF2B5EF4-FFF2-40B4-BE49-F238E27FC236}">
                <a16:creationId xmlns:a16="http://schemas.microsoft.com/office/drawing/2014/main" id="{5527C8F4-F162-0E7E-C02F-1CE2EFC1D799}"/>
              </a:ext>
            </a:extLst>
          </p:cNvPr>
          <p:cNvCxnSpPr/>
          <p:nvPr/>
        </p:nvCxnSpPr>
        <p:spPr>
          <a:xfrm>
            <a:off x="677056" y="475937"/>
            <a:ext cx="0" cy="5906125"/>
          </a:xfrm>
          <a:prstGeom prst="line">
            <a:avLst/>
          </a:prstGeom>
        </p:spPr>
        <p:style>
          <a:lnRef idx="3">
            <a:schemeClr val="accent6"/>
          </a:lnRef>
          <a:fillRef idx="0">
            <a:schemeClr val="accent6"/>
          </a:fillRef>
          <a:effectRef idx="2">
            <a:schemeClr val="accent6"/>
          </a:effectRef>
          <a:fontRef idx="minor">
            <a:schemeClr val="tx1"/>
          </a:fontRef>
        </p:style>
      </p:cxnSp>
      <p:cxnSp>
        <p:nvCxnSpPr>
          <p:cNvPr id="7" name="Conector recto 6">
            <a:extLst>
              <a:ext uri="{FF2B5EF4-FFF2-40B4-BE49-F238E27FC236}">
                <a16:creationId xmlns:a16="http://schemas.microsoft.com/office/drawing/2014/main" id="{7EB39421-679C-9819-47E7-A4A5923DE63F}"/>
              </a:ext>
            </a:extLst>
          </p:cNvPr>
          <p:cNvCxnSpPr/>
          <p:nvPr/>
        </p:nvCxnSpPr>
        <p:spPr>
          <a:xfrm>
            <a:off x="11667344" y="643466"/>
            <a:ext cx="0" cy="5906125"/>
          </a:xfrm>
          <a:prstGeom prst="line">
            <a:avLst/>
          </a:prstGeom>
        </p:spPr>
        <p:style>
          <a:lnRef idx="3">
            <a:schemeClr val="accent6"/>
          </a:lnRef>
          <a:fillRef idx="0">
            <a:schemeClr val="accent6"/>
          </a:fillRef>
          <a:effectRef idx="2">
            <a:schemeClr val="accent6"/>
          </a:effectRef>
          <a:fontRef idx="minor">
            <a:schemeClr val="tx1"/>
          </a:fontRef>
        </p:style>
      </p:cxnSp>
      <p:cxnSp>
        <p:nvCxnSpPr>
          <p:cNvPr id="8" name="Conector recto 7">
            <a:extLst>
              <a:ext uri="{FF2B5EF4-FFF2-40B4-BE49-F238E27FC236}">
                <a16:creationId xmlns:a16="http://schemas.microsoft.com/office/drawing/2014/main" id="{43B278A5-DFE7-8EB6-5F48-535ADEC2E698}"/>
              </a:ext>
            </a:extLst>
          </p:cNvPr>
          <p:cNvCxnSpPr/>
          <p:nvPr/>
        </p:nvCxnSpPr>
        <p:spPr>
          <a:xfrm>
            <a:off x="11277600" y="643466"/>
            <a:ext cx="0" cy="5906125"/>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341429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2400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4270772" y="4530548"/>
            <a:ext cx="3679031" cy="664369"/>
          </a:xfrm>
          <a:prstGeom prst="rect">
            <a:avLst/>
          </a:prstGeom>
        </p:spPr>
      </p:pic>
      <p:pic>
        <p:nvPicPr>
          <p:cNvPr id="5" name="Picture 4" descr="image.png"/>
          <p:cNvPicPr>
            <a:picLocks noChangeAspect="1"/>
          </p:cNvPicPr>
          <p:nvPr/>
        </p:nvPicPr>
        <p:blipFill>
          <a:blip r:embed="rId4"/>
          <a:stretch>
            <a:fillRect/>
          </a:stretch>
        </p:blipFill>
        <p:spPr>
          <a:xfrm>
            <a:off x="5117180" y="2989484"/>
            <a:ext cx="2251551" cy="292043"/>
          </a:xfrm>
          <a:prstGeom prst="rect">
            <a:avLst/>
          </a:prstGeom>
        </p:spPr>
      </p:pic>
      <p:sp>
        <p:nvSpPr>
          <p:cNvPr id="6" name="TextBox 5"/>
          <p:cNvSpPr txBox="1"/>
          <p:nvPr/>
        </p:nvSpPr>
        <p:spPr>
          <a:xfrm>
            <a:off x="2269582" y="1381621"/>
            <a:ext cx="7946748" cy="1477328"/>
          </a:xfrm>
          <a:prstGeom prst="rect">
            <a:avLst/>
          </a:prstGeom>
          <a:noFill/>
        </p:spPr>
        <p:txBody>
          <a:bodyPr wrap="square" lIns="0" tIns="0" rIns="0" bIns="0" anchor="t">
            <a:spAutoFit/>
          </a:bodyPr>
          <a:lstStyle/>
          <a:p>
            <a:pPr algn="ctr" defTabSz="806867"/>
            <a:r>
              <a:rPr lang="es-MX" sz="2100" b="1" kern="0" dirty="0">
                <a:solidFill>
                  <a:srgbClr val="691C32"/>
                </a:solidFill>
                <a:latin typeface="Montserrat"/>
              </a:rPr>
              <a:t>Comunidad de Aprendizaje </a:t>
            </a:r>
          </a:p>
          <a:p>
            <a:pPr algn="ctr" defTabSz="806867"/>
            <a:r>
              <a:rPr lang="es-MX" sz="2100" b="1" kern="0" dirty="0">
                <a:solidFill>
                  <a:srgbClr val="691C32"/>
                </a:solidFill>
                <a:latin typeface="Montserrat"/>
              </a:rPr>
              <a:t>de la</a:t>
            </a:r>
          </a:p>
          <a:p>
            <a:pPr algn="ctr" defTabSz="806867"/>
            <a:r>
              <a:rPr lang="es-MX" sz="2700" b="1" kern="0" dirty="0">
                <a:solidFill>
                  <a:srgbClr val="691C32"/>
                </a:solidFill>
                <a:effectLst>
                  <a:outerShdw blurRad="38100" dist="38100" dir="2700000" algn="tl">
                    <a:srgbClr val="000000">
                      <a:alpha val="43137"/>
                    </a:srgbClr>
                  </a:outerShdw>
                </a:effectLst>
                <a:latin typeface="Montserrat"/>
              </a:rPr>
              <a:t>Subdirección de Educación Primaria en la Región Nezahualcóyotl </a:t>
            </a:r>
          </a:p>
        </p:txBody>
      </p:sp>
      <p:sp>
        <p:nvSpPr>
          <p:cNvPr id="7" name="TextBox 6"/>
          <p:cNvSpPr txBox="1"/>
          <p:nvPr/>
        </p:nvSpPr>
        <p:spPr>
          <a:xfrm>
            <a:off x="3227439" y="3506872"/>
            <a:ext cx="5840361" cy="757259"/>
          </a:xfrm>
          <a:prstGeom prst="rect">
            <a:avLst/>
          </a:prstGeom>
          <a:noFill/>
        </p:spPr>
        <p:txBody>
          <a:bodyPr wrap="square" lIns="0" tIns="0" rIns="0" bIns="0" anchor="t">
            <a:spAutoFit/>
          </a:bodyPr>
          <a:lstStyle/>
          <a:p>
            <a:pPr algn="ctr">
              <a:buNone/>
            </a:pPr>
            <a:r>
              <a:rPr lang="es-MX" sz="1200" b="1" dirty="0">
                <a:solidFill>
                  <a:srgbClr val="691C32"/>
                </a:solidFill>
                <a:effectLst/>
                <a:latin typeface="Times New Roman" panose="02020603050405020304" pitchFamily="18" charset="0"/>
                <a:ea typeface="Times New Roman" panose="02020603050405020304" pitchFamily="18" charset="0"/>
              </a:rPr>
              <a:t> </a:t>
            </a:r>
            <a:r>
              <a:rPr lang="es-MX" b="1" dirty="0">
                <a:solidFill>
                  <a:srgbClr val="691C32"/>
                </a:solidFill>
                <a:effectLst/>
                <a:latin typeface="Times New Roman" panose="02020603050405020304" pitchFamily="18" charset="0"/>
                <a:ea typeface="Times New Roman" panose="02020603050405020304" pitchFamily="18" charset="0"/>
              </a:rPr>
              <a:t>Reunión de Preparación de la </a:t>
            </a:r>
            <a:r>
              <a:rPr lang="es-MX" b="1" dirty="0">
                <a:solidFill>
                  <a:srgbClr val="691C32"/>
                </a:solidFill>
                <a:latin typeface="Times New Roman" panose="02020603050405020304" pitchFamily="18" charset="0"/>
                <a:ea typeface="Times New Roman" panose="02020603050405020304" pitchFamily="18" charset="0"/>
              </a:rPr>
              <a:t>Segunda</a:t>
            </a:r>
            <a:r>
              <a:rPr lang="es-MX" b="1" dirty="0">
                <a:solidFill>
                  <a:srgbClr val="691C32"/>
                </a:solidFill>
                <a:effectLst/>
                <a:latin typeface="Times New Roman" panose="02020603050405020304" pitchFamily="18" charset="0"/>
                <a:ea typeface="Times New Roman" panose="02020603050405020304" pitchFamily="18" charset="0"/>
              </a:rPr>
              <a:t> Sesión Ordinaria (CTE).</a:t>
            </a:r>
            <a:endParaRPr lang="es-MX" sz="1400" dirty="0">
              <a:effectLst/>
              <a:latin typeface="Times New Roman" panose="02020603050405020304" pitchFamily="18" charset="0"/>
              <a:ea typeface="Times New Roman" panose="02020603050405020304" pitchFamily="18" charset="0"/>
            </a:endParaRPr>
          </a:p>
          <a:p>
            <a:pPr algn="ctr" defTabSz="806867">
              <a:lnSpc>
                <a:spcPts val="1688"/>
              </a:lnSpc>
            </a:pPr>
            <a:endParaRPr lang="es-MX" sz="1200" b="1" kern="0" dirty="0">
              <a:solidFill>
                <a:srgbClr val="475569"/>
              </a:solidFill>
              <a:latin typeface="Open Sans"/>
            </a:endParaRPr>
          </a:p>
        </p:txBody>
      </p:sp>
      <p:sp>
        <p:nvSpPr>
          <p:cNvPr id="8" name="TextBox 7"/>
          <p:cNvSpPr txBox="1"/>
          <p:nvPr/>
        </p:nvSpPr>
        <p:spPr>
          <a:xfrm>
            <a:off x="4387375" y="4578827"/>
            <a:ext cx="3397315" cy="163635"/>
          </a:xfrm>
          <a:prstGeom prst="rect">
            <a:avLst/>
          </a:prstGeom>
          <a:noFill/>
        </p:spPr>
        <p:txBody>
          <a:bodyPr wrap="square" lIns="157163" tIns="0" rIns="0" bIns="0" anchor="t">
            <a:spAutoFit/>
          </a:bodyPr>
          <a:lstStyle/>
          <a:p>
            <a:pPr defTabSz="806867">
              <a:lnSpc>
                <a:spcPts val="1350"/>
              </a:lnSpc>
            </a:pPr>
            <a:r>
              <a:rPr lang="es-MX" sz="900" kern="0" dirty="0">
                <a:solidFill>
                  <a:srgbClr val="0F2C59"/>
                </a:solidFill>
                <a:latin typeface="Open Sans Black"/>
              </a:rPr>
              <a:t>26 de octubre de 2026 | 09:00 horas </a:t>
            </a:r>
            <a:endParaRPr lang="es-MX" sz="900" kern="0" dirty="0">
              <a:solidFill>
                <a:srgbClr val="0F2C59"/>
              </a:solidFill>
              <a:latin typeface="Open Sans SemiBold"/>
            </a:endParaRPr>
          </a:p>
        </p:txBody>
      </p:sp>
      <p:sp>
        <p:nvSpPr>
          <p:cNvPr id="9" name="TextBox 8"/>
          <p:cNvSpPr txBox="1"/>
          <p:nvPr/>
        </p:nvSpPr>
        <p:spPr>
          <a:xfrm>
            <a:off x="4393598" y="4898411"/>
            <a:ext cx="4203406" cy="163635"/>
          </a:xfrm>
          <a:prstGeom prst="rect">
            <a:avLst/>
          </a:prstGeom>
          <a:noFill/>
        </p:spPr>
        <p:txBody>
          <a:bodyPr wrap="square" lIns="142875" tIns="0" rIns="0" bIns="0" anchor="t">
            <a:spAutoFit/>
          </a:bodyPr>
          <a:lstStyle/>
          <a:p>
            <a:pPr defTabSz="806867">
              <a:lnSpc>
                <a:spcPts val="1350"/>
              </a:lnSpc>
            </a:pPr>
            <a:r>
              <a:rPr lang="es-MX" sz="900" kern="0" dirty="0">
                <a:solidFill>
                  <a:srgbClr val="0F2C59"/>
                </a:solidFill>
                <a:latin typeface="Open Sans SemiBold"/>
              </a:rPr>
              <a:t>| </a:t>
            </a:r>
            <a:r>
              <a:rPr lang="es-MX" sz="900" kern="0" dirty="0">
                <a:solidFill>
                  <a:srgbClr val="0F2C59"/>
                </a:solidFill>
                <a:latin typeface="Open Sans Black"/>
              </a:rPr>
              <a:t>Modalidad:</a:t>
            </a:r>
            <a:r>
              <a:rPr lang="es-MX" sz="900" kern="0" dirty="0">
                <a:solidFill>
                  <a:srgbClr val="0F2C59"/>
                </a:solidFill>
                <a:latin typeface="Open Sans SemiBold"/>
              </a:rPr>
              <a:t> Presencial</a:t>
            </a:r>
          </a:p>
        </p:txBody>
      </p:sp>
      <p:pic>
        <p:nvPicPr>
          <p:cNvPr id="10" name="Picture 9" descr="image.png"/>
          <p:cNvPicPr>
            <a:picLocks noChangeAspect="1"/>
          </p:cNvPicPr>
          <p:nvPr/>
        </p:nvPicPr>
        <p:blipFill>
          <a:blip r:embed="rId5"/>
          <a:stretch>
            <a:fillRect/>
          </a:stretch>
        </p:blipFill>
        <p:spPr>
          <a:xfrm>
            <a:off x="4407539" y="4606388"/>
            <a:ext cx="100013" cy="114300"/>
          </a:xfrm>
          <a:prstGeom prst="rect">
            <a:avLst/>
          </a:prstGeom>
        </p:spPr>
      </p:pic>
      <p:pic>
        <p:nvPicPr>
          <p:cNvPr id="11" name="Picture 10" descr="image.png"/>
          <p:cNvPicPr>
            <a:picLocks noChangeAspect="1"/>
          </p:cNvPicPr>
          <p:nvPr/>
        </p:nvPicPr>
        <p:blipFill>
          <a:blip r:embed="rId6"/>
          <a:stretch>
            <a:fillRect/>
          </a:stretch>
        </p:blipFill>
        <p:spPr>
          <a:xfrm>
            <a:off x="4413647" y="4933864"/>
            <a:ext cx="85725" cy="114300"/>
          </a:xfrm>
          <a:prstGeom prst="rect">
            <a:avLst/>
          </a:prstGeom>
        </p:spPr>
      </p:pic>
      <p:pic>
        <p:nvPicPr>
          <p:cNvPr id="15" name="Imagen 14" descr="Imagen que contiene Texto&#10;&#10;El contenido generado por IA puede ser incorrecto.">
            <a:extLst>
              <a:ext uri="{FF2B5EF4-FFF2-40B4-BE49-F238E27FC236}">
                <a16:creationId xmlns:a16="http://schemas.microsoft.com/office/drawing/2014/main" id="{18A1FAE8-53EF-1F3F-246C-C048DF1B114B}"/>
              </a:ext>
            </a:extLst>
          </p:cNvPr>
          <p:cNvPicPr>
            <a:picLocks noChangeAspect="1"/>
          </p:cNvPicPr>
          <p:nvPr/>
        </p:nvPicPr>
        <p:blipFill>
          <a:blip r:embed="rId7">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12" name="Imagen 11">
            <a:extLst>
              <a:ext uri="{FF2B5EF4-FFF2-40B4-BE49-F238E27FC236}">
                <a16:creationId xmlns:a16="http://schemas.microsoft.com/office/drawing/2014/main" id="{000657A9-0D2E-160B-FBAE-1E5B1C6237AC}"/>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0D26598-202A-8279-EE93-FD2080782CC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A5A7A3CC-5BB5-3A2D-4478-AE096977A3FD}"/>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8" name="Imagen 7">
            <a:extLst>
              <a:ext uri="{FF2B5EF4-FFF2-40B4-BE49-F238E27FC236}">
                <a16:creationId xmlns:a16="http://schemas.microsoft.com/office/drawing/2014/main" id="{5C3D8FDC-93CC-BDA1-39AB-94183D0EA54F}"/>
              </a:ext>
            </a:extLst>
          </p:cNvPr>
          <p:cNvPicPr>
            <a:picLocks noChangeAspect="1"/>
          </p:cNvPicPr>
          <p:nvPr/>
        </p:nvPicPr>
        <p:blipFill>
          <a:blip r:embed="rId5">
            <a:extLst>
              <a:ext uri="{BEBA8EAE-BF5A-486C-A8C5-ECC9F3942E4B}">
                <a14:imgProps xmlns:a14="http://schemas.microsoft.com/office/drawing/2010/main">
                  <a14:imgLayer r:embed="rId6">
                    <a14:imgEffect>
                      <a14:artisticPaintStrokes/>
                    </a14:imgEffect>
                  </a14:imgLayer>
                </a14:imgProps>
              </a:ext>
            </a:extLst>
          </a:blip>
          <a:stretch>
            <a:fillRect/>
          </a:stretch>
        </p:blipFill>
        <p:spPr>
          <a:xfrm>
            <a:off x="2592196" y="1306578"/>
            <a:ext cx="6976534" cy="4537473"/>
          </a:xfrm>
          <a:prstGeom prst="rect">
            <a:avLst/>
          </a:prstGeom>
        </p:spPr>
      </p:pic>
      <p:sp>
        <p:nvSpPr>
          <p:cNvPr id="10" name="Rectángulo 9">
            <a:extLst>
              <a:ext uri="{FF2B5EF4-FFF2-40B4-BE49-F238E27FC236}">
                <a16:creationId xmlns:a16="http://schemas.microsoft.com/office/drawing/2014/main" id="{0CE79C30-820E-37D3-921E-40FE7E71E376}"/>
              </a:ext>
            </a:extLst>
          </p:cNvPr>
          <p:cNvSpPr/>
          <p:nvPr/>
        </p:nvSpPr>
        <p:spPr>
          <a:xfrm>
            <a:off x="3280959" y="1820988"/>
            <a:ext cx="5798190" cy="1754326"/>
          </a:xfrm>
          <a:prstGeom prst="rect">
            <a:avLst/>
          </a:prstGeom>
          <a:noFill/>
        </p:spPr>
        <p:txBody>
          <a:bodyPr wrap="none" lIns="91440" tIns="45720" rIns="91440" bIns="45720">
            <a:spAutoFit/>
          </a:bodyPr>
          <a:lstStyle/>
          <a:p>
            <a:pPr algn="ctr"/>
            <a:r>
              <a:rPr lang="es-ES" sz="5400" b="1" cap="none" spc="0" dirty="0">
                <a:ln w="6600">
                  <a:solidFill>
                    <a:schemeClr val="accent2"/>
                  </a:solidFill>
                  <a:prstDash val="solid"/>
                </a:ln>
                <a:solidFill>
                  <a:srgbClr val="FFFFFF"/>
                </a:solidFill>
                <a:effectLst>
                  <a:outerShdw dist="38100" dir="2700000" algn="tl" rotWithShape="0">
                    <a:schemeClr val="accent2"/>
                  </a:outerShdw>
                </a:effectLst>
              </a:rPr>
              <a:t>El vuelo eterno de</a:t>
            </a:r>
          </a:p>
          <a:p>
            <a:pPr algn="ctr"/>
            <a:r>
              <a:rPr lang="es-ES" sz="5400" b="1" cap="none" spc="0" dirty="0">
                <a:ln w="6600">
                  <a:solidFill>
                    <a:schemeClr val="accent2"/>
                  </a:solidFill>
                  <a:prstDash val="solid"/>
                </a:ln>
                <a:solidFill>
                  <a:srgbClr val="FFFFFF"/>
                </a:solidFill>
                <a:effectLst>
                  <a:outerShdw dist="38100" dir="2700000" algn="tl" rotWithShape="0">
                    <a:schemeClr val="accent2"/>
                  </a:outerShdw>
                </a:effectLst>
              </a:rPr>
              <a:t> las mariposas.</a:t>
            </a:r>
          </a:p>
        </p:txBody>
      </p:sp>
    </p:spTree>
    <p:extLst>
      <p:ext uri="{BB962C8B-B14F-4D97-AF65-F5344CB8AC3E}">
        <p14:creationId xmlns:p14="http://schemas.microsoft.com/office/powerpoint/2010/main" val="2185606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1C96F-522A-E09C-EFA8-10544D0BFB5F}"/>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F291B435-ACFE-748E-1B8B-F4784AD1829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E4ADD761-C44B-7DA7-D288-9E7C803C7AC7}"/>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2" name="Título 1">
            <a:extLst>
              <a:ext uri="{FF2B5EF4-FFF2-40B4-BE49-F238E27FC236}">
                <a16:creationId xmlns:a16="http://schemas.microsoft.com/office/drawing/2014/main" id="{5BC8B92C-E51D-BE3E-6BE9-DFB24D250F5E}"/>
              </a:ext>
            </a:extLst>
          </p:cNvPr>
          <p:cNvSpPr txBox="1">
            <a:spLocks/>
          </p:cNvSpPr>
          <p:nvPr/>
        </p:nvSpPr>
        <p:spPr>
          <a:xfrm>
            <a:off x="661220" y="1370110"/>
            <a:ext cx="3350342" cy="600797"/>
          </a:xfrm>
          <a:prstGeom prst="rect">
            <a:avLst/>
          </a:prstGeom>
        </p:spPr>
        <p:txBody>
          <a:bodyPr vert="horz" lIns="91440" tIns="45720" rIns="91440" bIns="45720" rtlCol="0" anchor="b">
            <a:normAutofit fontScale="6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b="1">
                <a:solidFill>
                  <a:srgbClr val="BF9945"/>
                </a:solidFill>
                <a:latin typeface="PatriaBold"/>
              </a:rPr>
              <a:t>Presentación</a:t>
            </a:r>
            <a:endParaRPr lang="es-MX" dirty="0"/>
          </a:p>
        </p:txBody>
      </p:sp>
      <p:sp>
        <p:nvSpPr>
          <p:cNvPr id="3" name="Marcador de contenido 2">
            <a:extLst>
              <a:ext uri="{FF2B5EF4-FFF2-40B4-BE49-F238E27FC236}">
                <a16:creationId xmlns:a16="http://schemas.microsoft.com/office/drawing/2014/main" id="{14F011C9-F1D8-7345-B3BF-4429CF69B55F}"/>
              </a:ext>
            </a:extLst>
          </p:cNvPr>
          <p:cNvSpPr txBox="1">
            <a:spLocks/>
          </p:cNvSpPr>
          <p:nvPr/>
        </p:nvSpPr>
        <p:spPr>
          <a:xfrm>
            <a:off x="528483" y="2055267"/>
            <a:ext cx="10828867"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MX" sz="2000" dirty="0"/>
              <a:t>Estimadas agentes educativas, maestras, directoras y supervisoras, estimados agentes educativos, maestros, directores y supervisores:</a:t>
            </a:r>
          </a:p>
          <a:p>
            <a:pPr algn="just"/>
            <a:r>
              <a:rPr lang="es-MX" sz="2000" dirty="0"/>
              <a:t>En el marco de la instrucción de la Presidenta de la República para cumplir con el Compromiso Presidencial número 27: </a:t>
            </a:r>
            <a:r>
              <a:rPr lang="es-MX" sz="2000" b="1" dirty="0"/>
              <a:t>“Desaparece la USICAMM. Nuevo sistema de contratación y promoción de maestros”</a:t>
            </a:r>
            <a:r>
              <a:rPr lang="es-MX" sz="2000" dirty="0"/>
              <a:t>, se ha dispuesto que la Segunda Sesión Ordinaria del Consejo Técnico Escolar del ciclo 2026-2027 se destine a deliberar acerca de las principales características que deberá tener el nuevo sistema que regula la carrera de las maestras y los maestros.</a:t>
            </a:r>
          </a:p>
          <a:p>
            <a:pPr algn="just"/>
            <a:r>
              <a:rPr lang="es-MX" sz="2000" dirty="0"/>
              <a:t>A partir de los resultados del Cuestionario Diagnóstico que se aplicó durante la Fase Intensiva del Consejo Técnico Escolar, se identificaron cinco temas prioritarios sobre los cuales se ha diseñado el presente ejercicio, el cual tiene como propósito abrir un espacio de consulta para que sean las maestras y los maestros quienes determinen el modelo que garantice sus derechos laborales, brinde certeza a su trayectoria profesional, favorezca la transparencia y evite prácticas clientelares o de corrupción.</a:t>
            </a:r>
          </a:p>
        </p:txBody>
      </p:sp>
    </p:spTree>
    <p:extLst>
      <p:ext uri="{BB962C8B-B14F-4D97-AF65-F5344CB8AC3E}">
        <p14:creationId xmlns:p14="http://schemas.microsoft.com/office/powerpoint/2010/main" val="2440303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C2518-66FD-C77C-FC5D-C700F4B1EA8A}"/>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304145D-F6D4-2F44-1A0C-C6864F9692B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0217FE95-73E7-858A-EE89-77B2D4A2AAB3}"/>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2" name="Título 1">
            <a:extLst>
              <a:ext uri="{FF2B5EF4-FFF2-40B4-BE49-F238E27FC236}">
                <a16:creationId xmlns:a16="http://schemas.microsoft.com/office/drawing/2014/main" id="{F2A19B3B-B4AA-5EFE-99D2-70A7400FD503}"/>
              </a:ext>
            </a:extLst>
          </p:cNvPr>
          <p:cNvSpPr txBox="1">
            <a:spLocks/>
          </p:cNvSpPr>
          <p:nvPr/>
        </p:nvSpPr>
        <p:spPr>
          <a:xfrm>
            <a:off x="325612" y="1301460"/>
            <a:ext cx="4751439" cy="637743"/>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b="1" dirty="0">
                <a:solidFill>
                  <a:srgbClr val="BF9945"/>
                </a:solidFill>
                <a:latin typeface="PatriaBold"/>
              </a:rPr>
              <a:t>Agenda de trabajo</a:t>
            </a:r>
            <a:endParaRPr lang="es-MX" dirty="0"/>
          </a:p>
        </p:txBody>
      </p:sp>
      <p:sp>
        <p:nvSpPr>
          <p:cNvPr id="3" name="Marcador de contenido 2">
            <a:extLst>
              <a:ext uri="{FF2B5EF4-FFF2-40B4-BE49-F238E27FC236}">
                <a16:creationId xmlns:a16="http://schemas.microsoft.com/office/drawing/2014/main" id="{479A0076-E157-F454-6BCF-50DC04FF19D0}"/>
              </a:ext>
            </a:extLst>
          </p:cNvPr>
          <p:cNvSpPr txBox="1">
            <a:spLocks/>
          </p:cNvSpPr>
          <p:nvPr/>
        </p:nvSpPr>
        <p:spPr>
          <a:xfrm>
            <a:off x="454948" y="1990612"/>
            <a:ext cx="5134693" cy="12167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MX" sz="2000" dirty="0"/>
              <a:t>A continuación, se presenta el esquema de trabajo para el desarrollo de la Consulta:</a:t>
            </a:r>
          </a:p>
          <a:p>
            <a:pPr algn="just"/>
            <a:endParaRPr lang="es-MX" dirty="0"/>
          </a:p>
          <a:p>
            <a:pPr algn="just"/>
            <a:endParaRPr lang="es-MX" dirty="0"/>
          </a:p>
        </p:txBody>
      </p:sp>
      <p:pic>
        <p:nvPicPr>
          <p:cNvPr id="5" name="Imagen 4">
            <a:extLst>
              <a:ext uri="{FF2B5EF4-FFF2-40B4-BE49-F238E27FC236}">
                <a16:creationId xmlns:a16="http://schemas.microsoft.com/office/drawing/2014/main" id="{7607CFA7-4636-ADBA-8C1C-204394C95DB0}"/>
              </a:ext>
            </a:extLst>
          </p:cNvPr>
          <p:cNvPicPr>
            <a:picLocks noChangeAspect="1"/>
          </p:cNvPicPr>
          <p:nvPr/>
        </p:nvPicPr>
        <p:blipFill>
          <a:blip r:embed="rId5"/>
          <a:stretch>
            <a:fillRect/>
          </a:stretch>
        </p:blipFill>
        <p:spPr>
          <a:xfrm>
            <a:off x="454948" y="3155990"/>
            <a:ext cx="5134692" cy="1381318"/>
          </a:xfrm>
          <a:prstGeom prst="rect">
            <a:avLst/>
          </a:prstGeom>
        </p:spPr>
      </p:pic>
      <p:pic>
        <p:nvPicPr>
          <p:cNvPr id="8" name="Imagen 7">
            <a:extLst>
              <a:ext uri="{FF2B5EF4-FFF2-40B4-BE49-F238E27FC236}">
                <a16:creationId xmlns:a16="http://schemas.microsoft.com/office/drawing/2014/main" id="{DF3F5C3E-FCAA-2225-505C-0FC1FBB55B87}"/>
              </a:ext>
            </a:extLst>
          </p:cNvPr>
          <p:cNvPicPr>
            <a:picLocks noChangeAspect="1"/>
          </p:cNvPicPr>
          <p:nvPr/>
        </p:nvPicPr>
        <p:blipFill>
          <a:blip r:embed="rId6"/>
          <a:stretch>
            <a:fillRect/>
          </a:stretch>
        </p:blipFill>
        <p:spPr>
          <a:xfrm>
            <a:off x="6096001" y="1211804"/>
            <a:ext cx="5715782" cy="5194801"/>
          </a:xfrm>
          <a:prstGeom prst="rect">
            <a:avLst/>
          </a:prstGeom>
        </p:spPr>
      </p:pic>
    </p:spTree>
    <p:extLst>
      <p:ext uri="{BB962C8B-B14F-4D97-AF65-F5344CB8AC3E}">
        <p14:creationId xmlns:p14="http://schemas.microsoft.com/office/powerpoint/2010/main" val="337867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3E74-E54A-ECC9-D9E6-D34FAD6D3F2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7A71F04-20E5-F987-793B-A7EF73B7851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279243" y="85537"/>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19BB6CD3-D328-57B2-49A6-ED738BE3CDE2}"/>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3" name="Título 1">
            <a:extLst>
              <a:ext uri="{FF2B5EF4-FFF2-40B4-BE49-F238E27FC236}">
                <a16:creationId xmlns:a16="http://schemas.microsoft.com/office/drawing/2014/main" id="{950B57C6-0F44-EB5C-8D42-352049C76CDC}"/>
              </a:ext>
            </a:extLst>
          </p:cNvPr>
          <p:cNvSpPr txBox="1">
            <a:spLocks/>
          </p:cNvSpPr>
          <p:nvPr/>
        </p:nvSpPr>
        <p:spPr>
          <a:xfrm>
            <a:off x="325612" y="1301460"/>
            <a:ext cx="4751439" cy="637743"/>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b="1" dirty="0">
                <a:solidFill>
                  <a:srgbClr val="BF9945"/>
                </a:solidFill>
                <a:latin typeface="PatriaBold"/>
              </a:rPr>
              <a:t>Materiales</a:t>
            </a:r>
            <a:endParaRPr lang="es-MX" dirty="0"/>
          </a:p>
        </p:txBody>
      </p:sp>
      <p:sp>
        <p:nvSpPr>
          <p:cNvPr id="5" name="Rectángulo 4">
            <a:extLst>
              <a:ext uri="{FF2B5EF4-FFF2-40B4-BE49-F238E27FC236}">
                <a16:creationId xmlns:a16="http://schemas.microsoft.com/office/drawing/2014/main" id="{A2E7E1E8-88CD-1FD3-C220-051B89D4C323}"/>
              </a:ext>
            </a:extLst>
          </p:cNvPr>
          <p:cNvSpPr/>
          <p:nvPr/>
        </p:nvSpPr>
        <p:spPr>
          <a:xfrm>
            <a:off x="500353" y="1939203"/>
            <a:ext cx="5103432" cy="923330"/>
          </a:xfrm>
          <a:prstGeom prst="rect">
            <a:avLst/>
          </a:prstGeom>
        </p:spPr>
        <p:txBody>
          <a:bodyPr wrap="square">
            <a:spAutoFit/>
          </a:bodyPr>
          <a:lstStyle/>
          <a:p>
            <a:pPr algn="just"/>
            <a:r>
              <a:rPr lang="es-MX" dirty="0"/>
              <a:t>Para el adecuado desarrollo de la Consulta, se recomienda disponer, además de este documento, de los siguientes materiales y recursos:</a:t>
            </a:r>
          </a:p>
        </p:txBody>
      </p:sp>
      <p:pic>
        <p:nvPicPr>
          <p:cNvPr id="8" name="Imagen 7">
            <a:extLst>
              <a:ext uri="{FF2B5EF4-FFF2-40B4-BE49-F238E27FC236}">
                <a16:creationId xmlns:a16="http://schemas.microsoft.com/office/drawing/2014/main" id="{7B184A74-7649-1570-F5D5-2E2104CA7CF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56" b="90000" l="10000" r="90000">
                        <a14:foregroundMark x1="39167" y1="8056" x2="39167" y2="8056"/>
                      </a14:backgroundRemoval>
                    </a14:imgEffect>
                  </a14:imgLayer>
                </a14:imgProps>
              </a:ext>
            </a:extLst>
          </a:blip>
          <a:stretch>
            <a:fillRect/>
          </a:stretch>
        </p:blipFill>
        <p:spPr>
          <a:xfrm>
            <a:off x="1927703" y="2862533"/>
            <a:ext cx="2958116" cy="2958116"/>
          </a:xfrm>
          <a:prstGeom prst="rect">
            <a:avLst/>
          </a:prstGeom>
        </p:spPr>
      </p:pic>
      <p:grpSp>
        <p:nvGrpSpPr>
          <p:cNvPr id="10" name="Grupo 9">
            <a:extLst>
              <a:ext uri="{FF2B5EF4-FFF2-40B4-BE49-F238E27FC236}">
                <a16:creationId xmlns:a16="http://schemas.microsoft.com/office/drawing/2014/main" id="{A3B41C37-CE0D-8980-3A42-AE5073EC10E6}"/>
              </a:ext>
            </a:extLst>
          </p:cNvPr>
          <p:cNvGrpSpPr/>
          <p:nvPr/>
        </p:nvGrpSpPr>
        <p:grpSpPr>
          <a:xfrm>
            <a:off x="6080463" y="1266775"/>
            <a:ext cx="5457540" cy="2668599"/>
            <a:chOff x="6096000" y="1052945"/>
            <a:chExt cx="5457540" cy="2668599"/>
          </a:xfrm>
        </p:grpSpPr>
        <p:pic>
          <p:nvPicPr>
            <p:cNvPr id="11" name="Imagen 10">
              <a:hlinkClick r:id="rId7"/>
              <a:extLst>
                <a:ext uri="{FF2B5EF4-FFF2-40B4-BE49-F238E27FC236}">
                  <a16:creationId xmlns:a16="http://schemas.microsoft.com/office/drawing/2014/main" id="{E33E6820-8BE0-02BC-DCE4-2506D80EFFAF}"/>
                </a:ext>
              </a:extLst>
            </p:cNvPr>
            <p:cNvPicPr>
              <a:picLocks noChangeAspect="1"/>
            </p:cNvPicPr>
            <p:nvPr/>
          </p:nvPicPr>
          <p:blipFill rotWithShape="1">
            <a:blip r:embed="rId8"/>
            <a:srcRect b="81578"/>
            <a:stretch/>
          </p:blipFill>
          <p:spPr>
            <a:xfrm>
              <a:off x="6096000" y="1052945"/>
              <a:ext cx="5439534" cy="1021388"/>
            </a:xfrm>
            <a:prstGeom prst="rect">
              <a:avLst/>
            </a:prstGeom>
          </p:spPr>
        </p:pic>
        <p:pic>
          <p:nvPicPr>
            <p:cNvPr id="12" name="Imagen 11">
              <a:hlinkClick r:id="rId9"/>
              <a:extLst>
                <a:ext uri="{FF2B5EF4-FFF2-40B4-BE49-F238E27FC236}">
                  <a16:creationId xmlns:a16="http://schemas.microsoft.com/office/drawing/2014/main" id="{4DD28715-A5DF-B9DA-07E1-20BF46D7BFD7}"/>
                </a:ext>
              </a:extLst>
            </p:cNvPr>
            <p:cNvPicPr>
              <a:picLocks noChangeAspect="1"/>
            </p:cNvPicPr>
            <p:nvPr/>
          </p:nvPicPr>
          <p:blipFill rotWithShape="1">
            <a:blip r:embed="rId10"/>
            <a:srcRect t="18632" b="68236"/>
            <a:stretch/>
          </p:blipFill>
          <p:spPr>
            <a:xfrm>
              <a:off x="6115437" y="2110019"/>
              <a:ext cx="5438103" cy="727743"/>
            </a:xfrm>
            <a:prstGeom prst="rect">
              <a:avLst/>
            </a:prstGeom>
          </p:spPr>
        </p:pic>
        <p:pic>
          <p:nvPicPr>
            <p:cNvPr id="13" name="Imagen 12">
              <a:hlinkClick r:id="rId11"/>
              <a:extLst>
                <a:ext uri="{FF2B5EF4-FFF2-40B4-BE49-F238E27FC236}">
                  <a16:creationId xmlns:a16="http://schemas.microsoft.com/office/drawing/2014/main" id="{03B85A8E-0E57-42E1-FB01-A0B2F494FC49}"/>
                </a:ext>
              </a:extLst>
            </p:cNvPr>
            <p:cNvPicPr>
              <a:picLocks noChangeAspect="1"/>
            </p:cNvPicPr>
            <p:nvPr/>
          </p:nvPicPr>
          <p:blipFill rotWithShape="1">
            <a:blip r:embed="rId12"/>
            <a:srcRect t="-1" b="77592"/>
            <a:stretch/>
          </p:blipFill>
          <p:spPr>
            <a:xfrm>
              <a:off x="6115437" y="2905927"/>
              <a:ext cx="5438103" cy="815617"/>
            </a:xfrm>
            <a:prstGeom prst="rect">
              <a:avLst/>
            </a:prstGeom>
          </p:spPr>
        </p:pic>
      </p:grpSp>
      <p:pic>
        <p:nvPicPr>
          <p:cNvPr id="15" name="Imagen 14">
            <a:extLst>
              <a:ext uri="{FF2B5EF4-FFF2-40B4-BE49-F238E27FC236}">
                <a16:creationId xmlns:a16="http://schemas.microsoft.com/office/drawing/2014/main" id="{9542E1AB-2202-1BB0-BF97-9725708F5DED}"/>
              </a:ext>
            </a:extLst>
          </p:cNvPr>
          <p:cNvPicPr>
            <a:picLocks noChangeAspect="1"/>
          </p:cNvPicPr>
          <p:nvPr/>
        </p:nvPicPr>
        <p:blipFill>
          <a:blip r:embed="rId13"/>
          <a:stretch>
            <a:fillRect/>
          </a:stretch>
        </p:blipFill>
        <p:spPr>
          <a:xfrm>
            <a:off x="6080463" y="3935374"/>
            <a:ext cx="5438103" cy="2804403"/>
          </a:xfrm>
          <a:prstGeom prst="rect">
            <a:avLst/>
          </a:prstGeom>
        </p:spPr>
      </p:pic>
    </p:spTree>
    <p:extLst>
      <p:ext uri="{BB962C8B-B14F-4D97-AF65-F5344CB8AC3E}">
        <p14:creationId xmlns:p14="http://schemas.microsoft.com/office/powerpoint/2010/main" val="2111440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6E750-956F-64DF-1BD8-5AA3532D974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EA061AD-FFD9-4B28-A78A-4973440DCF7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B6D52DEA-489D-1412-C444-72B2F12FC733}"/>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3" name="Título 1">
            <a:extLst>
              <a:ext uri="{FF2B5EF4-FFF2-40B4-BE49-F238E27FC236}">
                <a16:creationId xmlns:a16="http://schemas.microsoft.com/office/drawing/2014/main" id="{3359E863-E468-5EBD-923E-D8F9196034C5}"/>
              </a:ext>
            </a:extLst>
          </p:cNvPr>
          <p:cNvSpPr txBox="1">
            <a:spLocks/>
          </p:cNvSpPr>
          <p:nvPr/>
        </p:nvSpPr>
        <p:spPr>
          <a:xfrm>
            <a:off x="325612" y="1301460"/>
            <a:ext cx="4751439" cy="637743"/>
          </a:xfrm>
          <a:prstGeom prst="rect">
            <a:avLst/>
          </a:prstGeom>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b="1" dirty="0">
                <a:solidFill>
                  <a:srgbClr val="BF9945"/>
                </a:solidFill>
                <a:latin typeface="PatriaBold"/>
              </a:rPr>
              <a:t>Actividades sugeridas</a:t>
            </a:r>
            <a:endParaRPr lang="es-MX" dirty="0"/>
          </a:p>
        </p:txBody>
      </p:sp>
      <p:sp>
        <p:nvSpPr>
          <p:cNvPr id="4" name="Marcador de contenido 2">
            <a:extLst>
              <a:ext uri="{FF2B5EF4-FFF2-40B4-BE49-F238E27FC236}">
                <a16:creationId xmlns:a16="http://schemas.microsoft.com/office/drawing/2014/main" id="{A0B6BF9B-2714-CE0C-AB15-03A0C4D34F06}"/>
              </a:ext>
            </a:extLst>
          </p:cNvPr>
          <p:cNvSpPr txBox="1">
            <a:spLocks/>
          </p:cNvSpPr>
          <p:nvPr/>
        </p:nvSpPr>
        <p:spPr>
          <a:xfrm>
            <a:off x="499534" y="2207971"/>
            <a:ext cx="6519333" cy="27611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MX" sz="2000" dirty="0"/>
              <a:t>1. </a:t>
            </a:r>
            <a:r>
              <a:rPr lang="es-MX" sz="2000" b="1" dirty="0"/>
              <a:t>Observen el video del mensaje del Maestro Mario Delgado Carrillo</a:t>
            </a:r>
            <a:r>
              <a:rPr lang="es-MX" sz="2000" dirty="0"/>
              <a:t>, Secretario de Educación Pública, el cual contribuye a orientar el trabajo de esta sesión.</a:t>
            </a:r>
          </a:p>
          <a:p>
            <a:pPr algn="just"/>
            <a:r>
              <a:rPr lang="es-MX" sz="2000" dirty="0"/>
              <a:t>2. </a:t>
            </a:r>
            <a:r>
              <a:rPr lang="es-MX" sz="2000" b="1" dirty="0"/>
              <a:t>Elijan </a:t>
            </a:r>
            <a:r>
              <a:rPr lang="es-MX" sz="2000" dirty="0"/>
              <a:t>a una o un integrante del colectivo docente para que funja como </a:t>
            </a:r>
            <a:r>
              <a:rPr lang="es-MX" sz="2000" b="1" dirty="0"/>
              <a:t>moderadora o moderador de la Consulta</a:t>
            </a:r>
            <a:r>
              <a:rPr lang="es-MX" sz="2000" dirty="0"/>
              <a:t>. Esta persona será responsable de presentar los resultados del Cuestionario Diagnóstico aplicado durante la Fase Intensiva del Consejo Técnico Escolar 2026-2027, así como de completar el Acta de la Consulta.</a:t>
            </a:r>
          </a:p>
        </p:txBody>
      </p:sp>
      <p:pic>
        <p:nvPicPr>
          <p:cNvPr id="6" name="Imagen 5">
            <a:extLst>
              <a:ext uri="{FF2B5EF4-FFF2-40B4-BE49-F238E27FC236}">
                <a16:creationId xmlns:a16="http://schemas.microsoft.com/office/drawing/2014/main" id="{8D3E43A2-5D11-F9CE-5E7B-B317152356F0}"/>
              </a:ext>
            </a:extLst>
          </p:cNvPr>
          <p:cNvPicPr>
            <a:picLocks noChangeAspect="1"/>
          </p:cNvPicPr>
          <p:nvPr/>
        </p:nvPicPr>
        <p:blipFill>
          <a:blip r:embed="rId5"/>
          <a:stretch>
            <a:fillRect/>
          </a:stretch>
        </p:blipFill>
        <p:spPr>
          <a:xfrm>
            <a:off x="7086924" y="2207971"/>
            <a:ext cx="4810708" cy="3058296"/>
          </a:xfrm>
          <a:prstGeom prst="rect">
            <a:avLst/>
          </a:prstGeom>
        </p:spPr>
      </p:pic>
    </p:spTree>
    <p:extLst>
      <p:ext uri="{BB962C8B-B14F-4D97-AF65-F5344CB8AC3E}">
        <p14:creationId xmlns:p14="http://schemas.microsoft.com/office/powerpoint/2010/main" val="3676347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929D0-BFB1-593F-BA9B-8C6E35F76E9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6CC0A76-5E8E-7D4F-D5A5-CC12693E0D0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CEE48BCC-7BA2-9510-03B2-99BC24CF1347}"/>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4" name="Marcador de contenido 2">
            <a:extLst>
              <a:ext uri="{FF2B5EF4-FFF2-40B4-BE49-F238E27FC236}">
                <a16:creationId xmlns:a16="http://schemas.microsoft.com/office/drawing/2014/main" id="{60F75CB2-1408-AB5C-BD79-A17F22851E1A}"/>
              </a:ext>
            </a:extLst>
          </p:cNvPr>
          <p:cNvSpPr txBox="1">
            <a:spLocks/>
          </p:cNvSpPr>
          <p:nvPr/>
        </p:nvSpPr>
        <p:spPr>
          <a:xfrm>
            <a:off x="584200" y="1321842"/>
            <a:ext cx="4885267" cy="50847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MX" sz="2000" b="1" dirty="0"/>
              <a:t>3. Presentación de Resultados del Cuestionario Diagnóstico</a:t>
            </a:r>
          </a:p>
          <a:p>
            <a:pPr algn="just"/>
            <a:r>
              <a:rPr lang="es-MX" sz="2000" dirty="0"/>
              <a:t>Con apoyo de la moderadora o el moderador, analicen los Resultados del Cuestionario Diagnóstico, utilicen la Presentación que se incluye en el </a:t>
            </a:r>
            <a:r>
              <a:rPr lang="es-MX" sz="2000" b="1" dirty="0"/>
              <a:t>Anexo 1</a:t>
            </a:r>
            <a:r>
              <a:rPr lang="es-MX" sz="2000" dirty="0"/>
              <a:t>.</a:t>
            </a:r>
          </a:p>
          <a:p>
            <a:pPr algn="just"/>
            <a:r>
              <a:rPr lang="es-MX" sz="2000" dirty="0"/>
              <a:t>Posteriormente, con la finalidad de que cada integrante del colectivo pueda emitir su opinión de manera informada en torno a cómo transformar el sistema de carrera docente, se les invita a revisar la Carpeta de trabajo, en la que se describe el funcionamiento actual del sistema para la carrera de las maestras y los maestros, disponible en el </a:t>
            </a:r>
            <a:r>
              <a:rPr lang="es-MX" sz="2000" b="1" dirty="0"/>
              <a:t>Anexo 2</a:t>
            </a:r>
            <a:r>
              <a:rPr lang="es-MX" sz="2000" dirty="0"/>
              <a:t>.</a:t>
            </a:r>
          </a:p>
        </p:txBody>
      </p:sp>
      <p:pic>
        <p:nvPicPr>
          <p:cNvPr id="6" name="Imagen 5">
            <a:extLst>
              <a:ext uri="{FF2B5EF4-FFF2-40B4-BE49-F238E27FC236}">
                <a16:creationId xmlns:a16="http://schemas.microsoft.com/office/drawing/2014/main" id="{03D118A7-A333-7EF1-8950-32FEF5E94CD4}"/>
              </a:ext>
            </a:extLst>
          </p:cNvPr>
          <p:cNvPicPr>
            <a:picLocks noChangeAspect="1"/>
          </p:cNvPicPr>
          <p:nvPr/>
        </p:nvPicPr>
        <p:blipFill>
          <a:blip r:embed="rId5"/>
          <a:stretch>
            <a:fillRect/>
          </a:stretch>
        </p:blipFill>
        <p:spPr>
          <a:xfrm>
            <a:off x="6862567" y="1542783"/>
            <a:ext cx="3774358" cy="2093804"/>
          </a:xfrm>
          <a:prstGeom prst="rect">
            <a:avLst/>
          </a:prstGeom>
          <a:ln>
            <a:solidFill>
              <a:schemeClr val="tx1"/>
            </a:solidFill>
          </a:ln>
        </p:spPr>
      </p:pic>
      <p:sp>
        <p:nvSpPr>
          <p:cNvPr id="10" name="Rectángulo 9">
            <a:extLst>
              <a:ext uri="{FF2B5EF4-FFF2-40B4-BE49-F238E27FC236}">
                <a16:creationId xmlns:a16="http://schemas.microsoft.com/office/drawing/2014/main" id="{F2805580-A3F7-C09B-737E-18235F81D5D4}"/>
              </a:ext>
            </a:extLst>
          </p:cNvPr>
          <p:cNvSpPr/>
          <p:nvPr/>
        </p:nvSpPr>
        <p:spPr>
          <a:xfrm>
            <a:off x="9906422" y="1166221"/>
            <a:ext cx="1008418" cy="369332"/>
          </a:xfrm>
          <a:prstGeom prst="rect">
            <a:avLst/>
          </a:prstGeom>
        </p:spPr>
        <p:txBody>
          <a:bodyPr wrap="none">
            <a:spAutoFit/>
          </a:bodyPr>
          <a:lstStyle/>
          <a:p>
            <a:r>
              <a:rPr lang="es-MX" b="1" i="1" dirty="0"/>
              <a:t>Anexo 1.</a:t>
            </a:r>
          </a:p>
        </p:txBody>
      </p:sp>
      <p:pic>
        <p:nvPicPr>
          <p:cNvPr id="12" name="Imagen 11">
            <a:extLst>
              <a:ext uri="{FF2B5EF4-FFF2-40B4-BE49-F238E27FC236}">
                <a16:creationId xmlns:a16="http://schemas.microsoft.com/office/drawing/2014/main" id="{F7A49F24-CB19-8CAA-83D9-4F074BBBE880}"/>
              </a:ext>
            </a:extLst>
          </p:cNvPr>
          <p:cNvPicPr>
            <a:picLocks noChangeAspect="1"/>
          </p:cNvPicPr>
          <p:nvPr/>
        </p:nvPicPr>
        <p:blipFill>
          <a:blip r:embed="rId6"/>
          <a:stretch>
            <a:fillRect/>
          </a:stretch>
        </p:blipFill>
        <p:spPr>
          <a:xfrm>
            <a:off x="9341526" y="3864223"/>
            <a:ext cx="2590798" cy="2816739"/>
          </a:xfrm>
          <a:prstGeom prst="rect">
            <a:avLst/>
          </a:prstGeom>
          <a:ln>
            <a:solidFill>
              <a:schemeClr val="tx1"/>
            </a:solidFill>
          </a:ln>
        </p:spPr>
      </p:pic>
      <p:sp>
        <p:nvSpPr>
          <p:cNvPr id="14" name="Rectángulo 13">
            <a:extLst>
              <a:ext uri="{FF2B5EF4-FFF2-40B4-BE49-F238E27FC236}">
                <a16:creationId xmlns:a16="http://schemas.microsoft.com/office/drawing/2014/main" id="{032E33F9-E0D0-A34A-C0BE-427B6A9CB898}"/>
              </a:ext>
            </a:extLst>
          </p:cNvPr>
          <p:cNvSpPr/>
          <p:nvPr/>
        </p:nvSpPr>
        <p:spPr>
          <a:xfrm>
            <a:off x="8242684" y="3894148"/>
            <a:ext cx="1014124" cy="369332"/>
          </a:xfrm>
          <a:prstGeom prst="rect">
            <a:avLst/>
          </a:prstGeom>
        </p:spPr>
        <p:txBody>
          <a:bodyPr wrap="none">
            <a:spAutoFit/>
          </a:bodyPr>
          <a:lstStyle/>
          <a:p>
            <a:r>
              <a:rPr lang="es-MX" b="1" i="1" dirty="0"/>
              <a:t>Anexo 2.</a:t>
            </a:r>
          </a:p>
        </p:txBody>
      </p:sp>
    </p:spTree>
    <p:extLst>
      <p:ext uri="{BB962C8B-B14F-4D97-AF65-F5344CB8AC3E}">
        <p14:creationId xmlns:p14="http://schemas.microsoft.com/office/powerpoint/2010/main" val="130912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30065-3A9E-195D-2025-5A588A52993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562EC99-4230-21F5-E84F-C13C5837A1C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15006183-C421-10E8-1EDF-D79BA9B293BB}"/>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2" name="Marcador de contenido 2">
            <a:extLst>
              <a:ext uri="{FF2B5EF4-FFF2-40B4-BE49-F238E27FC236}">
                <a16:creationId xmlns:a16="http://schemas.microsoft.com/office/drawing/2014/main" id="{BEDC3C3B-19FC-4A1D-4610-35B9C9BFD658}"/>
              </a:ext>
            </a:extLst>
          </p:cNvPr>
          <p:cNvSpPr txBox="1">
            <a:spLocks/>
          </p:cNvSpPr>
          <p:nvPr/>
        </p:nvSpPr>
        <p:spPr>
          <a:xfrm>
            <a:off x="313267" y="1764398"/>
            <a:ext cx="5391903" cy="17811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MX" sz="2000" dirty="0"/>
              <a:t>4. </a:t>
            </a:r>
            <a:r>
              <a:rPr lang="es-MX" sz="2000" b="1" dirty="0"/>
              <a:t>Consulta Nacional</a:t>
            </a:r>
          </a:p>
          <a:p>
            <a:pPr algn="just"/>
            <a:r>
              <a:rPr lang="es-MX" sz="2000" dirty="0"/>
              <a:t>A partir de las respuestas de las maestras y los maestros al Cuestionario Diagnóstico, aplicado del 26 al 28 de agosto de 2026, se identificaron los siguientes cinco temas principales:</a:t>
            </a:r>
          </a:p>
        </p:txBody>
      </p:sp>
      <p:pic>
        <p:nvPicPr>
          <p:cNvPr id="4" name="Imagen 3">
            <a:extLst>
              <a:ext uri="{FF2B5EF4-FFF2-40B4-BE49-F238E27FC236}">
                <a16:creationId xmlns:a16="http://schemas.microsoft.com/office/drawing/2014/main" id="{75BC4730-55D4-8EC4-F7AC-61B02724B1F5}"/>
              </a:ext>
            </a:extLst>
          </p:cNvPr>
          <p:cNvPicPr>
            <a:picLocks noChangeAspect="1"/>
          </p:cNvPicPr>
          <p:nvPr/>
        </p:nvPicPr>
        <p:blipFill>
          <a:blip r:embed="rId5"/>
          <a:stretch>
            <a:fillRect/>
          </a:stretch>
        </p:blipFill>
        <p:spPr>
          <a:xfrm>
            <a:off x="5705170" y="1395184"/>
            <a:ext cx="6168648" cy="4424861"/>
          </a:xfrm>
          <a:prstGeom prst="rect">
            <a:avLst/>
          </a:prstGeom>
        </p:spPr>
      </p:pic>
    </p:spTree>
    <p:extLst>
      <p:ext uri="{BB962C8B-B14F-4D97-AF65-F5344CB8AC3E}">
        <p14:creationId xmlns:p14="http://schemas.microsoft.com/office/powerpoint/2010/main" val="740523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2966F-1D8C-6FD1-4240-C7755787727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B90DE51-CB94-AC6C-F922-F0DF037E31A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14BADC0B-9433-B881-C1BF-6C4391F1D646}"/>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2" name="Marcador de contenido 2">
            <a:extLst>
              <a:ext uri="{FF2B5EF4-FFF2-40B4-BE49-F238E27FC236}">
                <a16:creationId xmlns:a16="http://schemas.microsoft.com/office/drawing/2014/main" id="{6156608F-3510-04A3-B15C-516C2D35FC42}"/>
              </a:ext>
            </a:extLst>
          </p:cNvPr>
          <p:cNvSpPr txBox="1">
            <a:spLocks/>
          </p:cNvSpPr>
          <p:nvPr/>
        </p:nvSpPr>
        <p:spPr>
          <a:xfrm>
            <a:off x="838200" y="1256145"/>
            <a:ext cx="10515600" cy="197812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MX" sz="2000" b="1" dirty="0"/>
              <a:t>5. Firma del Acta</a:t>
            </a:r>
          </a:p>
          <a:p>
            <a:pPr algn="just"/>
            <a:r>
              <a:rPr lang="es-MX" sz="2000" dirty="0"/>
              <a:t>Una vez concluido el proceso, se sugiere revisar en plenaria el Acta de la Consulta, requisitar la información y dar lectura a su contenido. Posteriormente, el Acta deberá entregarse a la directora o al director de la escuela para su envío a la Supervisión Escolar.</a:t>
            </a:r>
          </a:p>
        </p:txBody>
      </p:sp>
      <p:pic>
        <p:nvPicPr>
          <p:cNvPr id="4" name="Imagen 3">
            <a:extLst>
              <a:ext uri="{FF2B5EF4-FFF2-40B4-BE49-F238E27FC236}">
                <a16:creationId xmlns:a16="http://schemas.microsoft.com/office/drawing/2014/main" id="{7A5057B7-7C10-9CA7-DE61-E55D38E8B1D1}"/>
              </a:ext>
            </a:extLst>
          </p:cNvPr>
          <p:cNvPicPr>
            <a:picLocks noChangeAspect="1"/>
          </p:cNvPicPr>
          <p:nvPr/>
        </p:nvPicPr>
        <p:blipFill rotWithShape="1">
          <a:blip r:embed="rId5"/>
          <a:srcRect l="2131" r="1536"/>
          <a:stretch/>
        </p:blipFill>
        <p:spPr>
          <a:xfrm>
            <a:off x="2528696" y="2685883"/>
            <a:ext cx="7103533" cy="3117852"/>
          </a:xfrm>
          <a:prstGeom prst="rect">
            <a:avLst/>
          </a:prstGeom>
        </p:spPr>
      </p:pic>
    </p:spTree>
    <p:extLst>
      <p:ext uri="{BB962C8B-B14F-4D97-AF65-F5344CB8AC3E}">
        <p14:creationId xmlns:p14="http://schemas.microsoft.com/office/powerpoint/2010/main" val="3666138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9D9B0-3015-CBDA-7A29-B0CF7B6BE03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A8A6287-7A1B-04CD-6B4A-E004D02AD9A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D70E1C27-98E7-68A7-A4D4-99B3F57EB395}"/>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3" name="Imagen 2">
            <a:extLst>
              <a:ext uri="{FF2B5EF4-FFF2-40B4-BE49-F238E27FC236}">
                <a16:creationId xmlns:a16="http://schemas.microsoft.com/office/drawing/2014/main" id="{421D217A-8508-9683-79F5-C49B33A99B10}"/>
              </a:ext>
            </a:extLst>
          </p:cNvPr>
          <p:cNvPicPr>
            <a:picLocks noChangeAspect="1"/>
          </p:cNvPicPr>
          <p:nvPr/>
        </p:nvPicPr>
        <p:blipFill>
          <a:blip r:embed="rId5"/>
          <a:stretch>
            <a:fillRect/>
          </a:stretch>
        </p:blipFill>
        <p:spPr>
          <a:xfrm>
            <a:off x="2714539" y="1258858"/>
            <a:ext cx="7056832" cy="4632912"/>
          </a:xfrm>
          <a:prstGeom prst="rect">
            <a:avLst/>
          </a:prstGeom>
        </p:spPr>
      </p:pic>
    </p:spTree>
    <p:extLst>
      <p:ext uri="{BB962C8B-B14F-4D97-AF65-F5344CB8AC3E}">
        <p14:creationId xmlns:p14="http://schemas.microsoft.com/office/powerpoint/2010/main" val="2546490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84C22-73F7-D923-982A-47431CBEFBF7}"/>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55F4CFE-081B-0364-208F-289704C01F2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EB801CB6-A48E-83A0-9EB7-B83875507876}"/>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3" name="Imagen 2">
            <a:extLst>
              <a:ext uri="{FF2B5EF4-FFF2-40B4-BE49-F238E27FC236}">
                <a16:creationId xmlns:a16="http://schemas.microsoft.com/office/drawing/2014/main" id="{ABB7CA0B-9839-9665-4BFA-DBDCB92E5FC0}"/>
              </a:ext>
            </a:extLst>
          </p:cNvPr>
          <p:cNvPicPr>
            <a:picLocks noChangeAspect="1"/>
          </p:cNvPicPr>
          <p:nvPr/>
        </p:nvPicPr>
        <p:blipFill>
          <a:blip r:embed="rId5"/>
          <a:srcRect l="3689" t="24687" r="5205" b="8394"/>
          <a:stretch>
            <a:fillRect/>
          </a:stretch>
        </p:blipFill>
        <p:spPr>
          <a:xfrm>
            <a:off x="526607" y="1281819"/>
            <a:ext cx="11107711" cy="4586990"/>
          </a:xfrm>
          <a:prstGeom prst="rect">
            <a:avLst/>
          </a:prstGeom>
        </p:spPr>
      </p:pic>
      <p:pic>
        <p:nvPicPr>
          <p:cNvPr id="5" name="Imagen 4">
            <a:hlinkClick r:id="rId6"/>
            <a:extLst>
              <a:ext uri="{FF2B5EF4-FFF2-40B4-BE49-F238E27FC236}">
                <a16:creationId xmlns:a16="http://schemas.microsoft.com/office/drawing/2014/main" id="{64A8A746-5DB7-738A-87AC-96BC65CEF1FF}"/>
              </a:ext>
            </a:extLst>
          </p:cNvPr>
          <p:cNvPicPr>
            <a:picLocks noChangeAspect="1"/>
          </p:cNvPicPr>
          <p:nvPr/>
        </p:nvPicPr>
        <p:blipFill rotWithShape="1">
          <a:blip r:embed="rId7"/>
          <a:srcRect b="81578"/>
          <a:stretch/>
        </p:blipFill>
        <p:spPr>
          <a:xfrm>
            <a:off x="3639615" y="5065487"/>
            <a:ext cx="5439534" cy="1021388"/>
          </a:xfrm>
          <a:prstGeom prst="rect">
            <a:avLst/>
          </a:prstGeom>
        </p:spPr>
      </p:pic>
    </p:spTree>
    <p:extLst>
      <p:ext uri="{BB962C8B-B14F-4D97-AF65-F5344CB8AC3E}">
        <p14:creationId xmlns:p14="http://schemas.microsoft.com/office/powerpoint/2010/main" val="748615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C890B-6F5E-150A-A390-4E4B832B29C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B1E1B2A7-66E6-4BF5-00F9-9A0070A9064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60952C5D-68CD-B42A-A3AF-82836DC1A21C}"/>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3" name="Imagen 2">
            <a:extLst>
              <a:ext uri="{FF2B5EF4-FFF2-40B4-BE49-F238E27FC236}">
                <a16:creationId xmlns:a16="http://schemas.microsoft.com/office/drawing/2014/main" id="{D3C31E74-6455-7BFC-FEE1-B3E9FDD14CFF}"/>
              </a:ext>
            </a:extLst>
          </p:cNvPr>
          <p:cNvPicPr>
            <a:picLocks noChangeAspect="1"/>
          </p:cNvPicPr>
          <p:nvPr/>
        </p:nvPicPr>
        <p:blipFill>
          <a:blip r:embed="rId5"/>
          <a:stretch>
            <a:fillRect/>
          </a:stretch>
        </p:blipFill>
        <p:spPr>
          <a:xfrm>
            <a:off x="1306483" y="1276063"/>
            <a:ext cx="5501707" cy="4774010"/>
          </a:xfrm>
          <a:prstGeom prst="rect">
            <a:avLst/>
          </a:prstGeom>
        </p:spPr>
      </p:pic>
      <p:pic>
        <p:nvPicPr>
          <p:cNvPr id="5" name="Imagen 4">
            <a:hlinkClick r:id="rId6"/>
            <a:extLst>
              <a:ext uri="{FF2B5EF4-FFF2-40B4-BE49-F238E27FC236}">
                <a16:creationId xmlns:a16="http://schemas.microsoft.com/office/drawing/2014/main" id="{E1B61B36-5824-5BF4-1964-05CD48F3E4B1}"/>
              </a:ext>
            </a:extLst>
          </p:cNvPr>
          <p:cNvPicPr>
            <a:picLocks noChangeAspect="1"/>
          </p:cNvPicPr>
          <p:nvPr/>
        </p:nvPicPr>
        <p:blipFill rotWithShape="1">
          <a:blip r:embed="rId7"/>
          <a:srcRect t="18632" b="68236"/>
          <a:stretch/>
        </p:blipFill>
        <p:spPr>
          <a:xfrm>
            <a:off x="6474654" y="3065128"/>
            <a:ext cx="5438103" cy="727743"/>
          </a:xfrm>
          <a:prstGeom prst="rect">
            <a:avLst/>
          </a:prstGeom>
        </p:spPr>
      </p:pic>
    </p:spTree>
    <p:extLst>
      <p:ext uri="{BB962C8B-B14F-4D97-AF65-F5344CB8AC3E}">
        <p14:creationId xmlns:p14="http://schemas.microsoft.com/office/powerpoint/2010/main" val="2783085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AB02-78CC-67C1-70A6-CBD972FF8E40}"/>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7AFA4E5F-416D-3BE2-EC24-A0663367434F}"/>
              </a:ext>
            </a:extLst>
          </p:cNvPr>
          <p:cNvSpPr/>
          <p:nvPr/>
        </p:nvSpPr>
        <p:spPr>
          <a:xfrm>
            <a:off x="584616" y="301290"/>
            <a:ext cx="3237876" cy="1169233"/>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MX"/>
              <a:t>I. Introducción</a:t>
            </a:r>
          </a:p>
        </p:txBody>
      </p:sp>
      <p:sp>
        <p:nvSpPr>
          <p:cNvPr id="5" name="Rectángulo: esquinas redondeadas 4">
            <a:extLst>
              <a:ext uri="{FF2B5EF4-FFF2-40B4-BE49-F238E27FC236}">
                <a16:creationId xmlns:a16="http://schemas.microsoft.com/office/drawing/2014/main" id="{CEBCE71D-EE2A-0DD7-44F4-6C1420E70BF1}"/>
              </a:ext>
            </a:extLst>
          </p:cNvPr>
          <p:cNvSpPr/>
          <p:nvPr/>
        </p:nvSpPr>
        <p:spPr>
          <a:xfrm>
            <a:off x="3974892" y="301290"/>
            <a:ext cx="3237876" cy="116923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s-MX" dirty="0"/>
              <a:t>II. ¿Conoces cómo opera el sistema para la carrera de las maestras y los maestros?</a:t>
            </a:r>
          </a:p>
        </p:txBody>
      </p:sp>
      <p:sp>
        <p:nvSpPr>
          <p:cNvPr id="8" name="Rectángulo: esquinas redondeadas 7">
            <a:extLst>
              <a:ext uri="{FF2B5EF4-FFF2-40B4-BE49-F238E27FC236}">
                <a16:creationId xmlns:a16="http://schemas.microsoft.com/office/drawing/2014/main" id="{0DD022A4-4036-2CFA-62B5-60EB584610B8}"/>
              </a:ext>
            </a:extLst>
          </p:cNvPr>
          <p:cNvSpPr/>
          <p:nvPr/>
        </p:nvSpPr>
        <p:spPr>
          <a:xfrm>
            <a:off x="7365168" y="301290"/>
            <a:ext cx="3237876" cy="116923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MX" dirty="0"/>
              <a:t>III. ¿Sabes cuáles son los procesos del sistema para la carrera de las maestras y los maestros?</a:t>
            </a:r>
          </a:p>
        </p:txBody>
      </p:sp>
      <p:sp>
        <p:nvSpPr>
          <p:cNvPr id="11" name="Rectángulo: esquinas redondeadas 10">
            <a:extLst>
              <a:ext uri="{FF2B5EF4-FFF2-40B4-BE49-F238E27FC236}">
                <a16:creationId xmlns:a16="http://schemas.microsoft.com/office/drawing/2014/main" id="{4BBF4490-3933-22AD-B0B0-89AC9C376BBB}"/>
              </a:ext>
            </a:extLst>
          </p:cNvPr>
          <p:cNvSpPr/>
          <p:nvPr/>
        </p:nvSpPr>
        <p:spPr>
          <a:xfrm>
            <a:off x="584616" y="1580257"/>
            <a:ext cx="3237876" cy="1169233"/>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MX" dirty="0"/>
              <a:t>a) ADMISIÓN</a:t>
            </a:r>
          </a:p>
        </p:txBody>
      </p:sp>
      <p:sp>
        <p:nvSpPr>
          <p:cNvPr id="13" name="Rectángulo: esquinas redondeadas 12">
            <a:extLst>
              <a:ext uri="{FF2B5EF4-FFF2-40B4-BE49-F238E27FC236}">
                <a16:creationId xmlns:a16="http://schemas.microsoft.com/office/drawing/2014/main" id="{0B99DDEC-4E04-374F-0C20-2C906BB2472A}"/>
              </a:ext>
            </a:extLst>
          </p:cNvPr>
          <p:cNvSpPr/>
          <p:nvPr/>
        </p:nvSpPr>
        <p:spPr>
          <a:xfrm>
            <a:off x="3974892" y="1571555"/>
            <a:ext cx="3237876" cy="11692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b) PROMOCIÓN</a:t>
            </a:r>
          </a:p>
          <a:p>
            <a:pPr algn="ctr"/>
            <a:r>
              <a:rPr lang="es-MX" dirty="0"/>
              <a:t>Promoción Vertical</a:t>
            </a:r>
          </a:p>
        </p:txBody>
      </p:sp>
      <p:sp>
        <p:nvSpPr>
          <p:cNvPr id="15" name="Rectángulo: esquinas redondeadas 14">
            <a:extLst>
              <a:ext uri="{FF2B5EF4-FFF2-40B4-BE49-F238E27FC236}">
                <a16:creationId xmlns:a16="http://schemas.microsoft.com/office/drawing/2014/main" id="{07939DBE-77F2-4829-2D26-E7215EFE4919}"/>
              </a:ext>
            </a:extLst>
          </p:cNvPr>
          <p:cNvSpPr/>
          <p:nvPr/>
        </p:nvSpPr>
        <p:spPr>
          <a:xfrm>
            <a:off x="7365168" y="1580257"/>
            <a:ext cx="3237876" cy="116923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MX" dirty="0"/>
              <a:t>Promoción por horas adicionales</a:t>
            </a:r>
          </a:p>
        </p:txBody>
      </p:sp>
      <p:sp>
        <p:nvSpPr>
          <p:cNvPr id="17" name="Rectángulo: esquinas redondeadas 16">
            <a:extLst>
              <a:ext uri="{FF2B5EF4-FFF2-40B4-BE49-F238E27FC236}">
                <a16:creationId xmlns:a16="http://schemas.microsoft.com/office/drawing/2014/main" id="{B62D8241-AE79-5C0D-E983-F0E4DF96CC0B}"/>
              </a:ext>
            </a:extLst>
          </p:cNvPr>
          <p:cNvSpPr/>
          <p:nvPr/>
        </p:nvSpPr>
        <p:spPr>
          <a:xfrm>
            <a:off x="584616" y="2875570"/>
            <a:ext cx="3237876" cy="1169233"/>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dirty="0"/>
              <a:t>Promoción horizontal</a:t>
            </a:r>
          </a:p>
        </p:txBody>
      </p:sp>
      <p:sp>
        <p:nvSpPr>
          <p:cNvPr id="19" name="Rectángulo: esquinas redondeadas 18">
            <a:extLst>
              <a:ext uri="{FF2B5EF4-FFF2-40B4-BE49-F238E27FC236}">
                <a16:creationId xmlns:a16="http://schemas.microsoft.com/office/drawing/2014/main" id="{83360A24-52BE-E79C-1B3F-B0393CA55484}"/>
              </a:ext>
            </a:extLst>
          </p:cNvPr>
          <p:cNvSpPr/>
          <p:nvPr/>
        </p:nvSpPr>
        <p:spPr>
          <a:xfrm>
            <a:off x="3974892" y="2875570"/>
            <a:ext cx="3237876" cy="116923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MX" dirty="0"/>
              <a:t>Reconocimiento a la profesionalización (Beca Comisión)</a:t>
            </a:r>
          </a:p>
        </p:txBody>
      </p:sp>
      <p:sp>
        <p:nvSpPr>
          <p:cNvPr id="21" name="Rectángulo: esquinas redondeadas 20">
            <a:extLst>
              <a:ext uri="{FF2B5EF4-FFF2-40B4-BE49-F238E27FC236}">
                <a16:creationId xmlns:a16="http://schemas.microsoft.com/office/drawing/2014/main" id="{41A8C1E3-9297-FFE6-EF2F-C78811C446EF}"/>
              </a:ext>
            </a:extLst>
          </p:cNvPr>
          <p:cNvSpPr/>
          <p:nvPr/>
        </p:nvSpPr>
        <p:spPr>
          <a:xfrm>
            <a:off x="7365168" y="2891918"/>
            <a:ext cx="3237876" cy="1169233"/>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s-MX" sz="1400" dirty="0"/>
              <a:t>Reconocimiento a la asesoría, apoyo y acompañamiento (Tutoría, asesoría técnica y asesoría técnica pedagógica)</a:t>
            </a:r>
          </a:p>
        </p:txBody>
      </p:sp>
      <p:sp>
        <p:nvSpPr>
          <p:cNvPr id="23" name="Rectángulo: esquinas redondeadas 22">
            <a:extLst>
              <a:ext uri="{FF2B5EF4-FFF2-40B4-BE49-F238E27FC236}">
                <a16:creationId xmlns:a16="http://schemas.microsoft.com/office/drawing/2014/main" id="{CCCD0A38-5926-009E-DF7A-484310EB847F}"/>
              </a:ext>
            </a:extLst>
          </p:cNvPr>
          <p:cNvSpPr/>
          <p:nvPr/>
        </p:nvSpPr>
        <p:spPr>
          <a:xfrm>
            <a:off x="584616" y="4170883"/>
            <a:ext cx="3237876" cy="116923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MX" dirty="0"/>
              <a:t>Cambios de centro de trabajo</a:t>
            </a:r>
          </a:p>
        </p:txBody>
      </p:sp>
      <p:sp>
        <p:nvSpPr>
          <p:cNvPr id="25" name="Rectángulo: esquinas redondeadas 24">
            <a:extLst>
              <a:ext uri="{FF2B5EF4-FFF2-40B4-BE49-F238E27FC236}">
                <a16:creationId xmlns:a16="http://schemas.microsoft.com/office/drawing/2014/main" id="{F112C6CA-C448-653E-10B5-BC2CAC326831}"/>
              </a:ext>
            </a:extLst>
          </p:cNvPr>
          <p:cNvSpPr/>
          <p:nvPr/>
        </p:nvSpPr>
        <p:spPr>
          <a:xfrm>
            <a:off x="3974892" y="4179585"/>
            <a:ext cx="3237876" cy="1169233"/>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s-MX" dirty="0"/>
              <a:t>IV. ¿Qué dificultades han identificado las maestras y los maestros?</a:t>
            </a:r>
          </a:p>
        </p:txBody>
      </p:sp>
      <p:sp>
        <p:nvSpPr>
          <p:cNvPr id="27" name="Rectángulo: esquinas redondeadas 26">
            <a:extLst>
              <a:ext uri="{FF2B5EF4-FFF2-40B4-BE49-F238E27FC236}">
                <a16:creationId xmlns:a16="http://schemas.microsoft.com/office/drawing/2014/main" id="{D70AAB59-5450-52D6-709B-F93694D1C320}"/>
              </a:ext>
            </a:extLst>
          </p:cNvPr>
          <p:cNvSpPr/>
          <p:nvPr/>
        </p:nvSpPr>
        <p:spPr>
          <a:xfrm>
            <a:off x="7365168" y="4203579"/>
            <a:ext cx="3237876" cy="116923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MX" dirty="0"/>
              <a:t>Experiencias  </a:t>
            </a:r>
          </a:p>
        </p:txBody>
      </p:sp>
      <p:sp>
        <p:nvSpPr>
          <p:cNvPr id="29" name="Rectángulo: esquinas redondeadas 28">
            <a:extLst>
              <a:ext uri="{FF2B5EF4-FFF2-40B4-BE49-F238E27FC236}">
                <a16:creationId xmlns:a16="http://schemas.microsoft.com/office/drawing/2014/main" id="{5CFD97F6-3B31-96B3-7B51-9A48AA2542CA}"/>
              </a:ext>
            </a:extLst>
          </p:cNvPr>
          <p:cNvSpPr/>
          <p:nvPr/>
        </p:nvSpPr>
        <p:spPr>
          <a:xfrm>
            <a:off x="3974892" y="5483600"/>
            <a:ext cx="3237876" cy="1169233"/>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MX" dirty="0"/>
              <a:t>Conclusión General</a:t>
            </a:r>
          </a:p>
        </p:txBody>
      </p:sp>
    </p:spTree>
    <p:extLst>
      <p:ext uri="{BB962C8B-B14F-4D97-AF65-F5344CB8AC3E}">
        <p14:creationId xmlns:p14="http://schemas.microsoft.com/office/powerpoint/2010/main" val="2395296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magen que contiene Texto&#10;&#10;El contenido generado por IA puede ser incorrecto.">
            <a:extLst>
              <a:ext uri="{FF2B5EF4-FFF2-40B4-BE49-F238E27FC236}">
                <a16:creationId xmlns:a16="http://schemas.microsoft.com/office/drawing/2014/main" id="{2D313779-1CB7-7220-2FA4-36C424AA381C}"/>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6" name="Imagen 5">
            <a:extLst>
              <a:ext uri="{FF2B5EF4-FFF2-40B4-BE49-F238E27FC236}">
                <a16:creationId xmlns:a16="http://schemas.microsoft.com/office/drawing/2014/main" id="{2A97EB84-154C-AED8-E76E-2AB54EE3CA0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 name="Imagen 2" descr="Gracias a todos ustedes se alcanzó el mayor de los éxitos en la quinta  edición anual de la iniciativa internacional de monitoreo “Blitz Monarca”!">
            <a:extLst>
              <a:ext uri="{FF2B5EF4-FFF2-40B4-BE49-F238E27FC236}">
                <a16:creationId xmlns:a16="http://schemas.microsoft.com/office/drawing/2014/main" id="{AA020749-A3BB-55A6-CF6E-541A979F197C}"/>
              </a:ext>
            </a:extLst>
          </p:cNvPr>
          <p:cNvPicPr>
            <a:picLocks noChangeAspect="1"/>
          </p:cNvPicPr>
          <p:nvPr/>
        </p:nvPicPr>
        <p:blipFill>
          <a:blip r:embed="rId5"/>
          <a:srcRect b="13901"/>
          <a:stretch>
            <a:fillRect/>
          </a:stretch>
        </p:blipFill>
        <p:spPr>
          <a:xfrm>
            <a:off x="1700376" y="1521868"/>
            <a:ext cx="9148188" cy="4433342"/>
          </a:xfrm>
          <a:prstGeom prst="rect">
            <a:avLst/>
          </a:prstGeom>
        </p:spPr>
      </p:pic>
    </p:spTree>
    <p:extLst>
      <p:ext uri="{BB962C8B-B14F-4D97-AF65-F5344CB8AC3E}">
        <p14:creationId xmlns:p14="http://schemas.microsoft.com/office/powerpoint/2010/main" val="32953419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3370</TotalTime>
  <Words>652</Words>
  <Application>Microsoft Office PowerPoint</Application>
  <PresentationFormat>Panorámica</PresentationFormat>
  <Paragraphs>42</Paragraphs>
  <Slides>15</Slides>
  <Notes>0</Notes>
  <HiddenSlides>0</HiddenSlides>
  <MMClips>0</MMClips>
  <ScaleCrop>false</ScaleCrop>
  <HeadingPairs>
    <vt:vector size="6" baseType="variant">
      <vt:variant>
        <vt:lpstr>Fuentes usadas</vt:lpstr>
      </vt:variant>
      <vt:variant>
        <vt:i4>11</vt:i4>
      </vt:variant>
      <vt:variant>
        <vt:lpstr>Tema</vt:lpstr>
      </vt:variant>
      <vt:variant>
        <vt:i4>2</vt:i4>
      </vt:variant>
      <vt:variant>
        <vt:lpstr>Títulos de diapositiva</vt:lpstr>
      </vt:variant>
      <vt:variant>
        <vt:i4>15</vt:i4>
      </vt:variant>
    </vt:vector>
  </HeadingPairs>
  <TitlesOfParts>
    <vt:vector size="28" baseType="lpstr">
      <vt:lpstr>Aptos</vt:lpstr>
      <vt:lpstr>Aptos Display</vt:lpstr>
      <vt:lpstr>Arial</vt:lpstr>
      <vt:lpstr>Calibri</vt:lpstr>
      <vt:lpstr>Montserrat</vt:lpstr>
      <vt:lpstr>Open Sans</vt:lpstr>
      <vt:lpstr>Open Sans Black</vt:lpstr>
      <vt:lpstr>Open Sans SemiBold</vt:lpstr>
      <vt:lpstr>PatriaBold</vt:lpstr>
      <vt:lpstr>Times New Roman</vt:lpstr>
      <vt:lpstr>Verdana</vt:lpstr>
      <vt:lpstr>Tema de Office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Dixguel03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Subdirección de Educación Primaria Nezahualcóyotl</dc:creator>
  <cp:lastModifiedBy>GONZALEZ CORDOBA DONOVAN JESUS</cp:lastModifiedBy>
  <cp:revision>131</cp:revision>
  <dcterms:created xsi:type="dcterms:W3CDTF">2025-09-20T01:37:33Z</dcterms:created>
  <dcterms:modified xsi:type="dcterms:W3CDTF">2026-10-25T01:05:55Z</dcterms:modified>
</cp:coreProperties>
</file>